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8" r:id="rId4"/>
    <p:sldId id="267" r:id="rId5"/>
    <p:sldId id="266" r:id="rId6"/>
    <p:sldId id="265" r:id="rId7"/>
    <p:sldId id="308" r:id="rId8"/>
    <p:sldId id="309" r:id="rId9"/>
    <p:sldId id="292" r:id="rId10"/>
    <p:sldId id="261" r:id="rId11"/>
    <p:sldId id="281" r:id="rId12"/>
    <p:sldId id="260" r:id="rId13"/>
    <p:sldId id="310" r:id="rId14"/>
    <p:sldId id="311" r:id="rId15"/>
    <p:sldId id="312" r:id="rId16"/>
    <p:sldId id="280" r:id="rId17"/>
    <p:sldId id="278" r:id="rId18"/>
    <p:sldId id="294" r:id="rId19"/>
    <p:sldId id="295" r:id="rId20"/>
    <p:sldId id="313" r:id="rId21"/>
    <p:sldId id="274" r:id="rId22"/>
    <p:sldId id="304" r:id="rId23"/>
    <p:sldId id="303" r:id="rId24"/>
    <p:sldId id="283" r:id="rId25"/>
    <p:sldId id="301" r:id="rId26"/>
    <p:sldId id="302" r:id="rId27"/>
    <p:sldId id="305" r:id="rId28"/>
    <p:sldId id="284" r:id="rId29"/>
    <p:sldId id="287" r:id="rId30"/>
    <p:sldId id="282" r:id="rId31"/>
    <p:sldId id="314" r:id="rId32"/>
    <p:sldId id="315" r:id="rId33"/>
    <p:sldId id="316" r:id="rId34"/>
    <p:sldId id="317"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82" d="100"/>
          <a:sy n="82" d="100"/>
        </p:scale>
        <p:origin x="64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5/15/2026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0" y="192643"/>
            <a:ext cx="9601200" cy="590407"/>
          </a:xfrm>
        </p:spPr>
        <p:txBody>
          <a:bodyPr/>
          <a:lstStyle>
            <a:lvl1pPr algn="ctr">
              <a:defRPr b="1" u="sng"/>
            </a:lvl1pPr>
          </a:lstStyle>
          <a:p>
            <a:r>
              <a:rPr lang="en-US"/>
              <a:t>Click to edit Master title style</a:t>
            </a:r>
            <a:endParaRPr lang="en-US" dirty="0"/>
          </a:p>
        </p:txBody>
      </p:sp>
      <p:sp>
        <p:nvSpPr>
          <p:cNvPr id="3" name="Content Placeholder 2"/>
          <p:cNvSpPr>
            <a:spLocks noGrp="1"/>
          </p:cNvSpPr>
          <p:nvPr>
            <p:ph idx="1"/>
          </p:nvPr>
        </p:nvSpPr>
        <p:spPr>
          <a:xfrm>
            <a:off x="959867" y="969971"/>
            <a:ext cx="11073839" cy="52590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5/15/2026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5/15/2026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5/15/2026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5/15/2026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5/15/2026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5/15/2026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5/15/2026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5/15/2026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5/15/2026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5/15/2026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5/15/2026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dirty="0"/>
              <a:t>Appointment scheduling/Reservations</a:t>
            </a:r>
          </a:p>
        </p:txBody>
      </p:sp>
      <p:sp>
        <p:nvSpPr>
          <p:cNvPr id="3" name="Subtitle 2"/>
          <p:cNvSpPr>
            <a:spLocks noGrp="1"/>
          </p:cNvSpPr>
          <p:nvPr>
            <p:ph type="subTitle" idx="1"/>
          </p:nvPr>
        </p:nvSpPr>
        <p:spPr/>
        <p:txBody>
          <a:bodyPr/>
          <a:lstStyle/>
          <a:p>
            <a:r>
              <a:rPr lang="en-US" dirty="0"/>
              <a:t>…and cancellations</a:t>
            </a:r>
          </a:p>
        </p:txBody>
      </p:sp>
    </p:spTree>
    <p:extLst>
      <p:ext uri="{BB962C8B-B14F-4D97-AF65-F5344CB8AC3E}">
        <p14:creationId xmlns:p14="http://schemas.microsoft.com/office/powerpoint/2010/main" val="4242269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Initial Design</a:t>
            </a:r>
          </a:p>
        </p:txBody>
      </p:sp>
      <p:sp>
        <p:nvSpPr>
          <p:cNvPr id="4" name="Content Placeholder 3">
            <a:extLst>
              <a:ext uri="{FF2B5EF4-FFF2-40B4-BE49-F238E27FC236}">
                <a16:creationId xmlns:a16="http://schemas.microsoft.com/office/drawing/2014/main" id="{9C12FA49-5912-4355-BA30-5604D6CCD0F6}"/>
              </a:ext>
            </a:extLst>
          </p:cNvPr>
          <p:cNvSpPr>
            <a:spLocks noGrp="1"/>
          </p:cNvSpPr>
          <p:nvPr>
            <p:ph idx="1"/>
          </p:nvPr>
        </p:nvSpPr>
        <p:spPr>
          <a:xfrm>
            <a:off x="959867" y="969971"/>
            <a:ext cx="11073839" cy="2459029"/>
          </a:xfrm>
        </p:spPr>
        <p:txBody>
          <a:bodyPr/>
          <a:lstStyle/>
          <a:p>
            <a:r>
              <a:rPr lang="en-ZA" dirty="0"/>
              <a:t>The appointment/reservation scheduling system needs 3 tables </a:t>
            </a:r>
          </a:p>
          <a:p>
            <a:pPr lvl="1"/>
            <a:r>
              <a:rPr lang="en-ZA" dirty="0"/>
              <a:t>Customer</a:t>
            </a:r>
          </a:p>
          <a:p>
            <a:pPr lvl="1"/>
            <a:r>
              <a:rPr lang="en-ZA" dirty="0"/>
              <a:t>Details of the date and time of the appointment</a:t>
            </a:r>
          </a:p>
          <a:p>
            <a:pPr lvl="1"/>
            <a:r>
              <a:rPr lang="en-ZA" dirty="0"/>
              <a:t>Timeslots – where appointments are made using timeslots – e.g. timeslot 1 is from 9h30-10h00, Timeslot 2 is 10h00-10h30….and so on – so a booking is made for a specific timeslot ID (i.e. 1, or 2, or 3….) and then this ID is mapped to an actual Time via the </a:t>
            </a:r>
            <a:r>
              <a:rPr lang="en-ZA" dirty="0" err="1"/>
              <a:t>Timelsots</a:t>
            </a:r>
            <a:r>
              <a:rPr lang="en-ZA" dirty="0"/>
              <a:t> table</a:t>
            </a:r>
          </a:p>
          <a:p>
            <a:pPr lvl="1"/>
            <a:endParaRPr lang="en-ZA" dirty="0"/>
          </a:p>
        </p:txBody>
      </p:sp>
      <p:pic>
        <p:nvPicPr>
          <p:cNvPr id="7" name="Picture 6">
            <a:extLst>
              <a:ext uri="{FF2B5EF4-FFF2-40B4-BE49-F238E27FC236}">
                <a16:creationId xmlns:a16="http://schemas.microsoft.com/office/drawing/2014/main" id="{C6FC24B5-1943-409E-A2DA-EC942C7E49F7}"/>
              </a:ext>
            </a:extLst>
          </p:cNvPr>
          <p:cNvPicPr>
            <a:picLocks noChangeAspect="1"/>
          </p:cNvPicPr>
          <p:nvPr/>
        </p:nvPicPr>
        <p:blipFill>
          <a:blip r:embed="rId2"/>
          <a:stretch>
            <a:fillRect/>
          </a:stretch>
        </p:blipFill>
        <p:spPr>
          <a:xfrm>
            <a:off x="2599764" y="3551195"/>
            <a:ext cx="9170025" cy="3306805"/>
          </a:xfrm>
          <a:prstGeom prst="rect">
            <a:avLst/>
          </a:prstGeom>
        </p:spPr>
      </p:pic>
    </p:spTree>
    <p:extLst>
      <p:ext uri="{BB962C8B-B14F-4D97-AF65-F5344CB8AC3E}">
        <p14:creationId xmlns:p14="http://schemas.microsoft.com/office/powerpoint/2010/main" val="2519664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Configuring the Time Table</a:t>
            </a:r>
          </a:p>
        </p:txBody>
      </p:sp>
      <p:pic>
        <p:nvPicPr>
          <p:cNvPr id="4" name="Content Placeholder 3"/>
          <p:cNvPicPr>
            <a:picLocks noGrp="1" noChangeAspect="1"/>
          </p:cNvPicPr>
          <p:nvPr>
            <p:ph idx="1"/>
          </p:nvPr>
        </p:nvPicPr>
        <p:blipFill>
          <a:blip r:embed="rId2"/>
          <a:stretch>
            <a:fillRect/>
          </a:stretch>
        </p:blipFill>
        <p:spPr>
          <a:xfrm>
            <a:off x="1235419" y="985119"/>
            <a:ext cx="5794239" cy="5259387"/>
          </a:xfrm>
          <a:prstGeom prst="rect">
            <a:avLst/>
          </a:prstGeom>
        </p:spPr>
      </p:pic>
      <p:grpSp>
        <p:nvGrpSpPr>
          <p:cNvPr id="8" name="Group 7">
            <a:extLst>
              <a:ext uri="{FF2B5EF4-FFF2-40B4-BE49-F238E27FC236}">
                <a16:creationId xmlns:a16="http://schemas.microsoft.com/office/drawing/2014/main" id="{EABF7CD9-7738-4C7A-B20B-1A0C7A7BDA27}"/>
              </a:ext>
            </a:extLst>
          </p:cNvPr>
          <p:cNvGrpSpPr/>
          <p:nvPr/>
        </p:nvGrpSpPr>
        <p:grpSpPr>
          <a:xfrm>
            <a:off x="5414841" y="1972235"/>
            <a:ext cx="5199371" cy="4524551"/>
            <a:chOff x="5414841" y="1972235"/>
            <a:chExt cx="5199371" cy="4524551"/>
          </a:xfrm>
        </p:grpSpPr>
        <p:pic>
          <p:nvPicPr>
            <p:cNvPr id="5" name="Picture 4"/>
            <p:cNvPicPr>
              <a:picLocks noChangeAspect="1"/>
            </p:cNvPicPr>
            <p:nvPr/>
          </p:nvPicPr>
          <p:blipFill>
            <a:blip r:embed="rId3"/>
            <a:stretch>
              <a:fillRect/>
            </a:stretch>
          </p:blipFill>
          <p:spPr>
            <a:xfrm>
              <a:off x="5414841" y="3031159"/>
              <a:ext cx="5041811" cy="3465627"/>
            </a:xfrm>
            <a:prstGeom prst="rect">
              <a:avLst/>
            </a:prstGeom>
          </p:spPr>
        </p:pic>
        <p:sp>
          <p:nvSpPr>
            <p:cNvPr id="3" name="TextBox 2">
              <a:extLst>
                <a:ext uri="{FF2B5EF4-FFF2-40B4-BE49-F238E27FC236}">
                  <a16:creationId xmlns:a16="http://schemas.microsoft.com/office/drawing/2014/main" id="{DAFFC46D-24AB-4AD6-A67B-38149C584682}"/>
                </a:ext>
              </a:extLst>
            </p:cNvPr>
            <p:cNvSpPr txBox="1"/>
            <p:nvPr/>
          </p:nvSpPr>
          <p:spPr>
            <a:xfrm>
              <a:off x="8023412" y="1972235"/>
              <a:ext cx="2590800" cy="369332"/>
            </a:xfrm>
            <a:prstGeom prst="rect">
              <a:avLst/>
            </a:prstGeom>
            <a:noFill/>
          </p:spPr>
          <p:txBody>
            <a:bodyPr wrap="square" rtlCol="0">
              <a:spAutoFit/>
            </a:bodyPr>
            <a:lstStyle/>
            <a:p>
              <a:r>
                <a:rPr lang="en-ZA" dirty="0"/>
                <a:t>The Appointment Table</a:t>
              </a:r>
            </a:p>
          </p:txBody>
        </p:sp>
        <p:cxnSp>
          <p:nvCxnSpPr>
            <p:cNvPr id="7" name="Straight Arrow Connector 6">
              <a:extLst>
                <a:ext uri="{FF2B5EF4-FFF2-40B4-BE49-F238E27FC236}">
                  <a16:creationId xmlns:a16="http://schemas.microsoft.com/office/drawing/2014/main" id="{635DE4DA-4F6F-4CD0-BB0D-983CF9AC467F}"/>
                </a:ext>
              </a:extLst>
            </p:cNvPr>
            <p:cNvCxnSpPr/>
            <p:nvPr/>
          </p:nvCxnSpPr>
          <p:spPr>
            <a:xfrm flipH="1">
              <a:off x="8283388" y="2341567"/>
              <a:ext cx="708212" cy="3395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73300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Adapters</a:t>
            </a:r>
          </a:p>
        </p:txBody>
      </p:sp>
      <p:pic>
        <p:nvPicPr>
          <p:cNvPr id="4" name="Content Placeholder 3"/>
          <p:cNvPicPr>
            <a:picLocks noGrp="1" noChangeAspect="1"/>
          </p:cNvPicPr>
          <p:nvPr>
            <p:ph idx="1"/>
          </p:nvPr>
        </p:nvPicPr>
        <p:blipFill>
          <a:blip r:embed="rId2"/>
          <a:stretch>
            <a:fillRect/>
          </a:stretch>
        </p:blipFill>
        <p:spPr>
          <a:xfrm>
            <a:off x="1127539" y="969963"/>
            <a:ext cx="10738609" cy="5259387"/>
          </a:xfrm>
          <a:prstGeom prst="rect">
            <a:avLst/>
          </a:prstGeom>
        </p:spPr>
      </p:pic>
    </p:spTree>
    <p:extLst>
      <p:ext uri="{BB962C8B-B14F-4D97-AF65-F5344CB8AC3E}">
        <p14:creationId xmlns:p14="http://schemas.microsoft.com/office/powerpoint/2010/main" val="3127587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Inner Join***</a:t>
            </a:r>
          </a:p>
        </p:txBody>
      </p:sp>
      <p:pic>
        <p:nvPicPr>
          <p:cNvPr id="4" name="Content Placeholder 3"/>
          <p:cNvPicPr>
            <a:picLocks noGrp="1" noChangeAspect="1"/>
          </p:cNvPicPr>
          <p:nvPr>
            <p:ph idx="1"/>
          </p:nvPr>
        </p:nvPicPr>
        <p:blipFill>
          <a:blip r:embed="rId2"/>
          <a:stretch>
            <a:fillRect/>
          </a:stretch>
        </p:blipFill>
        <p:spPr>
          <a:xfrm>
            <a:off x="2160494" y="2074444"/>
            <a:ext cx="8680786" cy="4745313"/>
          </a:xfrm>
          <a:prstGeom prst="rect">
            <a:avLst/>
          </a:prstGeom>
        </p:spPr>
      </p:pic>
      <p:sp>
        <p:nvSpPr>
          <p:cNvPr id="3" name="TextBox 2">
            <a:extLst>
              <a:ext uri="{FF2B5EF4-FFF2-40B4-BE49-F238E27FC236}">
                <a16:creationId xmlns:a16="http://schemas.microsoft.com/office/drawing/2014/main" id="{D629CE03-FC84-4A12-BCB1-F6E2B1845696}"/>
              </a:ext>
            </a:extLst>
          </p:cNvPr>
          <p:cNvSpPr txBox="1"/>
          <p:nvPr/>
        </p:nvSpPr>
        <p:spPr>
          <a:xfrm>
            <a:off x="1272988" y="887506"/>
            <a:ext cx="9036424" cy="923330"/>
          </a:xfrm>
          <a:prstGeom prst="rect">
            <a:avLst/>
          </a:prstGeom>
          <a:noFill/>
        </p:spPr>
        <p:txBody>
          <a:bodyPr wrap="square" rtlCol="0">
            <a:spAutoFit/>
          </a:bodyPr>
          <a:lstStyle/>
          <a:p>
            <a:r>
              <a:rPr lang="en-ZA" dirty="0"/>
              <a:t>These are pretty useful – it provides you with an opportunity to add meaning to the ID’s – i.e. instead of displaying a customer’s ID – you have an opportunity to link the ID to the customer’s actual name – watch the video recording of the class lecture</a:t>
            </a:r>
          </a:p>
        </p:txBody>
      </p:sp>
    </p:spTree>
    <p:extLst>
      <p:ext uri="{BB962C8B-B14F-4D97-AF65-F5344CB8AC3E}">
        <p14:creationId xmlns:p14="http://schemas.microsoft.com/office/powerpoint/2010/main" val="597038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 new table created via an </a:t>
            </a:r>
            <a:r>
              <a:rPr lang="en-US" dirty="0" err="1"/>
              <a:t>InnerJoin</a:t>
            </a:r>
            <a:endParaRPr lang="en-US" dirty="0"/>
          </a:p>
        </p:txBody>
      </p:sp>
      <p:sp>
        <p:nvSpPr>
          <p:cNvPr id="5" name="Content Placeholder 4">
            <a:extLst>
              <a:ext uri="{FF2B5EF4-FFF2-40B4-BE49-F238E27FC236}">
                <a16:creationId xmlns:a16="http://schemas.microsoft.com/office/drawing/2014/main" id="{4E8E9D02-29A9-4FC1-833C-15B7376F197D}"/>
              </a:ext>
            </a:extLst>
          </p:cNvPr>
          <p:cNvSpPr>
            <a:spLocks noGrp="1"/>
          </p:cNvSpPr>
          <p:nvPr>
            <p:ph idx="1"/>
          </p:nvPr>
        </p:nvSpPr>
        <p:spPr/>
        <p:txBody>
          <a:bodyPr/>
          <a:lstStyle/>
          <a:p>
            <a:r>
              <a:rPr lang="en-ZA" dirty="0"/>
              <a:t>The Inner join table is for convenience – it is created inside the dataset only – not in the database –to do this all you require is to add a new table adapter and use the Query wizard to help you build an inner join between many tables – this inner join manifests as a structured data table that can be attached to a data grid view – it does not have to be inside the database – just in the data set only</a:t>
            </a:r>
          </a:p>
          <a:p>
            <a:r>
              <a:rPr lang="en-ZA" dirty="0"/>
              <a:t>In the appointment scheduling app – if you want to see listing of appointments, then an inner join will be good because it will provide ALL the details of previous and upcoming appointments – by ALL I mean the </a:t>
            </a:r>
            <a:r>
              <a:rPr lang="en-ZA" dirty="0" err="1"/>
              <a:t>CustomerID</a:t>
            </a:r>
            <a:r>
              <a:rPr lang="en-ZA" dirty="0"/>
              <a:t>, first name, surname, contact number, date and timeslot and the actual time – it is basically a join between 3 tables </a:t>
            </a:r>
          </a:p>
          <a:p>
            <a:r>
              <a:rPr lang="en-ZA" dirty="0"/>
              <a:t>Once you build the application, the table adapters linked to this </a:t>
            </a:r>
            <a:r>
              <a:rPr lang="en-ZA" b="1" dirty="0"/>
              <a:t>inner join</a:t>
            </a:r>
            <a:r>
              <a:rPr lang="en-ZA" dirty="0"/>
              <a:t> table are made available for use in the form so that your form display has greater meaning</a:t>
            </a:r>
          </a:p>
        </p:txBody>
      </p:sp>
      <p:grpSp>
        <p:nvGrpSpPr>
          <p:cNvPr id="9" name="Group 8">
            <a:extLst>
              <a:ext uri="{FF2B5EF4-FFF2-40B4-BE49-F238E27FC236}">
                <a16:creationId xmlns:a16="http://schemas.microsoft.com/office/drawing/2014/main" id="{882D6D88-BFFB-4F97-9D07-1B30361B5C13}"/>
              </a:ext>
            </a:extLst>
          </p:cNvPr>
          <p:cNvGrpSpPr/>
          <p:nvPr/>
        </p:nvGrpSpPr>
        <p:grpSpPr>
          <a:xfrm>
            <a:off x="8301318" y="4213412"/>
            <a:ext cx="4003534" cy="2644588"/>
            <a:chOff x="8301318" y="4213412"/>
            <a:chExt cx="4003534" cy="2644588"/>
          </a:xfrm>
        </p:grpSpPr>
        <p:pic>
          <p:nvPicPr>
            <p:cNvPr id="6" name="Picture 5">
              <a:extLst>
                <a:ext uri="{FF2B5EF4-FFF2-40B4-BE49-F238E27FC236}">
                  <a16:creationId xmlns:a16="http://schemas.microsoft.com/office/drawing/2014/main" id="{55B4252B-F074-4589-967A-8B387D3032C0}"/>
                </a:ext>
              </a:extLst>
            </p:cNvPr>
            <p:cNvPicPr>
              <a:picLocks noChangeAspect="1"/>
            </p:cNvPicPr>
            <p:nvPr/>
          </p:nvPicPr>
          <p:blipFill>
            <a:blip r:embed="rId2"/>
            <a:stretch>
              <a:fillRect/>
            </a:stretch>
          </p:blipFill>
          <p:spPr>
            <a:xfrm>
              <a:off x="8301318" y="4435211"/>
              <a:ext cx="4003534" cy="2422789"/>
            </a:xfrm>
            <a:prstGeom prst="rect">
              <a:avLst/>
            </a:prstGeom>
          </p:spPr>
        </p:pic>
        <p:cxnSp>
          <p:nvCxnSpPr>
            <p:cNvPr id="8" name="Straight Arrow Connector 7">
              <a:extLst>
                <a:ext uri="{FF2B5EF4-FFF2-40B4-BE49-F238E27FC236}">
                  <a16:creationId xmlns:a16="http://schemas.microsoft.com/office/drawing/2014/main" id="{F6D71198-8E62-4D2B-AFA7-0292A0581769}"/>
                </a:ext>
              </a:extLst>
            </p:cNvPr>
            <p:cNvCxnSpPr/>
            <p:nvPr/>
          </p:nvCxnSpPr>
          <p:spPr>
            <a:xfrm>
              <a:off x="8722659" y="4213412"/>
              <a:ext cx="2250141" cy="19274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05555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2B961-09F2-42D2-9048-CC7AA4C04575}"/>
              </a:ext>
            </a:extLst>
          </p:cNvPr>
          <p:cNvSpPr>
            <a:spLocks noGrp="1"/>
          </p:cNvSpPr>
          <p:nvPr>
            <p:ph type="title"/>
          </p:nvPr>
        </p:nvSpPr>
        <p:spPr/>
        <p:txBody>
          <a:bodyPr>
            <a:normAutofit fontScale="90000"/>
          </a:bodyPr>
          <a:lstStyle/>
          <a:p>
            <a:r>
              <a:rPr lang="en-ZA" dirty="0"/>
              <a:t>The </a:t>
            </a:r>
            <a:r>
              <a:rPr lang="en-ZA" dirty="0" err="1"/>
              <a:t>MonthCalendar</a:t>
            </a:r>
            <a:r>
              <a:rPr lang="en-ZA" dirty="0"/>
              <a:t> Control</a:t>
            </a:r>
          </a:p>
        </p:txBody>
      </p:sp>
      <p:sp>
        <p:nvSpPr>
          <p:cNvPr id="3" name="Content Placeholder 2">
            <a:extLst>
              <a:ext uri="{FF2B5EF4-FFF2-40B4-BE49-F238E27FC236}">
                <a16:creationId xmlns:a16="http://schemas.microsoft.com/office/drawing/2014/main" id="{19D562E2-A4C9-49C2-8009-ACA49B36C19A}"/>
              </a:ext>
            </a:extLst>
          </p:cNvPr>
          <p:cNvSpPr>
            <a:spLocks noGrp="1"/>
          </p:cNvSpPr>
          <p:nvPr>
            <p:ph idx="1"/>
          </p:nvPr>
        </p:nvSpPr>
        <p:spPr>
          <a:xfrm>
            <a:off x="959867" y="969972"/>
            <a:ext cx="11073839" cy="1324994"/>
          </a:xfrm>
        </p:spPr>
        <p:txBody>
          <a:bodyPr/>
          <a:lstStyle/>
          <a:p>
            <a:r>
              <a:rPr lang="en-ZA" dirty="0"/>
              <a:t>This will be pretty useful – because when you click on a day on this control – it will provide the details of the appointments for that inside a </a:t>
            </a:r>
            <a:r>
              <a:rPr lang="en-ZA" dirty="0" err="1"/>
              <a:t>gridview</a:t>
            </a:r>
            <a:r>
              <a:rPr lang="en-ZA" dirty="0"/>
              <a:t> that has been linked to an Inner Join</a:t>
            </a:r>
          </a:p>
        </p:txBody>
      </p:sp>
      <p:pic>
        <p:nvPicPr>
          <p:cNvPr id="4" name="Picture 3">
            <a:extLst>
              <a:ext uri="{FF2B5EF4-FFF2-40B4-BE49-F238E27FC236}">
                <a16:creationId xmlns:a16="http://schemas.microsoft.com/office/drawing/2014/main" id="{1EE69E1A-30E5-4546-8BC4-6305520C62EB}"/>
              </a:ext>
            </a:extLst>
          </p:cNvPr>
          <p:cNvPicPr>
            <a:picLocks noChangeAspect="1"/>
          </p:cNvPicPr>
          <p:nvPr/>
        </p:nvPicPr>
        <p:blipFill>
          <a:blip r:embed="rId2"/>
          <a:stretch>
            <a:fillRect/>
          </a:stretch>
        </p:blipFill>
        <p:spPr>
          <a:xfrm>
            <a:off x="410459" y="1774811"/>
            <a:ext cx="11781541" cy="2377646"/>
          </a:xfrm>
          <a:prstGeom prst="rect">
            <a:avLst/>
          </a:prstGeom>
        </p:spPr>
      </p:pic>
    </p:spTree>
    <p:extLst>
      <p:ext uri="{BB962C8B-B14F-4D97-AF65-F5344CB8AC3E}">
        <p14:creationId xmlns:p14="http://schemas.microsoft.com/office/powerpoint/2010/main" val="2066419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D551C-0A05-4D1A-BA79-E3D69B7E167C}"/>
              </a:ext>
            </a:extLst>
          </p:cNvPr>
          <p:cNvSpPr>
            <a:spLocks noGrp="1"/>
          </p:cNvSpPr>
          <p:nvPr>
            <p:ph type="title"/>
          </p:nvPr>
        </p:nvSpPr>
        <p:spPr/>
        <p:txBody>
          <a:bodyPr>
            <a:normAutofit fontScale="90000"/>
          </a:bodyPr>
          <a:lstStyle/>
          <a:p>
            <a:r>
              <a:rPr lang="en-ZA" dirty="0"/>
              <a:t>Get the Table Adapters</a:t>
            </a:r>
          </a:p>
        </p:txBody>
      </p:sp>
      <p:sp>
        <p:nvSpPr>
          <p:cNvPr id="3" name="Content Placeholder 2">
            <a:extLst>
              <a:ext uri="{FF2B5EF4-FFF2-40B4-BE49-F238E27FC236}">
                <a16:creationId xmlns:a16="http://schemas.microsoft.com/office/drawing/2014/main" id="{AD253FE1-54CF-4505-BA3F-87EA247C89BE}"/>
              </a:ext>
            </a:extLst>
          </p:cNvPr>
          <p:cNvSpPr>
            <a:spLocks noGrp="1"/>
          </p:cNvSpPr>
          <p:nvPr>
            <p:ph idx="1"/>
          </p:nvPr>
        </p:nvSpPr>
        <p:spPr>
          <a:xfrm>
            <a:off x="959867" y="969972"/>
            <a:ext cx="11073839" cy="1199488"/>
          </a:xfrm>
        </p:spPr>
        <p:txBody>
          <a:bodyPr/>
          <a:lstStyle/>
          <a:p>
            <a:r>
              <a:rPr lang="en-ZA" dirty="0"/>
              <a:t>Once the data source has been created – you can use the dataset class to add the inner join table – re-build the application and you will have access to all of the table adapters required </a:t>
            </a:r>
          </a:p>
        </p:txBody>
      </p:sp>
      <p:grpSp>
        <p:nvGrpSpPr>
          <p:cNvPr id="7" name="Group 6">
            <a:extLst>
              <a:ext uri="{FF2B5EF4-FFF2-40B4-BE49-F238E27FC236}">
                <a16:creationId xmlns:a16="http://schemas.microsoft.com/office/drawing/2014/main" id="{B174F28F-CD76-43DF-AF45-A28BE01777CB}"/>
              </a:ext>
            </a:extLst>
          </p:cNvPr>
          <p:cNvGrpSpPr/>
          <p:nvPr/>
        </p:nvGrpSpPr>
        <p:grpSpPr>
          <a:xfrm>
            <a:off x="2678835" y="1569716"/>
            <a:ext cx="7635902" cy="4596996"/>
            <a:chOff x="2678835" y="1569716"/>
            <a:chExt cx="7635902" cy="4596996"/>
          </a:xfrm>
        </p:grpSpPr>
        <p:pic>
          <p:nvPicPr>
            <p:cNvPr id="4" name="Picture 3">
              <a:extLst>
                <a:ext uri="{FF2B5EF4-FFF2-40B4-BE49-F238E27FC236}">
                  <a16:creationId xmlns:a16="http://schemas.microsoft.com/office/drawing/2014/main" id="{9B4A2468-C4D5-4F08-B808-CAF2349DF218}"/>
                </a:ext>
              </a:extLst>
            </p:cNvPr>
            <p:cNvPicPr>
              <a:picLocks noChangeAspect="1"/>
            </p:cNvPicPr>
            <p:nvPr/>
          </p:nvPicPr>
          <p:blipFill>
            <a:blip r:embed="rId2"/>
            <a:stretch>
              <a:fillRect/>
            </a:stretch>
          </p:blipFill>
          <p:spPr>
            <a:xfrm>
              <a:off x="2678835" y="2356382"/>
              <a:ext cx="7635902" cy="3810330"/>
            </a:xfrm>
            <a:prstGeom prst="rect">
              <a:avLst/>
            </a:prstGeom>
          </p:spPr>
        </p:pic>
        <p:cxnSp>
          <p:nvCxnSpPr>
            <p:cNvPr id="6" name="Straight Arrow Connector 5">
              <a:extLst>
                <a:ext uri="{FF2B5EF4-FFF2-40B4-BE49-F238E27FC236}">
                  <a16:creationId xmlns:a16="http://schemas.microsoft.com/office/drawing/2014/main" id="{29AB5838-2841-4E74-8778-CEEF4ACBC8A4}"/>
                </a:ext>
              </a:extLst>
            </p:cNvPr>
            <p:cNvCxnSpPr/>
            <p:nvPr/>
          </p:nvCxnSpPr>
          <p:spPr>
            <a:xfrm flipH="1">
              <a:off x="4554071" y="1569716"/>
              <a:ext cx="3818964" cy="4318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02593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Inner Join</a:t>
            </a:r>
          </a:p>
        </p:txBody>
      </p:sp>
      <p:sp>
        <p:nvSpPr>
          <p:cNvPr id="3" name="Content Placeholder 2"/>
          <p:cNvSpPr>
            <a:spLocks noGrp="1"/>
          </p:cNvSpPr>
          <p:nvPr>
            <p:ph idx="1"/>
          </p:nvPr>
        </p:nvSpPr>
        <p:spPr/>
        <p:txBody>
          <a:bodyPr/>
          <a:lstStyle/>
          <a:p>
            <a:r>
              <a:rPr lang="en-US" dirty="0"/>
              <a:t>Create/change the query on the Inner Join so that it provides only the appointments for the day selected – the day will be selected on the </a:t>
            </a:r>
            <a:r>
              <a:rPr lang="en-US" dirty="0" err="1"/>
              <a:t>MonthCalendar</a:t>
            </a:r>
            <a:r>
              <a:rPr lang="en-US" dirty="0"/>
              <a:t> Control (introduced in the previous slide)</a:t>
            </a:r>
          </a:p>
        </p:txBody>
      </p:sp>
      <p:pic>
        <p:nvPicPr>
          <p:cNvPr id="5" name="Picture 4">
            <a:extLst>
              <a:ext uri="{FF2B5EF4-FFF2-40B4-BE49-F238E27FC236}">
                <a16:creationId xmlns:a16="http://schemas.microsoft.com/office/drawing/2014/main" id="{8C10E217-0981-4A62-B01D-500CBDF86C57}"/>
              </a:ext>
            </a:extLst>
          </p:cNvPr>
          <p:cNvPicPr>
            <a:picLocks noChangeAspect="1"/>
          </p:cNvPicPr>
          <p:nvPr/>
        </p:nvPicPr>
        <p:blipFill>
          <a:blip r:embed="rId2"/>
          <a:stretch>
            <a:fillRect/>
          </a:stretch>
        </p:blipFill>
        <p:spPr>
          <a:xfrm>
            <a:off x="2506662" y="2095041"/>
            <a:ext cx="7331075" cy="4320914"/>
          </a:xfrm>
          <a:prstGeom prst="rect">
            <a:avLst/>
          </a:prstGeom>
        </p:spPr>
      </p:pic>
    </p:spTree>
    <p:extLst>
      <p:ext uri="{BB962C8B-B14F-4D97-AF65-F5344CB8AC3E}">
        <p14:creationId xmlns:p14="http://schemas.microsoft.com/office/powerpoint/2010/main" val="2030236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1682"/>
            <a:ext cx="9601200" cy="590407"/>
          </a:xfrm>
        </p:spPr>
        <p:txBody>
          <a:bodyPr>
            <a:normAutofit fontScale="90000"/>
          </a:bodyPr>
          <a:lstStyle/>
          <a:p>
            <a:r>
              <a:rPr lang="en-US" dirty="0"/>
              <a:t>Based on the Current Date…</a:t>
            </a:r>
          </a:p>
        </p:txBody>
      </p:sp>
      <p:pic>
        <p:nvPicPr>
          <p:cNvPr id="10" name="Content Placeholder 9">
            <a:extLst>
              <a:ext uri="{FF2B5EF4-FFF2-40B4-BE49-F238E27FC236}">
                <a16:creationId xmlns:a16="http://schemas.microsoft.com/office/drawing/2014/main" id="{3A360B8C-CDE8-4FCB-8852-0F894779A903}"/>
              </a:ext>
            </a:extLst>
          </p:cNvPr>
          <p:cNvPicPr>
            <a:picLocks noGrp="1" noChangeAspect="1"/>
          </p:cNvPicPr>
          <p:nvPr>
            <p:ph idx="1"/>
          </p:nvPr>
        </p:nvPicPr>
        <p:blipFill>
          <a:blip r:embed="rId2"/>
          <a:stretch>
            <a:fillRect/>
          </a:stretch>
        </p:blipFill>
        <p:spPr>
          <a:xfrm>
            <a:off x="1051296" y="602089"/>
            <a:ext cx="11072812" cy="1617151"/>
          </a:xfrm>
          <a:prstGeom prst="rect">
            <a:avLst/>
          </a:prstGeom>
        </p:spPr>
      </p:pic>
      <p:sp>
        <p:nvSpPr>
          <p:cNvPr id="11" name="TextBox 10">
            <a:extLst>
              <a:ext uri="{FF2B5EF4-FFF2-40B4-BE49-F238E27FC236}">
                <a16:creationId xmlns:a16="http://schemas.microsoft.com/office/drawing/2014/main" id="{9C8351AC-F24E-4E5A-97EC-F28556C1ACEF}"/>
              </a:ext>
            </a:extLst>
          </p:cNvPr>
          <p:cNvSpPr txBox="1"/>
          <p:nvPr/>
        </p:nvSpPr>
        <p:spPr>
          <a:xfrm>
            <a:off x="1828800" y="2219240"/>
            <a:ext cx="8229600" cy="646331"/>
          </a:xfrm>
          <a:prstGeom prst="rect">
            <a:avLst/>
          </a:prstGeom>
          <a:noFill/>
        </p:spPr>
        <p:txBody>
          <a:bodyPr wrap="square" rtlCol="0">
            <a:spAutoFit/>
          </a:bodyPr>
          <a:lstStyle/>
          <a:p>
            <a:r>
              <a:rPr lang="en-ZA" dirty="0"/>
              <a:t>Also, a previous/upcoming date – whatever is selected on the </a:t>
            </a:r>
            <a:r>
              <a:rPr lang="en-ZA" dirty="0" err="1"/>
              <a:t>MonthCalendar</a:t>
            </a:r>
            <a:r>
              <a:rPr lang="en-ZA" dirty="0"/>
              <a:t> control date is </a:t>
            </a:r>
          </a:p>
        </p:txBody>
      </p:sp>
      <p:pic>
        <p:nvPicPr>
          <p:cNvPr id="12" name="Picture 11">
            <a:extLst>
              <a:ext uri="{FF2B5EF4-FFF2-40B4-BE49-F238E27FC236}">
                <a16:creationId xmlns:a16="http://schemas.microsoft.com/office/drawing/2014/main" id="{5AF53C31-FC53-4DA4-9724-AF128099CFD4}"/>
              </a:ext>
            </a:extLst>
          </p:cNvPr>
          <p:cNvPicPr>
            <a:picLocks noChangeAspect="1"/>
          </p:cNvPicPr>
          <p:nvPr/>
        </p:nvPicPr>
        <p:blipFill>
          <a:blip r:embed="rId3"/>
          <a:stretch>
            <a:fillRect/>
          </a:stretch>
        </p:blipFill>
        <p:spPr>
          <a:xfrm>
            <a:off x="491702" y="2809647"/>
            <a:ext cx="11632406" cy="1616166"/>
          </a:xfrm>
          <a:prstGeom prst="rect">
            <a:avLst/>
          </a:prstGeom>
        </p:spPr>
      </p:pic>
      <p:sp>
        <p:nvSpPr>
          <p:cNvPr id="14" name="Rectangle 13">
            <a:extLst>
              <a:ext uri="{FF2B5EF4-FFF2-40B4-BE49-F238E27FC236}">
                <a16:creationId xmlns:a16="http://schemas.microsoft.com/office/drawing/2014/main" id="{B1FA2CB5-5A11-4E43-BE8F-DC96A235ABA1}"/>
              </a:ext>
            </a:extLst>
          </p:cNvPr>
          <p:cNvSpPr/>
          <p:nvPr/>
        </p:nvSpPr>
        <p:spPr>
          <a:xfrm>
            <a:off x="779929" y="4599263"/>
            <a:ext cx="11412071" cy="1169551"/>
          </a:xfrm>
          <a:prstGeom prst="rect">
            <a:avLst/>
          </a:prstGeom>
          <a:solidFill>
            <a:schemeClr val="accent5">
              <a:lumMod val="40000"/>
              <a:lumOff val="60000"/>
            </a:schemeClr>
          </a:solidFill>
        </p:spPr>
        <p:txBody>
          <a:bodyPr wrap="square">
            <a:spAutoFit/>
          </a:bodyPr>
          <a:lstStyle/>
          <a:p>
            <a:r>
              <a:rPr lang="en-ZA" sz="1400" dirty="0">
                <a:solidFill>
                  <a:srgbClr val="0000FF"/>
                </a:solidFill>
                <a:latin typeface="Consolas" panose="020B0609020204030204" pitchFamily="49" charset="0"/>
              </a:rPr>
              <a:t>private</a:t>
            </a:r>
            <a:r>
              <a:rPr lang="en-ZA" sz="1400" dirty="0">
                <a:solidFill>
                  <a:srgbClr val="000000"/>
                </a:solidFill>
                <a:latin typeface="Consolas" panose="020B0609020204030204" pitchFamily="49" charset="0"/>
              </a:rPr>
              <a:t> </a:t>
            </a:r>
            <a:r>
              <a:rPr lang="en-ZA" sz="1400" dirty="0">
                <a:solidFill>
                  <a:srgbClr val="0000FF"/>
                </a:solidFill>
                <a:latin typeface="Consolas" panose="020B0609020204030204" pitchFamily="49" charset="0"/>
              </a:rPr>
              <a:t>void</a:t>
            </a:r>
            <a:r>
              <a:rPr lang="en-ZA" sz="1400" dirty="0">
                <a:solidFill>
                  <a:srgbClr val="000000"/>
                </a:solidFill>
                <a:latin typeface="Consolas" panose="020B0609020204030204" pitchFamily="49" charset="0"/>
              </a:rPr>
              <a:t> monthCalendar1_DateChanged(</a:t>
            </a:r>
            <a:r>
              <a:rPr lang="en-ZA" sz="1400" dirty="0">
                <a:solidFill>
                  <a:srgbClr val="0000FF"/>
                </a:solidFill>
                <a:latin typeface="Consolas" panose="020B0609020204030204" pitchFamily="49" charset="0"/>
              </a:rPr>
              <a:t>object</a:t>
            </a:r>
            <a:r>
              <a:rPr lang="en-ZA" sz="1400" dirty="0">
                <a:solidFill>
                  <a:srgbClr val="000000"/>
                </a:solidFill>
                <a:latin typeface="Consolas" panose="020B0609020204030204" pitchFamily="49" charset="0"/>
              </a:rPr>
              <a:t> sender, </a:t>
            </a:r>
            <a:r>
              <a:rPr lang="en-ZA" sz="1400" dirty="0" err="1">
                <a:solidFill>
                  <a:srgbClr val="000000"/>
                </a:solidFill>
                <a:latin typeface="Consolas" panose="020B0609020204030204" pitchFamily="49" charset="0"/>
              </a:rPr>
              <a:t>DateRangeEventArgs</a:t>
            </a:r>
            <a:r>
              <a:rPr lang="en-ZA" sz="1400" dirty="0">
                <a:solidFill>
                  <a:srgbClr val="000000"/>
                </a:solidFill>
                <a:latin typeface="Consolas" panose="020B0609020204030204" pitchFamily="49" charset="0"/>
              </a:rPr>
              <a:t> e)</a:t>
            </a:r>
          </a:p>
          <a:p>
            <a:r>
              <a:rPr lang="en-ZA" sz="1400" dirty="0">
                <a:solidFill>
                  <a:srgbClr val="000000"/>
                </a:solidFill>
                <a:latin typeface="Consolas" panose="020B0609020204030204" pitchFamily="49" charset="0"/>
              </a:rPr>
              <a:t>        {</a:t>
            </a:r>
          </a:p>
          <a:p>
            <a:r>
              <a:rPr lang="en-ZA" sz="1400" dirty="0">
                <a:solidFill>
                  <a:srgbClr val="000000"/>
                </a:solidFill>
                <a:latin typeface="Consolas" panose="020B0609020204030204" pitchFamily="49" charset="0"/>
              </a:rPr>
              <a:t>            </a:t>
            </a:r>
            <a:r>
              <a:rPr lang="en-ZA" sz="1400" dirty="0" err="1">
                <a:solidFill>
                  <a:srgbClr val="000000"/>
                </a:solidFill>
                <a:latin typeface="Consolas" panose="020B0609020204030204" pitchFamily="49" charset="0"/>
              </a:rPr>
              <a:t>taPreviousApp.FillByDate</a:t>
            </a:r>
            <a:r>
              <a:rPr lang="en-ZA" sz="1400" dirty="0">
                <a:solidFill>
                  <a:srgbClr val="000000"/>
                </a:solidFill>
                <a:latin typeface="Consolas" panose="020B0609020204030204" pitchFamily="49" charset="0"/>
              </a:rPr>
              <a:t>(dsAppt.PreviousAppoint,monthCalendar1.SelectionRange.Start);</a:t>
            </a:r>
          </a:p>
          <a:p>
            <a:r>
              <a:rPr lang="en-ZA" sz="1400" dirty="0">
                <a:solidFill>
                  <a:srgbClr val="000000"/>
                </a:solidFill>
                <a:latin typeface="Consolas" panose="020B0609020204030204" pitchFamily="49" charset="0"/>
              </a:rPr>
              <a:t>            </a:t>
            </a:r>
          </a:p>
          <a:p>
            <a:r>
              <a:rPr lang="en-ZA" sz="1400" dirty="0">
                <a:solidFill>
                  <a:srgbClr val="000000"/>
                </a:solidFill>
                <a:latin typeface="Consolas" panose="020B0609020204030204" pitchFamily="49" charset="0"/>
              </a:rPr>
              <a:t>        }</a:t>
            </a:r>
            <a:endParaRPr lang="en-ZA" sz="1400" dirty="0"/>
          </a:p>
        </p:txBody>
      </p:sp>
    </p:spTree>
    <p:extLst>
      <p:ext uri="{BB962C8B-B14F-4D97-AF65-F5344CB8AC3E}">
        <p14:creationId xmlns:p14="http://schemas.microsoft.com/office/powerpoint/2010/main" val="2646877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Making a New Appointment</a:t>
            </a:r>
          </a:p>
        </p:txBody>
      </p:sp>
      <p:sp>
        <p:nvSpPr>
          <p:cNvPr id="3" name="Content Placeholder 2"/>
          <p:cNvSpPr>
            <a:spLocks noGrp="1"/>
          </p:cNvSpPr>
          <p:nvPr>
            <p:ph idx="1"/>
          </p:nvPr>
        </p:nvSpPr>
        <p:spPr/>
        <p:txBody>
          <a:bodyPr/>
          <a:lstStyle/>
          <a:p>
            <a:r>
              <a:rPr lang="en-US" dirty="0"/>
              <a:t>Provide an Interface to select the Customer/patient/appointee</a:t>
            </a:r>
          </a:p>
          <a:p>
            <a:r>
              <a:rPr lang="en-US" dirty="0"/>
              <a:t>Using a Like Search is advisable</a:t>
            </a:r>
          </a:p>
          <a:p>
            <a:r>
              <a:rPr lang="en-US" dirty="0"/>
              <a:t>If you do – then an appropriate control is required to display a set of names</a:t>
            </a:r>
          </a:p>
          <a:p>
            <a:r>
              <a:rPr lang="en-US" dirty="0"/>
              <a:t>A Double click on the current row of the </a:t>
            </a:r>
            <a:r>
              <a:rPr lang="en-US" dirty="0" err="1"/>
              <a:t>DataGridView</a:t>
            </a:r>
            <a:r>
              <a:rPr lang="en-US" dirty="0"/>
              <a:t> is a good idea</a:t>
            </a:r>
          </a:p>
          <a:p>
            <a:r>
              <a:rPr lang="en-US" dirty="0"/>
              <a:t>Once the appointee is confirmed…show a confirmation …use Panels …quite good to highlight different sections of the form</a:t>
            </a:r>
          </a:p>
          <a:p>
            <a:r>
              <a:rPr lang="en-US" dirty="0"/>
              <a:t>The big challenge….Choosing the time for the appointment – many complications here!!!</a:t>
            </a:r>
          </a:p>
          <a:p>
            <a:r>
              <a:rPr lang="en-US" dirty="0"/>
              <a:t>Just a simple suggestion – a combo box will be good to show only the available time – </a:t>
            </a:r>
            <a:r>
              <a:rPr lang="en-US" dirty="0" err="1"/>
              <a:t>I,e</a:t>
            </a:r>
            <a:r>
              <a:rPr lang="en-US" dirty="0"/>
              <a:t>. those that are booked should NOT be available for booking</a:t>
            </a:r>
          </a:p>
          <a:p>
            <a:r>
              <a:rPr lang="en-US" dirty="0"/>
              <a:t>Need a little tweaking of the </a:t>
            </a:r>
            <a:r>
              <a:rPr lang="en-US" dirty="0" err="1"/>
              <a:t>Sql</a:t>
            </a:r>
            <a:r>
              <a:rPr lang="en-US" dirty="0"/>
              <a:t> here …</a:t>
            </a:r>
            <a:r>
              <a:rPr lang="en-US" dirty="0">
                <a:sym typeface="Wingdings" panose="05000000000000000000" pitchFamily="2" charset="2"/>
              </a:rPr>
              <a:t></a:t>
            </a:r>
            <a:endParaRPr lang="en-US" dirty="0"/>
          </a:p>
        </p:txBody>
      </p:sp>
    </p:spTree>
    <p:extLst>
      <p:ext uri="{BB962C8B-B14F-4D97-AF65-F5344CB8AC3E}">
        <p14:creationId xmlns:p14="http://schemas.microsoft.com/office/powerpoint/2010/main" val="3345651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Interface Layout</a:t>
            </a:r>
          </a:p>
        </p:txBody>
      </p:sp>
      <p:sp>
        <p:nvSpPr>
          <p:cNvPr id="5" name="Content Placeholder 4">
            <a:extLst>
              <a:ext uri="{FF2B5EF4-FFF2-40B4-BE49-F238E27FC236}">
                <a16:creationId xmlns:a16="http://schemas.microsoft.com/office/drawing/2014/main" id="{4BAB6A69-D269-428A-B280-F3F4DBDF5BA6}"/>
              </a:ext>
            </a:extLst>
          </p:cNvPr>
          <p:cNvSpPr>
            <a:spLocks noGrp="1"/>
          </p:cNvSpPr>
          <p:nvPr>
            <p:ph idx="1"/>
          </p:nvPr>
        </p:nvSpPr>
        <p:spPr>
          <a:xfrm>
            <a:off x="897114" y="938596"/>
            <a:ext cx="11073839" cy="1338440"/>
          </a:xfrm>
        </p:spPr>
        <p:txBody>
          <a:bodyPr>
            <a:normAutofit fontScale="92500"/>
          </a:bodyPr>
          <a:lstStyle/>
          <a:p>
            <a:r>
              <a:rPr lang="en-ZA" sz="1000" dirty="0"/>
              <a:t>The form is split into 3 panels – the 1</a:t>
            </a:r>
            <a:r>
              <a:rPr lang="en-ZA" sz="1000" baseline="30000" dirty="0"/>
              <a:t>st</a:t>
            </a:r>
            <a:r>
              <a:rPr lang="en-ZA" sz="1000" dirty="0"/>
              <a:t> panel shows the current (today), previous and upcoming bookings by allowing the user to select a date on the </a:t>
            </a:r>
            <a:r>
              <a:rPr lang="en-ZA" sz="1000" dirty="0" err="1"/>
              <a:t>MonthCalendar</a:t>
            </a:r>
            <a:r>
              <a:rPr lang="en-ZA" sz="1000" dirty="0"/>
              <a:t> control and the app displays the appointments for that day</a:t>
            </a:r>
          </a:p>
          <a:p>
            <a:r>
              <a:rPr lang="en-ZA" sz="1000" dirty="0"/>
              <a:t>The 2</a:t>
            </a:r>
            <a:r>
              <a:rPr lang="en-ZA" sz="1000" baseline="30000" dirty="0"/>
              <a:t>nd</a:t>
            </a:r>
            <a:r>
              <a:rPr lang="en-ZA" sz="1000" dirty="0"/>
              <a:t> panel provides an option to search for a customer – via first or surname – a double click on the row header will transfer the customer details to labels on the 3</a:t>
            </a:r>
            <a:r>
              <a:rPr lang="en-ZA" sz="1000" baseline="30000" dirty="0"/>
              <a:t>rd</a:t>
            </a:r>
            <a:r>
              <a:rPr lang="en-ZA" sz="1000" dirty="0"/>
              <a:t> panel</a:t>
            </a:r>
          </a:p>
          <a:p>
            <a:r>
              <a:rPr lang="en-ZA" sz="1000" dirty="0"/>
              <a:t>The 3</a:t>
            </a:r>
            <a:r>
              <a:rPr lang="en-ZA" sz="1000" baseline="30000" dirty="0"/>
              <a:t>rd</a:t>
            </a:r>
            <a:r>
              <a:rPr lang="en-ZA" sz="1000" dirty="0"/>
              <a:t> panel will be used to make a booking – this is the core of the system – the dropdown box displays the timeslots that are available for that day – if there are no bookings for that day – then all the timeslots are available – however, if there is a booking(s) for that day, then the times for the available bookings displayed on the dropdown box are adjusted to reflect only the available times – this is the difficult aspect of this form!!</a:t>
            </a:r>
          </a:p>
          <a:p>
            <a:pPr lvl="1"/>
            <a:r>
              <a:rPr lang="en-ZA" sz="1000" dirty="0"/>
              <a:t>The difficulty id handled via a </a:t>
            </a:r>
            <a:r>
              <a:rPr lang="en-ZA" sz="1000" dirty="0" err="1"/>
              <a:t>Sql</a:t>
            </a:r>
            <a:r>
              <a:rPr lang="en-ZA" sz="1000" dirty="0"/>
              <a:t> Query that will be shown in the next few slides….notice that 10h00-10h30 is NOT available for booking because it has already been booked</a:t>
            </a:r>
          </a:p>
          <a:p>
            <a:endParaRPr lang="en-ZA" sz="1000" dirty="0"/>
          </a:p>
        </p:txBody>
      </p:sp>
      <p:grpSp>
        <p:nvGrpSpPr>
          <p:cNvPr id="13" name="Group 12">
            <a:extLst>
              <a:ext uri="{FF2B5EF4-FFF2-40B4-BE49-F238E27FC236}">
                <a16:creationId xmlns:a16="http://schemas.microsoft.com/office/drawing/2014/main" id="{21CDA050-8A92-43FC-BA5B-FE4693170827}"/>
              </a:ext>
            </a:extLst>
          </p:cNvPr>
          <p:cNvGrpSpPr/>
          <p:nvPr/>
        </p:nvGrpSpPr>
        <p:grpSpPr>
          <a:xfrm>
            <a:off x="1586752" y="2142565"/>
            <a:ext cx="8139954" cy="4142814"/>
            <a:chOff x="1586752" y="2142565"/>
            <a:chExt cx="8139954" cy="4142814"/>
          </a:xfrm>
        </p:grpSpPr>
        <p:grpSp>
          <p:nvGrpSpPr>
            <p:cNvPr id="10" name="Group 9">
              <a:extLst>
                <a:ext uri="{FF2B5EF4-FFF2-40B4-BE49-F238E27FC236}">
                  <a16:creationId xmlns:a16="http://schemas.microsoft.com/office/drawing/2014/main" id="{48CF72E4-9C2B-4A26-8CC8-BCF26BCCAA8D}"/>
                </a:ext>
              </a:extLst>
            </p:cNvPr>
            <p:cNvGrpSpPr/>
            <p:nvPr/>
          </p:nvGrpSpPr>
          <p:grpSpPr>
            <a:xfrm>
              <a:off x="1586752" y="2142565"/>
              <a:ext cx="6490447" cy="4142814"/>
              <a:chOff x="1586752" y="2142565"/>
              <a:chExt cx="6490447" cy="4142814"/>
            </a:xfrm>
          </p:grpSpPr>
          <p:pic>
            <p:nvPicPr>
              <p:cNvPr id="7" name="Picture 6">
                <a:extLst>
                  <a:ext uri="{FF2B5EF4-FFF2-40B4-BE49-F238E27FC236}">
                    <a16:creationId xmlns:a16="http://schemas.microsoft.com/office/drawing/2014/main" id="{CE36C930-912B-4D0B-A73E-D77C50187BFA}"/>
                  </a:ext>
                </a:extLst>
              </p:cNvPr>
              <p:cNvPicPr>
                <a:picLocks noChangeAspect="1"/>
              </p:cNvPicPr>
              <p:nvPr/>
            </p:nvPicPr>
            <p:blipFill rotWithShape="1">
              <a:blip r:embed="rId2"/>
              <a:srcRect b="6630"/>
              <a:stretch/>
            </p:blipFill>
            <p:spPr>
              <a:xfrm>
                <a:off x="1586752" y="2876551"/>
                <a:ext cx="6490447" cy="34088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9" name="Straight Arrow Connector 8">
                <a:extLst>
                  <a:ext uri="{FF2B5EF4-FFF2-40B4-BE49-F238E27FC236}">
                    <a16:creationId xmlns:a16="http://schemas.microsoft.com/office/drawing/2014/main" id="{A8D88F09-5FE0-43D3-923D-F482D8751CD0}"/>
                  </a:ext>
                </a:extLst>
              </p:cNvPr>
              <p:cNvCxnSpPr/>
              <p:nvPr/>
            </p:nvCxnSpPr>
            <p:spPr>
              <a:xfrm flipH="1">
                <a:off x="6096000" y="2142565"/>
                <a:ext cx="672353" cy="29045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12" name="Straight Arrow Connector 11">
              <a:extLst>
                <a:ext uri="{FF2B5EF4-FFF2-40B4-BE49-F238E27FC236}">
                  <a16:creationId xmlns:a16="http://schemas.microsoft.com/office/drawing/2014/main" id="{2AA13950-9876-4DC8-B414-55340AFBC7F0}"/>
                </a:ext>
              </a:extLst>
            </p:cNvPr>
            <p:cNvCxnSpPr/>
            <p:nvPr/>
          </p:nvCxnSpPr>
          <p:spPr>
            <a:xfrm flipH="1">
              <a:off x="7225553" y="2142565"/>
              <a:ext cx="2501153" cy="12864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59614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E1478-A369-40C1-80E7-F947B4CEC67D}"/>
              </a:ext>
            </a:extLst>
          </p:cNvPr>
          <p:cNvSpPr>
            <a:spLocks noGrp="1"/>
          </p:cNvSpPr>
          <p:nvPr>
            <p:ph type="title"/>
          </p:nvPr>
        </p:nvSpPr>
        <p:spPr/>
        <p:txBody>
          <a:bodyPr>
            <a:normAutofit fontScale="90000"/>
          </a:bodyPr>
          <a:lstStyle/>
          <a:p>
            <a:r>
              <a:rPr lang="en-ZA" dirty="0"/>
              <a:t>Now for the Crazy Combo Box Design</a:t>
            </a:r>
          </a:p>
        </p:txBody>
      </p:sp>
      <p:sp>
        <p:nvSpPr>
          <p:cNvPr id="3" name="Content Placeholder 2">
            <a:extLst>
              <a:ext uri="{FF2B5EF4-FFF2-40B4-BE49-F238E27FC236}">
                <a16:creationId xmlns:a16="http://schemas.microsoft.com/office/drawing/2014/main" id="{5C88D5B7-2BA3-4396-9E4C-4B1C08135BEC}"/>
              </a:ext>
            </a:extLst>
          </p:cNvPr>
          <p:cNvSpPr>
            <a:spLocks noGrp="1"/>
          </p:cNvSpPr>
          <p:nvPr>
            <p:ph idx="1"/>
          </p:nvPr>
        </p:nvSpPr>
        <p:spPr>
          <a:xfrm>
            <a:off x="959867" y="969972"/>
            <a:ext cx="11073839" cy="2104922"/>
          </a:xfrm>
        </p:spPr>
        <p:txBody>
          <a:bodyPr/>
          <a:lstStyle/>
          <a:p>
            <a:r>
              <a:rPr lang="en-ZA" dirty="0"/>
              <a:t>To control the content of the Dropdown box – the box is linked to the Timeslots table</a:t>
            </a:r>
          </a:p>
          <a:p>
            <a:r>
              <a:rPr lang="en-ZA" dirty="0"/>
              <a:t>However, we need a temporary version of this table that gets populated according to a </a:t>
            </a:r>
            <a:r>
              <a:rPr lang="en-ZA" dirty="0" err="1"/>
              <a:t>Sql</a:t>
            </a:r>
            <a:r>
              <a:rPr lang="en-ZA" dirty="0"/>
              <a:t> query that finds the “previously booked” slots for the day selected and then extracts a subset of timeslots from the Timeslots table – this subset has to be temporarily stored inside a </a:t>
            </a:r>
            <a:r>
              <a:rPr lang="en-ZA" b="1" i="1" dirty="0">
                <a:solidFill>
                  <a:srgbClr val="C00000"/>
                </a:solidFill>
              </a:rPr>
              <a:t>temporary Timeslots</a:t>
            </a:r>
            <a:r>
              <a:rPr lang="en-ZA" i="1" dirty="0"/>
              <a:t> </a:t>
            </a:r>
            <a:r>
              <a:rPr lang="en-ZA" dirty="0"/>
              <a:t>table to be used to fill up the combo box – difficult to understand?? – watch the video recording on </a:t>
            </a:r>
            <a:r>
              <a:rPr lang="en-ZA"/>
              <a:t>MsTeams</a:t>
            </a:r>
            <a:endParaRPr lang="en-ZA" dirty="0"/>
          </a:p>
        </p:txBody>
      </p:sp>
      <p:grpSp>
        <p:nvGrpSpPr>
          <p:cNvPr id="7" name="Group 6">
            <a:extLst>
              <a:ext uri="{FF2B5EF4-FFF2-40B4-BE49-F238E27FC236}">
                <a16:creationId xmlns:a16="http://schemas.microsoft.com/office/drawing/2014/main" id="{630164DA-69E7-4EDB-8890-B32B16FEA673}"/>
              </a:ext>
            </a:extLst>
          </p:cNvPr>
          <p:cNvGrpSpPr/>
          <p:nvPr/>
        </p:nvGrpSpPr>
        <p:grpSpPr>
          <a:xfrm>
            <a:off x="206188" y="2545976"/>
            <a:ext cx="5325036" cy="3101789"/>
            <a:chOff x="206188" y="2545976"/>
            <a:chExt cx="5325036" cy="3101789"/>
          </a:xfrm>
        </p:grpSpPr>
        <p:pic>
          <p:nvPicPr>
            <p:cNvPr id="4" name="Picture 3">
              <a:extLst>
                <a:ext uri="{FF2B5EF4-FFF2-40B4-BE49-F238E27FC236}">
                  <a16:creationId xmlns:a16="http://schemas.microsoft.com/office/drawing/2014/main" id="{0E1F2AB0-E173-4208-A7AC-6A30D9571860}"/>
                </a:ext>
              </a:extLst>
            </p:cNvPr>
            <p:cNvPicPr>
              <a:picLocks noChangeAspect="1"/>
            </p:cNvPicPr>
            <p:nvPr/>
          </p:nvPicPr>
          <p:blipFill rotWithShape="1">
            <a:blip r:embed="rId2"/>
            <a:srcRect b="10415"/>
            <a:stretch/>
          </p:blipFill>
          <p:spPr>
            <a:xfrm>
              <a:off x="206188" y="3140892"/>
              <a:ext cx="4974798" cy="2506873"/>
            </a:xfrm>
            <a:prstGeom prst="rect">
              <a:avLst/>
            </a:prstGeom>
          </p:spPr>
        </p:pic>
        <p:cxnSp>
          <p:nvCxnSpPr>
            <p:cNvPr id="6" name="Straight Arrow Connector 5">
              <a:extLst>
                <a:ext uri="{FF2B5EF4-FFF2-40B4-BE49-F238E27FC236}">
                  <a16:creationId xmlns:a16="http://schemas.microsoft.com/office/drawing/2014/main" id="{45C11D08-D5E0-43E1-B185-4E741CA9CAC7}"/>
                </a:ext>
              </a:extLst>
            </p:cNvPr>
            <p:cNvCxnSpPr/>
            <p:nvPr/>
          </p:nvCxnSpPr>
          <p:spPr>
            <a:xfrm flipH="1">
              <a:off x="4455459" y="2545976"/>
              <a:ext cx="1075765" cy="16136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DB93BECD-D676-4DF0-A211-597E25814FFD}"/>
              </a:ext>
            </a:extLst>
          </p:cNvPr>
          <p:cNvGrpSpPr/>
          <p:nvPr/>
        </p:nvGrpSpPr>
        <p:grpSpPr>
          <a:xfrm>
            <a:off x="6902824" y="2214282"/>
            <a:ext cx="4906165" cy="3399073"/>
            <a:chOff x="6902824" y="2214282"/>
            <a:chExt cx="4906165" cy="3399073"/>
          </a:xfrm>
        </p:grpSpPr>
        <p:pic>
          <p:nvPicPr>
            <p:cNvPr id="8" name="Picture 7">
              <a:extLst>
                <a:ext uri="{FF2B5EF4-FFF2-40B4-BE49-F238E27FC236}">
                  <a16:creationId xmlns:a16="http://schemas.microsoft.com/office/drawing/2014/main" id="{A2D1CCE4-F4C0-4EA4-8F79-EAB4D22B5CAE}"/>
                </a:ext>
              </a:extLst>
            </p:cNvPr>
            <p:cNvPicPr>
              <a:picLocks noChangeAspect="1"/>
            </p:cNvPicPr>
            <p:nvPr/>
          </p:nvPicPr>
          <p:blipFill>
            <a:blip r:embed="rId3"/>
            <a:stretch>
              <a:fillRect/>
            </a:stretch>
          </p:blipFill>
          <p:spPr>
            <a:xfrm>
              <a:off x="6902824" y="3261816"/>
              <a:ext cx="4906165" cy="2351539"/>
            </a:xfrm>
            <a:prstGeom prst="rect">
              <a:avLst/>
            </a:prstGeom>
          </p:spPr>
        </p:pic>
        <p:cxnSp>
          <p:nvCxnSpPr>
            <p:cNvPr id="12" name="Straight Arrow Connector 11">
              <a:extLst>
                <a:ext uri="{FF2B5EF4-FFF2-40B4-BE49-F238E27FC236}">
                  <a16:creationId xmlns:a16="http://schemas.microsoft.com/office/drawing/2014/main" id="{798570BD-7AE1-4928-9F45-31A42EDC8690}"/>
                </a:ext>
              </a:extLst>
            </p:cNvPr>
            <p:cNvCxnSpPr/>
            <p:nvPr/>
          </p:nvCxnSpPr>
          <p:spPr>
            <a:xfrm>
              <a:off x="10972800" y="2214282"/>
              <a:ext cx="80682" cy="10475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817DFED5-5EB2-4D48-8534-9F6E8FAD2232}"/>
                </a:ext>
              </a:extLst>
            </p:cNvPr>
            <p:cNvCxnSpPr/>
            <p:nvPr/>
          </p:nvCxnSpPr>
          <p:spPr>
            <a:xfrm flipH="1">
              <a:off x="10336306" y="2259106"/>
              <a:ext cx="636494" cy="10027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815382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D6657-16FA-40B1-8A7A-C64E265DACCF}"/>
              </a:ext>
            </a:extLst>
          </p:cNvPr>
          <p:cNvSpPr>
            <a:spLocks noGrp="1"/>
          </p:cNvSpPr>
          <p:nvPr>
            <p:ph type="title"/>
          </p:nvPr>
        </p:nvSpPr>
        <p:spPr/>
        <p:txBody>
          <a:bodyPr>
            <a:normAutofit fontScale="90000"/>
          </a:bodyPr>
          <a:lstStyle/>
          <a:p>
            <a:r>
              <a:rPr lang="en-ZA" dirty="0"/>
              <a:t>…and the crazy </a:t>
            </a:r>
            <a:r>
              <a:rPr lang="en-ZA" dirty="0" err="1"/>
              <a:t>Sql</a:t>
            </a:r>
            <a:r>
              <a:rPr lang="en-ZA" dirty="0"/>
              <a:t> that generates content for the </a:t>
            </a:r>
            <a:r>
              <a:rPr lang="en-ZA" dirty="0" err="1"/>
              <a:t>ComboBox</a:t>
            </a:r>
            <a:endParaRPr lang="en-ZA" dirty="0"/>
          </a:p>
        </p:txBody>
      </p:sp>
      <p:sp>
        <p:nvSpPr>
          <p:cNvPr id="3" name="Content Placeholder 2">
            <a:extLst>
              <a:ext uri="{FF2B5EF4-FFF2-40B4-BE49-F238E27FC236}">
                <a16:creationId xmlns:a16="http://schemas.microsoft.com/office/drawing/2014/main" id="{BDD743BB-0658-4B46-A65F-DC9E93AE0AAE}"/>
              </a:ext>
            </a:extLst>
          </p:cNvPr>
          <p:cNvSpPr>
            <a:spLocks noGrp="1"/>
          </p:cNvSpPr>
          <p:nvPr>
            <p:ph idx="1"/>
          </p:nvPr>
        </p:nvSpPr>
        <p:spPr>
          <a:xfrm>
            <a:off x="959867" y="1559860"/>
            <a:ext cx="11073839" cy="1936376"/>
          </a:xfrm>
        </p:spPr>
        <p:txBody>
          <a:bodyPr/>
          <a:lstStyle/>
          <a:p>
            <a:r>
              <a:rPr lang="en-ZA" dirty="0"/>
              <a:t>The </a:t>
            </a:r>
            <a:r>
              <a:rPr lang="en-ZA" dirty="0" err="1"/>
              <a:t>Combox</a:t>
            </a:r>
            <a:r>
              <a:rPr lang="en-ZA" dirty="0"/>
              <a:t> content is determined by the date selected – so we need a query that uses the </a:t>
            </a:r>
            <a:r>
              <a:rPr lang="en-ZA" i="1" dirty="0"/>
              <a:t>“selected date” </a:t>
            </a:r>
            <a:r>
              <a:rPr lang="en-ZA" dirty="0"/>
              <a:t>as a parameter…and then generates all the available timeslots for that day …and then puts these timeslots into the temporary timeslots table so that it can be used to populate the combo box</a:t>
            </a:r>
          </a:p>
          <a:p>
            <a:r>
              <a:rPr lang="en-ZA" dirty="0"/>
              <a:t>The </a:t>
            </a:r>
            <a:r>
              <a:rPr lang="en-ZA" dirty="0" err="1"/>
              <a:t>Sql</a:t>
            </a:r>
            <a:r>
              <a:rPr lang="en-ZA" dirty="0"/>
              <a:t> controls the dynamic display of timeslots…what does it look like?</a:t>
            </a:r>
          </a:p>
        </p:txBody>
      </p:sp>
      <p:pic>
        <p:nvPicPr>
          <p:cNvPr id="5" name="Graphic 4" descr="Surprised face with solid fill">
            <a:extLst>
              <a:ext uri="{FF2B5EF4-FFF2-40B4-BE49-F238E27FC236}">
                <a16:creationId xmlns:a16="http://schemas.microsoft.com/office/drawing/2014/main" id="{6420AB8E-5F03-43E1-BC5D-4DC2CA05D0B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32133" y="1102659"/>
            <a:ext cx="914400" cy="914400"/>
          </a:xfrm>
          <a:prstGeom prst="rect">
            <a:avLst/>
          </a:prstGeom>
        </p:spPr>
      </p:pic>
      <p:sp>
        <p:nvSpPr>
          <p:cNvPr id="6" name="Rectangle 5">
            <a:extLst>
              <a:ext uri="{FF2B5EF4-FFF2-40B4-BE49-F238E27FC236}">
                <a16:creationId xmlns:a16="http://schemas.microsoft.com/office/drawing/2014/main" id="{373F2209-9BC9-4ACF-91D2-4D7396A9B094}"/>
              </a:ext>
            </a:extLst>
          </p:cNvPr>
          <p:cNvSpPr/>
          <p:nvPr/>
        </p:nvSpPr>
        <p:spPr>
          <a:xfrm>
            <a:off x="847040" y="3395883"/>
            <a:ext cx="4733365" cy="1754326"/>
          </a:xfrm>
          <a:prstGeom prst="rect">
            <a:avLst/>
          </a:prstGeom>
          <a:solidFill>
            <a:schemeClr val="accent5">
              <a:lumMod val="40000"/>
              <a:lumOff val="60000"/>
            </a:schemeClr>
          </a:solidFill>
        </p:spPr>
        <p:txBody>
          <a:bodyPr wrap="square">
            <a:spAutoFit/>
          </a:bodyPr>
          <a:lstStyle/>
          <a:p>
            <a:r>
              <a:rPr lang="en-ZA" dirty="0"/>
              <a:t>SELECT </a:t>
            </a:r>
            <a:r>
              <a:rPr lang="en-ZA" dirty="0" err="1"/>
              <a:t>TimeSlot</a:t>
            </a:r>
            <a:r>
              <a:rPr lang="en-ZA" dirty="0"/>
              <a:t>, </a:t>
            </a:r>
            <a:r>
              <a:rPr lang="en-ZA" dirty="0" err="1"/>
              <a:t>TimeID</a:t>
            </a:r>
            <a:endParaRPr lang="en-ZA" dirty="0"/>
          </a:p>
          <a:p>
            <a:r>
              <a:rPr lang="en-ZA" dirty="0"/>
              <a:t>FROM     </a:t>
            </a:r>
            <a:r>
              <a:rPr lang="en-ZA" dirty="0" err="1"/>
              <a:t>TimeSlot</a:t>
            </a:r>
            <a:endParaRPr lang="en-ZA" dirty="0"/>
          </a:p>
          <a:p>
            <a:r>
              <a:rPr lang="en-ZA" dirty="0"/>
              <a:t>WHERE  (</a:t>
            </a:r>
            <a:r>
              <a:rPr lang="en-ZA" dirty="0" err="1"/>
              <a:t>TimeID</a:t>
            </a:r>
            <a:r>
              <a:rPr lang="en-ZA" dirty="0"/>
              <a:t> </a:t>
            </a:r>
            <a:r>
              <a:rPr lang="en-ZA" b="1" dirty="0">
                <a:solidFill>
                  <a:srgbClr val="C00000"/>
                </a:solidFill>
              </a:rPr>
              <a:t>NOT IN</a:t>
            </a:r>
          </a:p>
          <a:p>
            <a:r>
              <a:rPr lang="en-ZA" dirty="0"/>
              <a:t>                      (SELECT </a:t>
            </a:r>
            <a:r>
              <a:rPr lang="en-ZA" dirty="0" err="1"/>
              <a:t>AppTimeID</a:t>
            </a:r>
            <a:endParaRPr lang="en-ZA" dirty="0"/>
          </a:p>
          <a:p>
            <a:r>
              <a:rPr lang="en-ZA" dirty="0"/>
              <a:t>                       FROM      Appointment</a:t>
            </a:r>
          </a:p>
          <a:p>
            <a:r>
              <a:rPr lang="en-ZA" dirty="0"/>
              <a:t>                       WHERE   (</a:t>
            </a:r>
            <a:r>
              <a:rPr lang="en-ZA" dirty="0" err="1"/>
              <a:t>AppDate</a:t>
            </a:r>
            <a:r>
              <a:rPr lang="en-ZA" dirty="0"/>
              <a:t> = @date)))</a:t>
            </a:r>
          </a:p>
        </p:txBody>
      </p:sp>
      <p:pic>
        <p:nvPicPr>
          <p:cNvPr id="7" name="Picture 6">
            <a:extLst>
              <a:ext uri="{FF2B5EF4-FFF2-40B4-BE49-F238E27FC236}">
                <a16:creationId xmlns:a16="http://schemas.microsoft.com/office/drawing/2014/main" id="{EB03E8CE-E72C-44C0-9992-76BD4DAD9D6F}"/>
              </a:ext>
            </a:extLst>
          </p:cNvPr>
          <p:cNvPicPr>
            <a:picLocks noChangeAspect="1"/>
          </p:cNvPicPr>
          <p:nvPr/>
        </p:nvPicPr>
        <p:blipFill>
          <a:blip r:embed="rId4"/>
          <a:stretch>
            <a:fillRect/>
          </a:stretch>
        </p:blipFill>
        <p:spPr>
          <a:xfrm>
            <a:off x="6172200" y="3395883"/>
            <a:ext cx="5982447" cy="1962991"/>
          </a:xfrm>
          <a:prstGeom prst="rect">
            <a:avLst/>
          </a:prstGeom>
        </p:spPr>
      </p:pic>
    </p:spTree>
    <p:extLst>
      <p:ext uri="{BB962C8B-B14F-4D97-AF65-F5344CB8AC3E}">
        <p14:creationId xmlns:p14="http://schemas.microsoft.com/office/powerpoint/2010/main" val="1643201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4895F-25B6-44B8-A1CC-5B88F6A12784}"/>
              </a:ext>
            </a:extLst>
          </p:cNvPr>
          <p:cNvSpPr>
            <a:spLocks noGrp="1"/>
          </p:cNvSpPr>
          <p:nvPr>
            <p:ph type="title"/>
          </p:nvPr>
        </p:nvSpPr>
        <p:spPr/>
        <p:txBody>
          <a:bodyPr>
            <a:normAutofit fontScale="90000"/>
          </a:bodyPr>
          <a:lstStyle/>
          <a:p>
            <a:r>
              <a:rPr lang="en-ZA" dirty="0"/>
              <a:t>So now…</a:t>
            </a:r>
          </a:p>
        </p:txBody>
      </p:sp>
      <p:sp>
        <p:nvSpPr>
          <p:cNvPr id="3" name="Content Placeholder 2">
            <a:extLst>
              <a:ext uri="{FF2B5EF4-FFF2-40B4-BE49-F238E27FC236}">
                <a16:creationId xmlns:a16="http://schemas.microsoft.com/office/drawing/2014/main" id="{5B98CE57-A777-483C-9172-471BAC747CD3}"/>
              </a:ext>
            </a:extLst>
          </p:cNvPr>
          <p:cNvSpPr>
            <a:spLocks noGrp="1"/>
          </p:cNvSpPr>
          <p:nvPr>
            <p:ph idx="1"/>
          </p:nvPr>
        </p:nvSpPr>
        <p:spPr>
          <a:xfrm>
            <a:off x="959867" y="969972"/>
            <a:ext cx="11073839" cy="1127770"/>
          </a:xfrm>
        </p:spPr>
        <p:txBody>
          <a:bodyPr/>
          <a:lstStyle/>
          <a:p>
            <a:r>
              <a:rPr lang="en-ZA" dirty="0"/>
              <a:t>Whenever the date is changed on the </a:t>
            </a:r>
            <a:r>
              <a:rPr lang="en-ZA" dirty="0" err="1"/>
              <a:t>MonthCalendar</a:t>
            </a:r>
            <a:r>
              <a:rPr lang="en-ZA" dirty="0"/>
              <a:t> control – the </a:t>
            </a:r>
            <a:r>
              <a:rPr lang="en-ZA" dirty="0" err="1"/>
              <a:t>innerjoin</a:t>
            </a:r>
            <a:r>
              <a:rPr lang="en-ZA" dirty="0"/>
              <a:t> displays the details of the appointments for that day….and….the </a:t>
            </a:r>
            <a:r>
              <a:rPr lang="en-ZA" dirty="0" err="1"/>
              <a:t>combobox</a:t>
            </a:r>
            <a:r>
              <a:rPr lang="en-ZA" dirty="0"/>
              <a:t> gets an updated listed of appointment time slots available for THAT day</a:t>
            </a:r>
          </a:p>
        </p:txBody>
      </p:sp>
      <p:sp>
        <p:nvSpPr>
          <p:cNvPr id="4" name="Rectangle 3">
            <a:extLst>
              <a:ext uri="{FF2B5EF4-FFF2-40B4-BE49-F238E27FC236}">
                <a16:creationId xmlns:a16="http://schemas.microsoft.com/office/drawing/2014/main" id="{51098116-F0A8-4C24-A772-72862F181EA6}"/>
              </a:ext>
            </a:extLst>
          </p:cNvPr>
          <p:cNvSpPr/>
          <p:nvPr/>
        </p:nvSpPr>
        <p:spPr>
          <a:xfrm>
            <a:off x="884880" y="4760259"/>
            <a:ext cx="11223812" cy="1384995"/>
          </a:xfrm>
          <a:prstGeom prst="rect">
            <a:avLst/>
          </a:prstGeom>
          <a:solidFill>
            <a:schemeClr val="accent5">
              <a:lumMod val="40000"/>
              <a:lumOff val="60000"/>
            </a:schemeClr>
          </a:solidFill>
        </p:spPr>
        <p:txBody>
          <a:bodyPr wrap="square">
            <a:spAutoFit/>
          </a:bodyPr>
          <a:lstStyle/>
          <a:p>
            <a:r>
              <a:rPr lang="en-ZA" dirty="0">
                <a:solidFill>
                  <a:srgbClr val="000000"/>
                </a:solidFill>
                <a:latin typeface="Consolas" panose="020B0609020204030204" pitchFamily="49" charset="0"/>
              </a:rPr>
              <a:t> </a:t>
            </a:r>
            <a:r>
              <a:rPr lang="en-ZA" dirty="0">
                <a:solidFill>
                  <a:srgbClr val="0000FF"/>
                </a:solidFill>
                <a:latin typeface="Consolas" panose="020B0609020204030204" pitchFamily="49" charset="0"/>
              </a:rPr>
              <a:t>private</a:t>
            </a:r>
            <a:r>
              <a:rPr lang="en-ZA" dirty="0">
                <a:solidFill>
                  <a:srgbClr val="000000"/>
                </a:solidFill>
                <a:latin typeface="Consolas" panose="020B0609020204030204" pitchFamily="49" charset="0"/>
              </a:rPr>
              <a:t> </a:t>
            </a:r>
            <a:r>
              <a:rPr lang="en-ZA" dirty="0">
                <a:solidFill>
                  <a:srgbClr val="0000FF"/>
                </a:solidFill>
                <a:latin typeface="Consolas" panose="020B0609020204030204" pitchFamily="49" charset="0"/>
              </a:rPr>
              <a:t>void</a:t>
            </a:r>
            <a:r>
              <a:rPr lang="en-ZA" dirty="0">
                <a:solidFill>
                  <a:srgbClr val="000000"/>
                </a:solidFill>
                <a:latin typeface="Consolas" panose="020B0609020204030204" pitchFamily="49" charset="0"/>
              </a:rPr>
              <a:t> monthCalendar1_DateChanged(</a:t>
            </a:r>
            <a:r>
              <a:rPr lang="en-ZA" dirty="0">
                <a:solidFill>
                  <a:srgbClr val="0000FF"/>
                </a:solidFill>
                <a:latin typeface="Consolas" panose="020B0609020204030204" pitchFamily="49" charset="0"/>
              </a:rPr>
              <a:t>object</a:t>
            </a:r>
            <a:r>
              <a:rPr lang="en-ZA" dirty="0">
                <a:solidFill>
                  <a:srgbClr val="000000"/>
                </a:solidFill>
                <a:latin typeface="Consolas" panose="020B0609020204030204" pitchFamily="49" charset="0"/>
              </a:rPr>
              <a:t> sender, </a:t>
            </a:r>
            <a:r>
              <a:rPr lang="en-ZA" dirty="0" err="1">
                <a:solidFill>
                  <a:srgbClr val="000000"/>
                </a:solidFill>
                <a:latin typeface="Consolas" panose="020B0609020204030204" pitchFamily="49" charset="0"/>
              </a:rPr>
              <a:t>DateRangeEventArgs</a:t>
            </a:r>
            <a:r>
              <a:rPr lang="en-ZA" dirty="0">
                <a:solidFill>
                  <a:srgbClr val="000000"/>
                </a:solidFill>
                <a:latin typeface="Consolas" panose="020B0609020204030204" pitchFamily="49" charset="0"/>
              </a:rPr>
              <a:t> e)</a:t>
            </a:r>
          </a:p>
          <a:p>
            <a:r>
              <a:rPr lang="en-ZA" dirty="0">
                <a:solidFill>
                  <a:srgbClr val="000000"/>
                </a:solidFill>
                <a:latin typeface="Consolas" panose="020B0609020204030204" pitchFamily="49" charset="0"/>
              </a:rPr>
              <a:t>        {</a:t>
            </a:r>
          </a:p>
          <a:p>
            <a:r>
              <a:rPr lang="en-ZA" dirty="0">
                <a:solidFill>
                  <a:srgbClr val="000000"/>
                </a:solidFill>
                <a:latin typeface="Consolas" panose="020B0609020204030204" pitchFamily="49" charset="0"/>
              </a:rPr>
              <a:t>            </a:t>
            </a:r>
            <a:r>
              <a:rPr lang="en-ZA" sz="1200" dirty="0" err="1">
                <a:solidFill>
                  <a:srgbClr val="000000"/>
                </a:solidFill>
                <a:latin typeface="Consolas" panose="020B0609020204030204" pitchFamily="49" charset="0"/>
              </a:rPr>
              <a:t>taPreviousApp.FillByDate</a:t>
            </a:r>
            <a:r>
              <a:rPr lang="en-ZA" sz="1200" dirty="0">
                <a:solidFill>
                  <a:srgbClr val="000000"/>
                </a:solidFill>
                <a:latin typeface="Consolas" panose="020B0609020204030204" pitchFamily="49" charset="0"/>
              </a:rPr>
              <a:t>(dsAppt.PreviousAppoint,monthCalendar1.SelectionRange.Start);</a:t>
            </a:r>
          </a:p>
          <a:p>
            <a:r>
              <a:rPr lang="en-ZA" sz="1200" dirty="0">
                <a:solidFill>
                  <a:srgbClr val="000000"/>
                </a:solidFill>
                <a:latin typeface="Consolas" panose="020B0609020204030204" pitchFamily="49" charset="0"/>
              </a:rPr>
              <a:t>                  </a:t>
            </a:r>
            <a:r>
              <a:rPr lang="en-ZA" sz="1200" dirty="0" err="1">
                <a:solidFill>
                  <a:srgbClr val="000000"/>
                </a:solidFill>
                <a:latin typeface="Consolas" panose="020B0609020204030204" pitchFamily="49" charset="0"/>
              </a:rPr>
              <a:t>taSlotsAvailable.FillbyAvailableTimeSlots</a:t>
            </a:r>
            <a:r>
              <a:rPr lang="en-ZA" sz="1200" dirty="0">
                <a:solidFill>
                  <a:srgbClr val="000000"/>
                </a:solidFill>
                <a:latin typeface="Consolas" panose="020B0609020204030204" pitchFamily="49" charset="0"/>
              </a:rPr>
              <a:t>(</a:t>
            </a:r>
            <a:r>
              <a:rPr lang="en-ZA" sz="1200" dirty="0" err="1">
                <a:solidFill>
                  <a:srgbClr val="000000"/>
                </a:solidFill>
                <a:latin typeface="Consolas" panose="020B0609020204030204" pitchFamily="49" charset="0"/>
              </a:rPr>
              <a:t>dsAppt.DTTimeSlotsAvailable</a:t>
            </a:r>
            <a:r>
              <a:rPr lang="en-ZA" sz="1200" dirty="0">
                <a:solidFill>
                  <a:srgbClr val="000000"/>
                </a:solidFill>
                <a:latin typeface="Consolas" panose="020B0609020204030204" pitchFamily="49" charset="0"/>
              </a:rPr>
              <a:t>, monthCalendar1.SelectionRange.Start);</a:t>
            </a:r>
          </a:p>
          <a:p>
            <a:r>
              <a:rPr lang="en-ZA" dirty="0">
                <a:solidFill>
                  <a:srgbClr val="000000"/>
                </a:solidFill>
                <a:latin typeface="Consolas" panose="020B0609020204030204" pitchFamily="49" charset="0"/>
              </a:rPr>
              <a:t>        }</a:t>
            </a:r>
            <a:endParaRPr lang="en-ZA" dirty="0"/>
          </a:p>
        </p:txBody>
      </p:sp>
      <p:pic>
        <p:nvPicPr>
          <p:cNvPr id="5" name="Picture 4">
            <a:extLst>
              <a:ext uri="{FF2B5EF4-FFF2-40B4-BE49-F238E27FC236}">
                <a16:creationId xmlns:a16="http://schemas.microsoft.com/office/drawing/2014/main" id="{97CD9196-89EF-4FE7-BD1E-5A6E54CACEBD}"/>
              </a:ext>
            </a:extLst>
          </p:cNvPr>
          <p:cNvPicPr>
            <a:picLocks noChangeAspect="1"/>
          </p:cNvPicPr>
          <p:nvPr/>
        </p:nvPicPr>
        <p:blipFill rotWithShape="1">
          <a:blip r:embed="rId2"/>
          <a:srcRect l="7873" t="16340" r="4779" b="2809"/>
          <a:stretch/>
        </p:blipFill>
        <p:spPr>
          <a:xfrm>
            <a:off x="5431967" y="1624605"/>
            <a:ext cx="5800166" cy="3019935"/>
          </a:xfrm>
          <a:prstGeom prst="rect">
            <a:avLst/>
          </a:prstGeom>
        </p:spPr>
      </p:pic>
    </p:spTree>
    <p:extLst>
      <p:ext uri="{BB962C8B-B14F-4D97-AF65-F5344CB8AC3E}">
        <p14:creationId xmlns:p14="http://schemas.microsoft.com/office/powerpoint/2010/main" val="38598857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0"/>
            <a:ext cx="9601200" cy="590407"/>
          </a:xfrm>
        </p:spPr>
        <p:txBody>
          <a:bodyPr>
            <a:normAutofit fontScale="90000"/>
          </a:bodyPr>
          <a:lstStyle/>
          <a:p>
            <a:r>
              <a:rPr lang="en-US" dirty="0"/>
              <a:t>Getting the Names is via </a:t>
            </a:r>
            <a:r>
              <a:rPr lang="en-US" dirty="0" err="1"/>
              <a:t>txtChanged</a:t>
            </a:r>
            <a:endParaRPr lang="en-US" dirty="0"/>
          </a:p>
        </p:txBody>
      </p:sp>
      <p:sp>
        <p:nvSpPr>
          <p:cNvPr id="5" name="Content Placeholder 4">
            <a:extLst>
              <a:ext uri="{FF2B5EF4-FFF2-40B4-BE49-F238E27FC236}">
                <a16:creationId xmlns:a16="http://schemas.microsoft.com/office/drawing/2014/main" id="{99C919B4-C508-43B1-9ED2-E2661E298965}"/>
              </a:ext>
            </a:extLst>
          </p:cNvPr>
          <p:cNvSpPr>
            <a:spLocks noGrp="1"/>
          </p:cNvSpPr>
          <p:nvPr>
            <p:ph idx="1"/>
          </p:nvPr>
        </p:nvSpPr>
        <p:spPr>
          <a:xfrm>
            <a:off x="959867" y="969971"/>
            <a:ext cx="11073839" cy="778147"/>
          </a:xfrm>
        </p:spPr>
        <p:txBody>
          <a:bodyPr/>
          <a:lstStyle/>
          <a:p>
            <a:r>
              <a:rPr lang="en-ZA" dirty="0"/>
              <a:t>This is just a routine search on the Customer table</a:t>
            </a:r>
          </a:p>
        </p:txBody>
      </p:sp>
      <p:sp>
        <p:nvSpPr>
          <p:cNvPr id="8" name="Rectangle 7">
            <a:extLst>
              <a:ext uri="{FF2B5EF4-FFF2-40B4-BE49-F238E27FC236}">
                <a16:creationId xmlns:a16="http://schemas.microsoft.com/office/drawing/2014/main" id="{DCD928D3-6BB4-4BD5-9A87-66E36C088CA9}"/>
              </a:ext>
            </a:extLst>
          </p:cNvPr>
          <p:cNvSpPr/>
          <p:nvPr/>
        </p:nvSpPr>
        <p:spPr>
          <a:xfrm>
            <a:off x="1304365" y="5474331"/>
            <a:ext cx="9735670" cy="1200329"/>
          </a:xfrm>
          <a:prstGeom prst="rect">
            <a:avLst/>
          </a:prstGeom>
          <a:solidFill>
            <a:schemeClr val="accent5">
              <a:lumMod val="40000"/>
              <a:lumOff val="60000"/>
            </a:schemeClr>
          </a:solidFill>
        </p:spPr>
        <p:txBody>
          <a:bodyPr wrap="square">
            <a:spAutoFit/>
          </a:bodyPr>
          <a:lstStyle/>
          <a:p>
            <a:r>
              <a:rPr lang="en-US" dirty="0">
                <a:solidFill>
                  <a:srgbClr val="0000FF"/>
                </a:solidFill>
                <a:latin typeface="Consolas" panose="020B0609020204030204" pitchFamily="49" charset="0"/>
              </a:rPr>
              <a:t>private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txtCustSurname_TextChanged</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object</a:t>
            </a:r>
            <a:r>
              <a:rPr lang="en-US" dirty="0">
                <a:solidFill>
                  <a:srgbClr val="000000"/>
                </a:solidFill>
                <a:latin typeface="Consolas" panose="020B0609020204030204" pitchFamily="49" charset="0"/>
              </a:rPr>
              <a:t> sender, </a:t>
            </a:r>
            <a:r>
              <a:rPr lang="en-US" dirty="0" err="1">
                <a:solidFill>
                  <a:srgbClr val="000000"/>
                </a:solidFill>
                <a:latin typeface="Consolas" panose="020B0609020204030204" pitchFamily="49" charset="0"/>
              </a:rPr>
              <a:t>EventArgs</a:t>
            </a:r>
            <a:r>
              <a:rPr lang="en-US" dirty="0">
                <a:solidFill>
                  <a:srgbClr val="000000"/>
                </a:solidFill>
                <a:latin typeface="Consolas" panose="020B0609020204030204" pitchFamily="49" charset="0"/>
              </a:rPr>
              <a:t> e)</a:t>
            </a:r>
          </a:p>
          <a:p>
            <a:r>
              <a:rPr lang="en-ZA" dirty="0">
                <a:solidFill>
                  <a:srgbClr val="000000"/>
                </a:solidFill>
                <a:latin typeface="Consolas" panose="020B0609020204030204" pitchFamily="49" charset="0"/>
              </a:rPr>
              <a:t>        {</a:t>
            </a:r>
          </a:p>
          <a:p>
            <a:r>
              <a:rPr lang="en-ZA" dirty="0">
                <a:solidFill>
                  <a:srgbClr val="000000"/>
                </a:solidFill>
                <a:latin typeface="Consolas" panose="020B0609020204030204" pitchFamily="49" charset="0"/>
              </a:rPr>
              <a:t>            taCust1.FillBySurname(</a:t>
            </a:r>
            <a:r>
              <a:rPr lang="en-ZA" dirty="0" err="1">
                <a:solidFill>
                  <a:srgbClr val="000000"/>
                </a:solidFill>
                <a:latin typeface="Consolas" panose="020B0609020204030204" pitchFamily="49" charset="0"/>
              </a:rPr>
              <a:t>dsAppt.Cust</a:t>
            </a:r>
            <a:r>
              <a:rPr lang="en-ZA" dirty="0">
                <a:solidFill>
                  <a:srgbClr val="000000"/>
                </a:solidFill>
                <a:latin typeface="Consolas" panose="020B0609020204030204" pitchFamily="49" charset="0"/>
              </a:rPr>
              <a:t>, </a:t>
            </a:r>
            <a:r>
              <a:rPr lang="en-ZA" dirty="0" err="1">
                <a:solidFill>
                  <a:srgbClr val="000000"/>
                </a:solidFill>
                <a:latin typeface="Consolas" panose="020B0609020204030204" pitchFamily="49" charset="0"/>
              </a:rPr>
              <a:t>txtCustSurname.Text</a:t>
            </a:r>
            <a:r>
              <a:rPr lang="en-ZA" dirty="0">
                <a:solidFill>
                  <a:srgbClr val="000000"/>
                </a:solidFill>
                <a:latin typeface="Consolas" panose="020B0609020204030204" pitchFamily="49" charset="0"/>
              </a:rPr>
              <a:t>);</a:t>
            </a:r>
          </a:p>
          <a:p>
            <a:r>
              <a:rPr lang="en-ZA" dirty="0">
                <a:solidFill>
                  <a:srgbClr val="000000"/>
                </a:solidFill>
                <a:latin typeface="Consolas" panose="020B0609020204030204" pitchFamily="49" charset="0"/>
              </a:rPr>
              <a:t>        }</a:t>
            </a:r>
            <a:endParaRPr lang="en-ZA" dirty="0"/>
          </a:p>
        </p:txBody>
      </p:sp>
      <p:pic>
        <p:nvPicPr>
          <p:cNvPr id="9" name="Picture 8">
            <a:extLst>
              <a:ext uri="{FF2B5EF4-FFF2-40B4-BE49-F238E27FC236}">
                <a16:creationId xmlns:a16="http://schemas.microsoft.com/office/drawing/2014/main" id="{9BB37550-D7D6-49D6-9118-D7C366467E13}"/>
              </a:ext>
            </a:extLst>
          </p:cNvPr>
          <p:cNvPicPr>
            <a:picLocks noChangeAspect="1"/>
          </p:cNvPicPr>
          <p:nvPr/>
        </p:nvPicPr>
        <p:blipFill>
          <a:blip r:embed="rId2"/>
          <a:stretch>
            <a:fillRect/>
          </a:stretch>
        </p:blipFill>
        <p:spPr>
          <a:xfrm>
            <a:off x="1984981" y="1651390"/>
            <a:ext cx="5837426" cy="3071126"/>
          </a:xfrm>
          <a:prstGeom prst="rect">
            <a:avLst/>
          </a:prstGeom>
        </p:spPr>
      </p:pic>
    </p:spTree>
    <p:extLst>
      <p:ext uri="{BB962C8B-B14F-4D97-AF65-F5344CB8AC3E}">
        <p14:creationId xmlns:p14="http://schemas.microsoft.com/office/powerpoint/2010/main" val="28166296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Final App</a:t>
            </a:r>
          </a:p>
        </p:txBody>
      </p:sp>
      <p:sp>
        <p:nvSpPr>
          <p:cNvPr id="5" name="Content Placeholder 4">
            <a:extLst>
              <a:ext uri="{FF2B5EF4-FFF2-40B4-BE49-F238E27FC236}">
                <a16:creationId xmlns:a16="http://schemas.microsoft.com/office/drawing/2014/main" id="{95B887F3-7481-4078-AC3D-C37AF3AD576F}"/>
              </a:ext>
            </a:extLst>
          </p:cNvPr>
          <p:cNvSpPr>
            <a:spLocks noGrp="1"/>
          </p:cNvSpPr>
          <p:nvPr>
            <p:ph idx="1"/>
          </p:nvPr>
        </p:nvSpPr>
        <p:spPr>
          <a:xfrm>
            <a:off x="959867" y="969972"/>
            <a:ext cx="11073839" cy="975370"/>
          </a:xfrm>
        </p:spPr>
        <p:txBody>
          <a:bodyPr/>
          <a:lstStyle/>
          <a:p>
            <a:endParaRPr lang="en-ZA" dirty="0"/>
          </a:p>
        </p:txBody>
      </p:sp>
      <p:pic>
        <p:nvPicPr>
          <p:cNvPr id="6" name="Picture 5">
            <a:extLst>
              <a:ext uri="{FF2B5EF4-FFF2-40B4-BE49-F238E27FC236}">
                <a16:creationId xmlns:a16="http://schemas.microsoft.com/office/drawing/2014/main" id="{B2EC5CC4-CF45-40E3-866D-C9F63E2CBF10}"/>
              </a:ext>
            </a:extLst>
          </p:cNvPr>
          <p:cNvPicPr>
            <a:picLocks noChangeAspect="1"/>
          </p:cNvPicPr>
          <p:nvPr/>
        </p:nvPicPr>
        <p:blipFill>
          <a:blip r:embed="rId2"/>
          <a:stretch>
            <a:fillRect/>
          </a:stretch>
        </p:blipFill>
        <p:spPr>
          <a:xfrm>
            <a:off x="587474" y="1685369"/>
            <a:ext cx="11446232" cy="5082980"/>
          </a:xfrm>
          <a:prstGeom prst="rect">
            <a:avLst/>
          </a:prstGeom>
        </p:spPr>
      </p:pic>
    </p:spTree>
    <p:extLst>
      <p:ext uri="{BB962C8B-B14F-4D97-AF65-F5344CB8AC3E}">
        <p14:creationId xmlns:p14="http://schemas.microsoft.com/office/powerpoint/2010/main" val="26768086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Transferring the selected Name to Make Booking Section</a:t>
            </a:r>
          </a:p>
        </p:txBody>
      </p:sp>
      <p:sp>
        <p:nvSpPr>
          <p:cNvPr id="8" name="Content Placeholder 7">
            <a:extLst>
              <a:ext uri="{FF2B5EF4-FFF2-40B4-BE49-F238E27FC236}">
                <a16:creationId xmlns:a16="http://schemas.microsoft.com/office/drawing/2014/main" id="{6FD33412-AED5-4504-9370-E786E19A4B0E}"/>
              </a:ext>
            </a:extLst>
          </p:cNvPr>
          <p:cNvSpPr>
            <a:spLocks noGrp="1"/>
          </p:cNvSpPr>
          <p:nvPr>
            <p:ph idx="1"/>
          </p:nvPr>
        </p:nvSpPr>
        <p:spPr>
          <a:xfrm>
            <a:off x="959867" y="969971"/>
            <a:ext cx="11073839" cy="966405"/>
          </a:xfrm>
        </p:spPr>
        <p:txBody>
          <a:bodyPr/>
          <a:lstStyle/>
          <a:p>
            <a:r>
              <a:rPr lang="en-ZA" dirty="0"/>
              <a:t>This is the easy part!</a:t>
            </a:r>
          </a:p>
        </p:txBody>
      </p:sp>
      <p:sp>
        <p:nvSpPr>
          <p:cNvPr id="9" name="Rectangle 8">
            <a:extLst>
              <a:ext uri="{FF2B5EF4-FFF2-40B4-BE49-F238E27FC236}">
                <a16:creationId xmlns:a16="http://schemas.microsoft.com/office/drawing/2014/main" id="{5A820B79-6B61-4BDA-8462-021ADDB5C291}"/>
              </a:ext>
            </a:extLst>
          </p:cNvPr>
          <p:cNvSpPr/>
          <p:nvPr/>
        </p:nvSpPr>
        <p:spPr>
          <a:xfrm>
            <a:off x="865094" y="3747770"/>
            <a:ext cx="10461811" cy="2031325"/>
          </a:xfrm>
          <a:prstGeom prst="rect">
            <a:avLst/>
          </a:prstGeom>
          <a:solidFill>
            <a:schemeClr val="accent5">
              <a:lumMod val="40000"/>
              <a:lumOff val="60000"/>
            </a:schemeClr>
          </a:solidFill>
        </p:spPr>
        <p:txBody>
          <a:bodyPr wrap="square">
            <a:spAutoFit/>
          </a:bodyPr>
          <a:lstStyle/>
          <a:p>
            <a:r>
              <a:rPr lang="en-ZA" dirty="0">
                <a:solidFill>
                  <a:srgbClr val="0000FF"/>
                </a:solidFill>
                <a:latin typeface="Consolas" panose="020B0609020204030204" pitchFamily="49" charset="0"/>
              </a:rPr>
              <a:t>private</a:t>
            </a:r>
            <a:r>
              <a:rPr lang="en-ZA" dirty="0">
                <a:solidFill>
                  <a:srgbClr val="000000"/>
                </a:solidFill>
                <a:latin typeface="Consolas" panose="020B0609020204030204" pitchFamily="49" charset="0"/>
              </a:rPr>
              <a:t> </a:t>
            </a:r>
            <a:r>
              <a:rPr lang="en-ZA" dirty="0">
                <a:solidFill>
                  <a:srgbClr val="0000FF"/>
                </a:solidFill>
                <a:latin typeface="Consolas" panose="020B0609020204030204" pitchFamily="49" charset="0"/>
              </a:rPr>
              <a:t>void</a:t>
            </a:r>
            <a:r>
              <a:rPr lang="en-ZA" dirty="0">
                <a:solidFill>
                  <a:srgbClr val="000000"/>
                </a:solidFill>
                <a:latin typeface="Consolas" panose="020B0609020204030204" pitchFamily="49" charset="0"/>
              </a:rPr>
              <a:t> </a:t>
            </a:r>
            <a:r>
              <a:rPr lang="en-ZA" dirty="0" err="1">
                <a:solidFill>
                  <a:srgbClr val="000000"/>
                </a:solidFill>
                <a:latin typeface="Consolas" panose="020B0609020204030204" pitchFamily="49" charset="0"/>
              </a:rPr>
              <a:t>dgvCustomer_RowHeaderMouseDoubleClick</a:t>
            </a:r>
            <a:r>
              <a:rPr lang="en-ZA" dirty="0">
                <a:solidFill>
                  <a:srgbClr val="000000"/>
                </a:solidFill>
                <a:latin typeface="Consolas" panose="020B0609020204030204" pitchFamily="49" charset="0"/>
              </a:rPr>
              <a:t>(</a:t>
            </a:r>
            <a:r>
              <a:rPr lang="en-ZA" dirty="0">
                <a:solidFill>
                  <a:srgbClr val="0000FF"/>
                </a:solidFill>
                <a:latin typeface="Consolas" panose="020B0609020204030204" pitchFamily="49" charset="0"/>
              </a:rPr>
              <a:t>object</a:t>
            </a:r>
            <a:r>
              <a:rPr lang="en-ZA" dirty="0">
                <a:solidFill>
                  <a:srgbClr val="000000"/>
                </a:solidFill>
                <a:latin typeface="Consolas" panose="020B0609020204030204" pitchFamily="49" charset="0"/>
              </a:rPr>
              <a:t> sender, </a:t>
            </a:r>
            <a:r>
              <a:rPr lang="en-ZA" dirty="0" err="1">
                <a:solidFill>
                  <a:srgbClr val="000000"/>
                </a:solidFill>
                <a:latin typeface="Consolas" panose="020B0609020204030204" pitchFamily="49" charset="0"/>
              </a:rPr>
              <a:t>DataGridViewCellMouseEventArgs</a:t>
            </a:r>
            <a:r>
              <a:rPr lang="en-ZA" dirty="0">
                <a:solidFill>
                  <a:srgbClr val="000000"/>
                </a:solidFill>
                <a:latin typeface="Consolas" panose="020B0609020204030204" pitchFamily="49" charset="0"/>
              </a:rPr>
              <a:t> e)</a:t>
            </a:r>
          </a:p>
          <a:p>
            <a:r>
              <a:rPr lang="en-ZA" dirty="0">
                <a:solidFill>
                  <a:srgbClr val="000000"/>
                </a:solidFill>
                <a:latin typeface="Consolas" panose="020B0609020204030204" pitchFamily="49" charset="0"/>
              </a:rPr>
              <a:t>        {</a:t>
            </a:r>
          </a:p>
          <a:p>
            <a:r>
              <a:rPr lang="en-ZA" dirty="0">
                <a:solidFill>
                  <a:srgbClr val="000000"/>
                </a:solidFill>
                <a:latin typeface="Consolas" panose="020B0609020204030204" pitchFamily="49" charset="0"/>
              </a:rPr>
              <a:t>            </a:t>
            </a:r>
            <a:r>
              <a:rPr lang="en-ZA" dirty="0" err="1">
                <a:solidFill>
                  <a:srgbClr val="000000"/>
                </a:solidFill>
                <a:latin typeface="Consolas" panose="020B0609020204030204" pitchFamily="49" charset="0"/>
              </a:rPr>
              <a:t>lblFirstName.Text</a:t>
            </a:r>
            <a:r>
              <a:rPr lang="en-ZA" dirty="0">
                <a:solidFill>
                  <a:srgbClr val="000000"/>
                </a:solidFill>
                <a:latin typeface="Consolas" panose="020B0609020204030204" pitchFamily="49" charset="0"/>
              </a:rPr>
              <a:t> = </a:t>
            </a:r>
            <a:r>
              <a:rPr lang="en-ZA" dirty="0" err="1">
                <a:solidFill>
                  <a:srgbClr val="000000"/>
                </a:solidFill>
                <a:latin typeface="Consolas" panose="020B0609020204030204" pitchFamily="49" charset="0"/>
              </a:rPr>
              <a:t>dgvCustomer.CurrentRow.Cells</a:t>
            </a:r>
            <a:r>
              <a:rPr lang="en-ZA" dirty="0">
                <a:solidFill>
                  <a:srgbClr val="000000"/>
                </a:solidFill>
                <a:latin typeface="Consolas" panose="020B0609020204030204" pitchFamily="49" charset="0"/>
              </a:rPr>
              <a:t>[1].</a:t>
            </a:r>
            <a:r>
              <a:rPr lang="en-ZA" dirty="0" err="1">
                <a:solidFill>
                  <a:srgbClr val="000000"/>
                </a:solidFill>
                <a:latin typeface="Consolas" panose="020B0609020204030204" pitchFamily="49" charset="0"/>
              </a:rPr>
              <a:t>Value.ToString</a:t>
            </a:r>
            <a:r>
              <a:rPr lang="en-ZA" dirty="0">
                <a:solidFill>
                  <a:srgbClr val="000000"/>
                </a:solidFill>
                <a:latin typeface="Consolas" panose="020B0609020204030204" pitchFamily="49" charset="0"/>
              </a:rPr>
              <a:t>();</a:t>
            </a:r>
          </a:p>
          <a:p>
            <a:r>
              <a:rPr lang="en-ZA" dirty="0">
                <a:solidFill>
                  <a:srgbClr val="000000"/>
                </a:solidFill>
                <a:latin typeface="Consolas" panose="020B0609020204030204" pitchFamily="49" charset="0"/>
              </a:rPr>
              <a:t>            </a:t>
            </a:r>
            <a:r>
              <a:rPr lang="en-ZA" dirty="0" err="1">
                <a:solidFill>
                  <a:srgbClr val="000000"/>
                </a:solidFill>
                <a:latin typeface="Consolas" panose="020B0609020204030204" pitchFamily="49" charset="0"/>
              </a:rPr>
              <a:t>lblSurname.Text</a:t>
            </a:r>
            <a:r>
              <a:rPr lang="en-ZA" dirty="0">
                <a:solidFill>
                  <a:srgbClr val="000000"/>
                </a:solidFill>
                <a:latin typeface="Consolas" panose="020B0609020204030204" pitchFamily="49" charset="0"/>
              </a:rPr>
              <a:t> = </a:t>
            </a:r>
            <a:r>
              <a:rPr lang="en-ZA" dirty="0" err="1">
                <a:solidFill>
                  <a:srgbClr val="000000"/>
                </a:solidFill>
                <a:latin typeface="Consolas" panose="020B0609020204030204" pitchFamily="49" charset="0"/>
              </a:rPr>
              <a:t>dgvCustomer.CurrentRow.Cells</a:t>
            </a:r>
            <a:r>
              <a:rPr lang="en-ZA" dirty="0">
                <a:solidFill>
                  <a:srgbClr val="000000"/>
                </a:solidFill>
                <a:latin typeface="Consolas" panose="020B0609020204030204" pitchFamily="49" charset="0"/>
              </a:rPr>
              <a:t>[2].</a:t>
            </a:r>
            <a:r>
              <a:rPr lang="en-ZA" dirty="0" err="1">
                <a:solidFill>
                  <a:srgbClr val="000000"/>
                </a:solidFill>
                <a:latin typeface="Consolas" panose="020B0609020204030204" pitchFamily="49" charset="0"/>
              </a:rPr>
              <a:t>Value.ToString</a:t>
            </a:r>
            <a:r>
              <a:rPr lang="en-ZA" dirty="0">
                <a:solidFill>
                  <a:srgbClr val="000000"/>
                </a:solidFill>
                <a:latin typeface="Consolas" panose="020B0609020204030204" pitchFamily="49" charset="0"/>
              </a:rPr>
              <a:t>();</a:t>
            </a:r>
          </a:p>
          <a:p>
            <a:r>
              <a:rPr lang="en-ZA" dirty="0">
                <a:solidFill>
                  <a:srgbClr val="000000"/>
                </a:solidFill>
                <a:latin typeface="Consolas" panose="020B0609020204030204" pitchFamily="49" charset="0"/>
              </a:rPr>
              <a:t>            </a:t>
            </a:r>
            <a:r>
              <a:rPr lang="en-ZA" dirty="0" err="1">
                <a:solidFill>
                  <a:srgbClr val="000000"/>
                </a:solidFill>
                <a:latin typeface="Consolas" panose="020B0609020204030204" pitchFamily="49" charset="0"/>
              </a:rPr>
              <a:t>lblCustID.Text</a:t>
            </a:r>
            <a:r>
              <a:rPr lang="en-ZA" dirty="0">
                <a:solidFill>
                  <a:srgbClr val="000000"/>
                </a:solidFill>
                <a:latin typeface="Consolas" panose="020B0609020204030204" pitchFamily="49" charset="0"/>
              </a:rPr>
              <a:t>= </a:t>
            </a:r>
            <a:r>
              <a:rPr lang="en-ZA" dirty="0" err="1">
                <a:solidFill>
                  <a:srgbClr val="000000"/>
                </a:solidFill>
                <a:latin typeface="Consolas" panose="020B0609020204030204" pitchFamily="49" charset="0"/>
              </a:rPr>
              <a:t>dgvCustomer.CurrentRow.Cells</a:t>
            </a:r>
            <a:r>
              <a:rPr lang="en-ZA" dirty="0">
                <a:solidFill>
                  <a:srgbClr val="000000"/>
                </a:solidFill>
                <a:latin typeface="Consolas" panose="020B0609020204030204" pitchFamily="49" charset="0"/>
              </a:rPr>
              <a:t>[0].</a:t>
            </a:r>
            <a:r>
              <a:rPr lang="en-ZA" dirty="0" err="1">
                <a:solidFill>
                  <a:srgbClr val="000000"/>
                </a:solidFill>
                <a:latin typeface="Consolas" panose="020B0609020204030204" pitchFamily="49" charset="0"/>
              </a:rPr>
              <a:t>Value.ToString</a:t>
            </a:r>
            <a:r>
              <a:rPr lang="en-ZA" dirty="0">
                <a:solidFill>
                  <a:srgbClr val="000000"/>
                </a:solidFill>
                <a:latin typeface="Consolas" panose="020B0609020204030204" pitchFamily="49" charset="0"/>
              </a:rPr>
              <a:t>();</a:t>
            </a:r>
          </a:p>
          <a:p>
            <a:r>
              <a:rPr lang="en-ZA" dirty="0">
                <a:solidFill>
                  <a:srgbClr val="000000"/>
                </a:solidFill>
                <a:latin typeface="Consolas" panose="020B0609020204030204" pitchFamily="49" charset="0"/>
              </a:rPr>
              <a:t>        }</a:t>
            </a:r>
            <a:endParaRPr lang="en-ZA" dirty="0"/>
          </a:p>
        </p:txBody>
      </p:sp>
      <p:grpSp>
        <p:nvGrpSpPr>
          <p:cNvPr id="13" name="Group 12">
            <a:extLst>
              <a:ext uri="{FF2B5EF4-FFF2-40B4-BE49-F238E27FC236}">
                <a16:creationId xmlns:a16="http://schemas.microsoft.com/office/drawing/2014/main" id="{FD84FFDF-267E-44FA-8EF1-EC13E78FE62E}"/>
              </a:ext>
            </a:extLst>
          </p:cNvPr>
          <p:cNvGrpSpPr/>
          <p:nvPr/>
        </p:nvGrpSpPr>
        <p:grpSpPr>
          <a:xfrm>
            <a:off x="5087038" y="543477"/>
            <a:ext cx="6145095" cy="2885523"/>
            <a:chOff x="5087038" y="543477"/>
            <a:chExt cx="6145095" cy="2885523"/>
          </a:xfrm>
        </p:grpSpPr>
        <p:pic>
          <p:nvPicPr>
            <p:cNvPr id="10" name="Picture 9">
              <a:extLst>
                <a:ext uri="{FF2B5EF4-FFF2-40B4-BE49-F238E27FC236}">
                  <a16:creationId xmlns:a16="http://schemas.microsoft.com/office/drawing/2014/main" id="{27738943-5DAC-4B79-A3E4-7F55C594F679}"/>
                </a:ext>
              </a:extLst>
            </p:cNvPr>
            <p:cNvPicPr>
              <a:picLocks noChangeAspect="1"/>
            </p:cNvPicPr>
            <p:nvPr/>
          </p:nvPicPr>
          <p:blipFill>
            <a:blip r:embed="rId2"/>
            <a:stretch>
              <a:fillRect/>
            </a:stretch>
          </p:blipFill>
          <p:spPr>
            <a:xfrm>
              <a:off x="5087038" y="543477"/>
              <a:ext cx="6145095" cy="2885523"/>
            </a:xfrm>
            <a:prstGeom prst="rect">
              <a:avLst/>
            </a:prstGeom>
          </p:spPr>
        </p:pic>
        <p:cxnSp>
          <p:nvCxnSpPr>
            <p:cNvPr id="12" name="Straight Arrow Connector 11">
              <a:extLst>
                <a:ext uri="{FF2B5EF4-FFF2-40B4-BE49-F238E27FC236}">
                  <a16:creationId xmlns:a16="http://schemas.microsoft.com/office/drawing/2014/main" id="{595F2851-4D05-4893-8DFA-C434B91CCDA1}"/>
                </a:ext>
              </a:extLst>
            </p:cNvPr>
            <p:cNvCxnSpPr/>
            <p:nvPr/>
          </p:nvCxnSpPr>
          <p:spPr>
            <a:xfrm flipV="1">
              <a:off x="8668871" y="2501153"/>
              <a:ext cx="564776" cy="3227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007776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To Make a Booking</a:t>
            </a:r>
          </a:p>
        </p:txBody>
      </p:sp>
      <p:sp>
        <p:nvSpPr>
          <p:cNvPr id="3" name="Content Placeholder 2"/>
          <p:cNvSpPr>
            <a:spLocks noGrp="1"/>
          </p:cNvSpPr>
          <p:nvPr>
            <p:ph idx="1"/>
          </p:nvPr>
        </p:nvSpPr>
        <p:spPr>
          <a:xfrm>
            <a:off x="959867" y="969971"/>
            <a:ext cx="11073839" cy="2064777"/>
          </a:xfrm>
        </p:spPr>
        <p:txBody>
          <a:bodyPr/>
          <a:lstStyle/>
          <a:p>
            <a:r>
              <a:rPr lang="en-US" dirty="0"/>
              <a:t>We have the customer details</a:t>
            </a:r>
          </a:p>
          <a:p>
            <a:r>
              <a:rPr lang="en-US" dirty="0"/>
              <a:t>All that is required now is to provide an interface that presents all the AVAILABLE timeslots for booking</a:t>
            </a:r>
          </a:p>
          <a:p>
            <a:r>
              <a:rPr lang="en-US" dirty="0"/>
              <a:t>This is done by making use of a </a:t>
            </a:r>
            <a:r>
              <a:rPr lang="en-US" dirty="0" err="1"/>
              <a:t>DropDown</a:t>
            </a:r>
            <a:r>
              <a:rPr lang="en-US" dirty="0"/>
              <a:t> Control that is populated with the available timeslots</a:t>
            </a:r>
          </a:p>
          <a:p>
            <a:endParaRPr lang="en-US" dirty="0"/>
          </a:p>
        </p:txBody>
      </p:sp>
      <p:grpSp>
        <p:nvGrpSpPr>
          <p:cNvPr id="13" name="Group 12">
            <a:extLst>
              <a:ext uri="{FF2B5EF4-FFF2-40B4-BE49-F238E27FC236}">
                <a16:creationId xmlns:a16="http://schemas.microsoft.com/office/drawing/2014/main" id="{AB517B5D-37A2-4D97-954C-81335A4A4588}"/>
              </a:ext>
            </a:extLst>
          </p:cNvPr>
          <p:cNvGrpSpPr/>
          <p:nvPr/>
        </p:nvGrpSpPr>
        <p:grpSpPr>
          <a:xfrm>
            <a:off x="0" y="2572870"/>
            <a:ext cx="7685824" cy="2841813"/>
            <a:chOff x="158294" y="2492188"/>
            <a:chExt cx="7685824" cy="2841813"/>
          </a:xfrm>
        </p:grpSpPr>
        <p:pic>
          <p:nvPicPr>
            <p:cNvPr id="8" name="Picture 7">
              <a:extLst>
                <a:ext uri="{FF2B5EF4-FFF2-40B4-BE49-F238E27FC236}">
                  <a16:creationId xmlns:a16="http://schemas.microsoft.com/office/drawing/2014/main" id="{46EA9B28-4A39-4256-BE64-E4E71A8DF161}"/>
                </a:ext>
              </a:extLst>
            </p:cNvPr>
            <p:cNvPicPr>
              <a:picLocks noChangeAspect="1"/>
            </p:cNvPicPr>
            <p:nvPr/>
          </p:nvPicPr>
          <p:blipFill rotWithShape="1">
            <a:blip r:embed="rId2"/>
            <a:srcRect r="11865" b="7330"/>
            <a:stretch/>
          </p:blipFill>
          <p:spPr>
            <a:xfrm>
              <a:off x="158294" y="2695151"/>
              <a:ext cx="4461695" cy="2638850"/>
            </a:xfrm>
            <a:prstGeom prst="rect">
              <a:avLst/>
            </a:prstGeom>
          </p:spPr>
        </p:pic>
        <p:cxnSp>
          <p:nvCxnSpPr>
            <p:cNvPr id="10" name="Straight Arrow Connector 9">
              <a:extLst>
                <a:ext uri="{FF2B5EF4-FFF2-40B4-BE49-F238E27FC236}">
                  <a16:creationId xmlns:a16="http://schemas.microsoft.com/office/drawing/2014/main" id="{5681CCFB-5C4F-46F1-9668-37D492976298}"/>
                </a:ext>
              </a:extLst>
            </p:cNvPr>
            <p:cNvCxnSpPr/>
            <p:nvPr/>
          </p:nvCxnSpPr>
          <p:spPr>
            <a:xfrm flipH="1">
              <a:off x="3702424" y="2492188"/>
              <a:ext cx="4141694" cy="20080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84935BF0-1AE5-43F6-B62A-48EB4C453F4E}"/>
              </a:ext>
            </a:extLst>
          </p:cNvPr>
          <p:cNvGrpSpPr/>
          <p:nvPr/>
        </p:nvGrpSpPr>
        <p:grpSpPr>
          <a:xfrm>
            <a:off x="6831105" y="3123990"/>
            <a:ext cx="5095024" cy="3377514"/>
            <a:chOff x="6831105" y="3123990"/>
            <a:chExt cx="5095024" cy="3377514"/>
          </a:xfrm>
        </p:grpSpPr>
        <p:pic>
          <p:nvPicPr>
            <p:cNvPr id="14" name="Picture 13">
              <a:extLst>
                <a:ext uri="{FF2B5EF4-FFF2-40B4-BE49-F238E27FC236}">
                  <a16:creationId xmlns:a16="http://schemas.microsoft.com/office/drawing/2014/main" id="{A28E7509-D152-4752-B069-1615B709C5D4}"/>
                </a:ext>
              </a:extLst>
            </p:cNvPr>
            <p:cNvPicPr>
              <a:picLocks noChangeAspect="1"/>
            </p:cNvPicPr>
            <p:nvPr/>
          </p:nvPicPr>
          <p:blipFill rotWithShape="1">
            <a:blip r:embed="rId3"/>
            <a:srcRect b="7924"/>
            <a:stretch/>
          </p:blipFill>
          <p:spPr>
            <a:xfrm>
              <a:off x="6831105" y="3123990"/>
              <a:ext cx="5095024" cy="2638850"/>
            </a:xfrm>
            <a:prstGeom prst="rect">
              <a:avLst/>
            </a:prstGeom>
          </p:spPr>
        </p:pic>
        <p:sp>
          <p:nvSpPr>
            <p:cNvPr id="15" name="TextBox 14">
              <a:extLst>
                <a:ext uri="{FF2B5EF4-FFF2-40B4-BE49-F238E27FC236}">
                  <a16:creationId xmlns:a16="http://schemas.microsoft.com/office/drawing/2014/main" id="{A39BE17D-1ECE-488D-B10A-E0BF1EC94441}"/>
                </a:ext>
              </a:extLst>
            </p:cNvPr>
            <p:cNvSpPr txBox="1"/>
            <p:nvPr/>
          </p:nvSpPr>
          <p:spPr>
            <a:xfrm>
              <a:off x="7299025" y="5762840"/>
              <a:ext cx="4294094" cy="738664"/>
            </a:xfrm>
            <a:prstGeom prst="rect">
              <a:avLst/>
            </a:prstGeom>
            <a:noFill/>
          </p:spPr>
          <p:txBody>
            <a:bodyPr wrap="square" rtlCol="0">
              <a:spAutoFit/>
            </a:bodyPr>
            <a:lstStyle/>
            <a:p>
              <a:r>
                <a:rPr lang="en-ZA" sz="1400" dirty="0"/>
                <a:t>Once the booking is confirmed….notice the timeslot for the “confirmed” booking is not available for booking for the “current” day</a:t>
              </a:r>
            </a:p>
          </p:txBody>
        </p:sp>
        <p:cxnSp>
          <p:nvCxnSpPr>
            <p:cNvPr id="17" name="Straight Arrow Connector 16">
              <a:extLst>
                <a:ext uri="{FF2B5EF4-FFF2-40B4-BE49-F238E27FC236}">
                  <a16:creationId xmlns:a16="http://schemas.microsoft.com/office/drawing/2014/main" id="{8A7D8953-F9E8-4C09-83A5-A4113D0601E2}"/>
                </a:ext>
              </a:extLst>
            </p:cNvPr>
            <p:cNvCxnSpPr/>
            <p:nvPr/>
          </p:nvCxnSpPr>
          <p:spPr>
            <a:xfrm flipH="1" flipV="1">
              <a:off x="10139082" y="4930588"/>
              <a:ext cx="1165412" cy="8322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794971C-A912-4A9D-B0C7-608DFB9B9B65}"/>
                </a:ext>
              </a:extLst>
            </p:cNvPr>
            <p:cNvCxnSpPr/>
            <p:nvPr/>
          </p:nvCxnSpPr>
          <p:spPr>
            <a:xfrm flipH="1" flipV="1">
              <a:off x="9968753" y="3808589"/>
              <a:ext cx="1344706" cy="19074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47237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E69B7-9720-4696-A0AF-1B3C4CA97E39}"/>
              </a:ext>
            </a:extLst>
          </p:cNvPr>
          <p:cNvSpPr>
            <a:spLocks noGrp="1"/>
          </p:cNvSpPr>
          <p:nvPr>
            <p:ph type="title"/>
          </p:nvPr>
        </p:nvSpPr>
        <p:spPr/>
        <p:txBody>
          <a:bodyPr>
            <a:normAutofit fontScale="90000"/>
          </a:bodyPr>
          <a:lstStyle/>
          <a:p>
            <a:r>
              <a:rPr lang="en-ZA" dirty="0"/>
              <a:t>The Booking Code</a:t>
            </a:r>
          </a:p>
        </p:txBody>
      </p:sp>
      <p:sp>
        <p:nvSpPr>
          <p:cNvPr id="3" name="Content Placeholder 2">
            <a:extLst>
              <a:ext uri="{FF2B5EF4-FFF2-40B4-BE49-F238E27FC236}">
                <a16:creationId xmlns:a16="http://schemas.microsoft.com/office/drawing/2014/main" id="{C17B177E-A198-49C2-9919-180DEC4C4B79}"/>
              </a:ext>
            </a:extLst>
          </p:cNvPr>
          <p:cNvSpPr>
            <a:spLocks noGrp="1"/>
          </p:cNvSpPr>
          <p:nvPr>
            <p:ph idx="1"/>
          </p:nvPr>
        </p:nvSpPr>
        <p:spPr>
          <a:xfrm>
            <a:off x="959867" y="969972"/>
            <a:ext cx="11073839" cy="518170"/>
          </a:xfrm>
        </p:spPr>
        <p:txBody>
          <a:bodyPr/>
          <a:lstStyle/>
          <a:p>
            <a:r>
              <a:rPr lang="en-ZA" dirty="0"/>
              <a:t>Ok, so try and make sense of this!!!</a:t>
            </a:r>
          </a:p>
        </p:txBody>
      </p:sp>
      <p:sp>
        <p:nvSpPr>
          <p:cNvPr id="4" name="Rectangle 3">
            <a:extLst>
              <a:ext uri="{FF2B5EF4-FFF2-40B4-BE49-F238E27FC236}">
                <a16:creationId xmlns:a16="http://schemas.microsoft.com/office/drawing/2014/main" id="{139396EB-F5E1-4BA6-8ED0-58D8A895A704}"/>
              </a:ext>
            </a:extLst>
          </p:cNvPr>
          <p:cNvSpPr/>
          <p:nvPr/>
        </p:nvSpPr>
        <p:spPr>
          <a:xfrm>
            <a:off x="798502" y="1463933"/>
            <a:ext cx="11603400" cy="5201424"/>
          </a:xfrm>
          <a:prstGeom prst="rect">
            <a:avLst/>
          </a:prstGeom>
          <a:solidFill>
            <a:schemeClr val="accent5">
              <a:lumMod val="40000"/>
              <a:lumOff val="60000"/>
            </a:schemeClr>
          </a:solidFill>
        </p:spPr>
        <p:txBody>
          <a:bodyPr wrap="square">
            <a:spAutoFit/>
          </a:bodyPr>
          <a:lstStyle/>
          <a:p>
            <a:r>
              <a:rPr lang="en-ZA" dirty="0">
                <a:solidFill>
                  <a:srgbClr val="0000FF"/>
                </a:solidFill>
                <a:latin typeface="Consolas" panose="020B0609020204030204" pitchFamily="49" charset="0"/>
              </a:rPr>
              <a:t>private</a:t>
            </a:r>
            <a:r>
              <a:rPr lang="en-ZA" dirty="0">
                <a:solidFill>
                  <a:srgbClr val="000000"/>
                </a:solidFill>
                <a:latin typeface="Consolas" panose="020B0609020204030204" pitchFamily="49" charset="0"/>
              </a:rPr>
              <a:t> </a:t>
            </a:r>
            <a:r>
              <a:rPr lang="en-ZA" dirty="0">
                <a:solidFill>
                  <a:srgbClr val="0000FF"/>
                </a:solidFill>
                <a:latin typeface="Consolas" panose="020B0609020204030204" pitchFamily="49" charset="0"/>
              </a:rPr>
              <a:t>void</a:t>
            </a:r>
            <a:r>
              <a:rPr lang="en-ZA" dirty="0">
                <a:solidFill>
                  <a:srgbClr val="000000"/>
                </a:solidFill>
                <a:latin typeface="Consolas" panose="020B0609020204030204" pitchFamily="49" charset="0"/>
              </a:rPr>
              <a:t> </a:t>
            </a:r>
            <a:r>
              <a:rPr lang="en-ZA" dirty="0" err="1">
                <a:solidFill>
                  <a:srgbClr val="000000"/>
                </a:solidFill>
                <a:latin typeface="Consolas" panose="020B0609020204030204" pitchFamily="49" charset="0"/>
              </a:rPr>
              <a:t>btnConfirm_Click</a:t>
            </a:r>
            <a:r>
              <a:rPr lang="en-ZA" dirty="0">
                <a:solidFill>
                  <a:srgbClr val="000000"/>
                </a:solidFill>
                <a:latin typeface="Consolas" panose="020B0609020204030204" pitchFamily="49" charset="0"/>
              </a:rPr>
              <a:t>(</a:t>
            </a:r>
            <a:r>
              <a:rPr lang="en-ZA" dirty="0">
                <a:solidFill>
                  <a:srgbClr val="0000FF"/>
                </a:solidFill>
                <a:latin typeface="Consolas" panose="020B0609020204030204" pitchFamily="49" charset="0"/>
              </a:rPr>
              <a:t>object</a:t>
            </a:r>
            <a:r>
              <a:rPr lang="en-ZA" dirty="0">
                <a:solidFill>
                  <a:srgbClr val="000000"/>
                </a:solidFill>
                <a:latin typeface="Consolas" panose="020B0609020204030204" pitchFamily="49" charset="0"/>
              </a:rPr>
              <a:t> sender, </a:t>
            </a:r>
            <a:r>
              <a:rPr lang="en-ZA" dirty="0" err="1">
                <a:solidFill>
                  <a:srgbClr val="000000"/>
                </a:solidFill>
                <a:latin typeface="Consolas" panose="020B0609020204030204" pitchFamily="49" charset="0"/>
              </a:rPr>
              <a:t>EventArgs</a:t>
            </a:r>
            <a:r>
              <a:rPr lang="en-ZA" dirty="0">
                <a:solidFill>
                  <a:srgbClr val="000000"/>
                </a:solidFill>
                <a:latin typeface="Consolas" panose="020B0609020204030204" pitchFamily="49" charset="0"/>
              </a:rPr>
              <a:t> e)</a:t>
            </a:r>
          </a:p>
          <a:p>
            <a:r>
              <a:rPr lang="en-ZA"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if</a:t>
            </a:r>
            <a:r>
              <a:rPr lang="en-US" dirty="0">
                <a:solidFill>
                  <a:srgbClr val="000000"/>
                </a:solidFill>
                <a:latin typeface="Consolas" panose="020B0609020204030204" pitchFamily="49" charset="0"/>
              </a:rPr>
              <a:t> (monthCalendar1.SelectionRange.Start &lt; </a:t>
            </a:r>
            <a:r>
              <a:rPr lang="en-US" dirty="0" err="1">
                <a:solidFill>
                  <a:srgbClr val="000000"/>
                </a:solidFill>
                <a:latin typeface="Consolas" panose="020B0609020204030204" pitchFamily="49" charset="0"/>
              </a:rPr>
              <a:t>DateTime.Today</a:t>
            </a:r>
            <a:r>
              <a:rPr lang="en-US" dirty="0">
                <a:solidFill>
                  <a:srgbClr val="000000"/>
                </a:solidFill>
                <a:latin typeface="Consolas" panose="020B0609020204030204" pitchFamily="49" charset="0"/>
              </a:rPr>
              <a:t>)</a:t>
            </a:r>
          </a:p>
          <a:p>
            <a:r>
              <a:rPr lang="en-ZA"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MessageBox.Show</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"Cannot book prior to today"</a:t>
            </a:r>
            <a:r>
              <a:rPr lang="en-US" dirty="0">
                <a:solidFill>
                  <a:srgbClr val="000000"/>
                </a:solidFill>
                <a:latin typeface="Consolas" panose="020B0609020204030204" pitchFamily="49" charset="0"/>
              </a:rPr>
              <a:t>);</a:t>
            </a:r>
          </a:p>
          <a:p>
            <a:r>
              <a:rPr lang="en-ZA" dirty="0">
                <a:solidFill>
                  <a:srgbClr val="000000"/>
                </a:solidFill>
                <a:latin typeface="Consolas" panose="020B0609020204030204" pitchFamily="49" charset="0"/>
              </a:rPr>
              <a:t>   }</a:t>
            </a:r>
          </a:p>
          <a:p>
            <a:r>
              <a:rPr lang="en-ZA" dirty="0">
                <a:solidFill>
                  <a:srgbClr val="000000"/>
                </a:solidFill>
                <a:latin typeface="Consolas" panose="020B0609020204030204" pitchFamily="49" charset="0"/>
              </a:rPr>
              <a:t> </a:t>
            </a:r>
            <a:r>
              <a:rPr lang="en-ZA" dirty="0">
                <a:solidFill>
                  <a:srgbClr val="0000FF"/>
                </a:solidFill>
                <a:latin typeface="Consolas" panose="020B0609020204030204" pitchFamily="49" charset="0"/>
              </a:rPr>
              <a:t>else</a:t>
            </a:r>
            <a:endParaRPr lang="en-ZA" dirty="0">
              <a:solidFill>
                <a:srgbClr val="000000"/>
              </a:solidFill>
              <a:latin typeface="Consolas" panose="020B0609020204030204" pitchFamily="49" charset="0"/>
            </a:endParaRPr>
          </a:p>
          <a:p>
            <a:r>
              <a:rPr lang="en-ZA"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DialogResult</a:t>
            </a:r>
            <a:r>
              <a:rPr lang="en-US" sz="1100" dirty="0">
                <a:solidFill>
                  <a:srgbClr val="000000"/>
                </a:solidFill>
                <a:latin typeface="Consolas" panose="020B0609020204030204" pitchFamily="49" charset="0"/>
              </a:rPr>
              <a:t> result = </a:t>
            </a:r>
            <a:r>
              <a:rPr lang="en-US" sz="1100" dirty="0" err="1">
                <a:solidFill>
                  <a:srgbClr val="000000"/>
                </a:solidFill>
                <a:latin typeface="Consolas" panose="020B0609020204030204" pitchFamily="49" charset="0"/>
              </a:rPr>
              <a:t>MessageBox.Show</a:t>
            </a:r>
            <a:r>
              <a:rPr lang="en-US" sz="1100" dirty="0">
                <a:solidFill>
                  <a:srgbClr val="000000"/>
                </a:solidFill>
                <a:latin typeface="Consolas" panose="020B0609020204030204" pitchFamily="49" charset="0"/>
              </a:rPr>
              <a:t>(</a:t>
            </a:r>
            <a:r>
              <a:rPr lang="en-US" sz="1100" dirty="0">
                <a:solidFill>
                  <a:srgbClr val="A31515"/>
                </a:solidFill>
                <a:latin typeface="Consolas" panose="020B0609020204030204" pitchFamily="49" charset="0"/>
              </a:rPr>
              <a:t>"Do you want to confirm the appointment booking?"</a:t>
            </a:r>
            <a:r>
              <a:rPr lang="en-US" sz="1100" dirty="0">
                <a:solidFill>
                  <a:srgbClr val="000000"/>
                </a:solidFill>
                <a:latin typeface="Consolas" panose="020B0609020204030204" pitchFamily="49" charset="0"/>
              </a:rPr>
              <a:t>, </a:t>
            </a:r>
            <a:r>
              <a:rPr lang="en-US" sz="1100" dirty="0">
                <a:solidFill>
                  <a:srgbClr val="A31515"/>
                </a:solidFill>
                <a:latin typeface="Consolas" panose="020B0609020204030204" pitchFamily="49" charset="0"/>
              </a:rPr>
              <a:t>"Appointment Confirm"</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MessageBoxButtons.OKCancel</a:t>
            </a:r>
            <a:r>
              <a:rPr lang="en-US" sz="1100" dirty="0">
                <a:solidFill>
                  <a:srgbClr val="000000"/>
                </a:solidFill>
                <a:latin typeface="Consolas" panose="020B0609020204030204" pitchFamily="49" charset="0"/>
              </a:rPr>
              <a:t>);</a:t>
            </a:r>
            <a:endParaRPr lang="en-US" dirty="0">
              <a:solidFill>
                <a:srgbClr val="000000"/>
              </a:solidFill>
              <a:latin typeface="Consolas" panose="020B0609020204030204" pitchFamily="49" charset="0"/>
            </a:endParaRPr>
          </a:p>
          <a:p>
            <a:r>
              <a:rPr lang="en-ZA" dirty="0">
                <a:solidFill>
                  <a:srgbClr val="000000"/>
                </a:solidFill>
                <a:latin typeface="Consolas" panose="020B0609020204030204" pitchFamily="49" charset="0"/>
              </a:rPr>
              <a:t>    </a:t>
            </a:r>
            <a:r>
              <a:rPr lang="en-ZA" dirty="0">
                <a:solidFill>
                  <a:srgbClr val="0000FF"/>
                </a:solidFill>
                <a:latin typeface="Consolas" panose="020B0609020204030204" pitchFamily="49" charset="0"/>
              </a:rPr>
              <a:t>if</a:t>
            </a:r>
            <a:r>
              <a:rPr lang="en-ZA" dirty="0">
                <a:solidFill>
                  <a:srgbClr val="000000"/>
                </a:solidFill>
                <a:latin typeface="Consolas" panose="020B0609020204030204" pitchFamily="49" charset="0"/>
              </a:rPr>
              <a:t> (result == </a:t>
            </a:r>
            <a:r>
              <a:rPr lang="en-ZA" dirty="0" err="1">
                <a:solidFill>
                  <a:srgbClr val="000000"/>
                </a:solidFill>
                <a:latin typeface="Consolas" panose="020B0609020204030204" pitchFamily="49" charset="0"/>
              </a:rPr>
              <a:t>DialogResult.OK</a:t>
            </a:r>
            <a:r>
              <a:rPr lang="en-ZA" dirty="0">
                <a:solidFill>
                  <a:srgbClr val="000000"/>
                </a:solidFill>
                <a:latin typeface="Consolas" panose="020B0609020204030204" pitchFamily="49" charset="0"/>
              </a:rPr>
              <a:t>)</a:t>
            </a:r>
          </a:p>
          <a:p>
            <a:r>
              <a:rPr lang="en-ZA" dirty="0">
                <a:solidFill>
                  <a:srgbClr val="000000"/>
                </a:solidFill>
                <a:latin typeface="Consolas" panose="020B0609020204030204" pitchFamily="49" charset="0"/>
              </a:rPr>
              <a:t>    {</a:t>
            </a:r>
          </a:p>
          <a:p>
            <a:r>
              <a:rPr lang="en-ZA" sz="1200" dirty="0">
                <a:solidFill>
                  <a:srgbClr val="000000"/>
                </a:solidFill>
                <a:latin typeface="Consolas" panose="020B0609020204030204" pitchFamily="49" charset="0"/>
              </a:rPr>
              <a:t>      </a:t>
            </a:r>
            <a:r>
              <a:rPr lang="en-ZA" sz="1200" dirty="0" err="1">
                <a:solidFill>
                  <a:srgbClr val="000000"/>
                </a:solidFill>
                <a:latin typeface="Consolas" panose="020B0609020204030204" pitchFamily="49" charset="0"/>
              </a:rPr>
              <a:t>taAppointment.Insert</a:t>
            </a:r>
            <a:r>
              <a:rPr lang="en-ZA" sz="1200" dirty="0">
                <a:solidFill>
                  <a:srgbClr val="000000"/>
                </a:solidFill>
                <a:latin typeface="Consolas" panose="020B0609020204030204" pitchFamily="49" charset="0"/>
              </a:rPr>
              <a:t>(Convert.ToInt32(</a:t>
            </a:r>
            <a:r>
              <a:rPr lang="en-ZA" sz="1200" dirty="0" err="1">
                <a:solidFill>
                  <a:srgbClr val="000000"/>
                </a:solidFill>
                <a:latin typeface="Consolas" panose="020B0609020204030204" pitchFamily="49" charset="0"/>
              </a:rPr>
              <a:t>lblCustID.Text</a:t>
            </a:r>
            <a:r>
              <a:rPr lang="en-ZA" sz="1200" dirty="0">
                <a:solidFill>
                  <a:srgbClr val="000000"/>
                </a:solidFill>
                <a:latin typeface="Consolas" panose="020B0609020204030204" pitchFamily="49" charset="0"/>
              </a:rPr>
              <a:t>), monthCalendar1.SelectionRange.Start, (</a:t>
            </a:r>
            <a:r>
              <a:rPr lang="en-ZA" sz="1200" dirty="0">
                <a:solidFill>
                  <a:srgbClr val="0000FF"/>
                </a:solidFill>
                <a:latin typeface="Consolas" panose="020B0609020204030204" pitchFamily="49" charset="0"/>
              </a:rPr>
              <a:t>int</a:t>
            </a:r>
            <a:r>
              <a:rPr lang="en-ZA" sz="1200" dirty="0">
                <a:solidFill>
                  <a:srgbClr val="000000"/>
                </a:solidFill>
                <a:latin typeface="Consolas" panose="020B0609020204030204" pitchFamily="49" charset="0"/>
              </a:rPr>
              <a:t>)</a:t>
            </a:r>
            <a:r>
              <a:rPr lang="en-ZA" sz="1200" dirty="0" err="1">
                <a:solidFill>
                  <a:srgbClr val="000000"/>
                </a:solidFill>
                <a:latin typeface="Consolas" panose="020B0609020204030204" pitchFamily="49" charset="0"/>
              </a:rPr>
              <a:t>comboTimeSlot.SelectedValue</a:t>
            </a:r>
            <a:r>
              <a:rPr lang="en-ZA" sz="1200"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MessageBox.Show</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"Appointment has been Confirmed"</a:t>
            </a:r>
            <a:r>
              <a:rPr lang="en-US" dirty="0">
                <a:solidFill>
                  <a:srgbClr val="000000"/>
                </a:solidFill>
                <a:latin typeface="Consolas" panose="020B0609020204030204" pitchFamily="49" charset="0"/>
              </a:rPr>
              <a:t>);</a:t>
            </a:r>
          </a:p>
          <a:p>
            <a:r>
              <a:rPr lang="en-ZA" dirty="0">
                <a:solidFill>
                  <a:srgbClr val="000000"/>
                </a:solidFill>
                <a:latin typeface="Consolas" panose="020B0609020204030204" pitchFamily="49" charset="0"/>
              </a:rPr>
              <a:t>   }</a:t>
            </a:r>
          </a:p>
          <a:p>
            <a:r>
              <a:rPr lang="en-ZA" dirty="0">
                <a:solidFill>
                  <a:srgbClr val="000000"/>
                </a:solidFill>
                <a:latin typeface="Consolas" panose="020B0609020204030204" pitchFamily="49" charset="0"/>
              </a:rPr>
              <a:t>    </a:t>
            </a:r>
            <a:r>
              <a:rPr lang="en-ZA" sz="1400" dirty="0" err="1">
                <a:solidFill>
                  <a:srgbClr val="000000"/>
                </a:solidFill>
                <a:latin typeface="Consolas" panose="020B0609020204030204" pitchFamily="49" charset="0"/>
              </a:rPr>
              <a:t>taPreviousApp.FillByDate</a:t>
            </a:r>
            <a:r>
              <a:rPr lang="en-ZA" sz="1400" dirty="0">
                <a:solidFill>
                  <a:srgbClr val="000000"/>
                </a:solidFill>
                <a:latin typeface="Consolas" panose="020B0609020204030204" pitchFamily="49" charset="0"/>
              </a:rPr>
              <a:t>(</a:t>
            </a:r>
            <a:r>
              <a:rPr lang="en-ZA" sz="1400" dirty="0" err="1">
                <a:solidFill>
                  <a:srgbClr val="000000"/>
                </a:solidFill>
                <a:latin typeface="Consolas" panose="020B0609020204030204" pitchFamily="49" charset="0"/>
              </a:rPr>
              <a:t>dsAppt.PreviousAppoint,DateTime.Today</a:t>
            </a:r>
            <a:r>
              <a:rPr lang="en-ZA" sz="1400" dirty="0">
                <a:solidFill>
                  <a:srgbClr val="000000"/>
                </a:solidFill>
                <a:latin typeface="Consolas" panose="020B0609020204030204" pitchFamily="49" charset="0"/>
              </a:rPr>
              <a:t>);</a:t>
            </a:r>
          </a:p>
          <a:p>
            <a:r>
              <a:rPr lang="en-ZA" sz="1400" dirty="0">
                <a:solidFill>
                  <a:srgbClr val="000000"/>
                </a:solidFill>
                <a:latin typeface="Consolas" panose="020B0609020204030204" pitchFamily="49" charset="0"/>
              </a:rPr>
              <a:t>     </a:t>
            </a:r>
            <a:r>
              <a:rPr lang="en-ZA" sz="1400" dirty="0" err="1">
                <a:solidFill>
                  <a:srgbClr val="000000"/>
                </a:solidFill>
                <a:latin typeface="Consolas" panose="020B0609020204030204" pitchFamily="49" charset="0"/>
              </a:rPr>
              <a:t>taSlotsAvailable.FillbyAvailableTimeSlots</a:t>
            </a:r>
            <a:r>
              <a:rPr lang="en-ZA" sz="1400" dirty="0">
                <a:solidFill>
                  <a:srgbClr val="000000"/>
                </a:solidFill>
                <a:latin typeface="Consolas" panose="020B0609020204030204" pitchFamily="49" charset="0"/>
              </a:rPr>
              <a:t>(</a:t>
            </a:r>
            <a:r>
              <a:rPr lang="en-ZA" sz="1400" dirty="0" err="1">
                <a:solidFill>
                  <a:srgbClr val="000000"/>
                </a:solidFill>
                <a:latin typeface="Consolas" panose="020B0609020204030204" pitchFamily="49" charset="0"/>
              </a:rPr>
              <a:t>dsAppt.DTTimeSlotsAvailable</a:t>
            </a:r>
            <a:r>
              <a:rPr lang="en-ZA" sz="1400" dirty="0">
                <a:solidFill>
                  <a:srgbClr val="000000"/>
                </a:solidFill>
                <a:latin typeface="Consolas" panose="020B0609020204030204" pitchFamily="49" charset="0"/>
              </a:rPr>
              <a:t>, monthCalendar1.SelectionRange.Start);</a:t>
            </a:r>
          </a:p>
          <a:p>
            <a:endParaRPr lang="en-ZA" dirty="0">
              <a:solidFill>
                <a:srgbClr val="000000"/>
              </a:solidFill>
              <a:latin typeface="Consolas" panose="020B0609020204030204" pitchFamily="49" charset="0"/>
            </a:endParaRPr>
          </a:p>
          <a:p>
            <a:r>
              <a:rPr lang="en-ZA" dirty="0">
                <a:solidFill>
                  <a:srgbClr val="000000"/>
                </a:solidFill>
                <a:latin typeface="Consolas" panose="020B0609020204030204" pitchFamily="49" charset="0"/>
              </a:rPr>
              <a:t>   }</a:t>
            </a:r>
          </a:p>
          <a:p>
            <a:r>
              <a:rPr lang="en-ZA" dirty="0">
                <a:solidFill>
                  <a:srgbClr val="000000"/>
                </a:solidFill>
                <a:latin typeface="Consolas" panose="020B0609020204030204" pitchFamily="49" charset="0"/>
              </a:rPr>
              <a:t>  }</a:t>
            </a:r>
            <a:endParaRPr lang="en-ZA" dirty="0"/>
          </a:p>
        </p:txBody>
      </p:sp>
    </p:spTree>
    <p:extLst>
      <p:ext uri="{BB962C8B-B14F-4D97-AF65-F5344CB8AC3E}">
        <p14:creationId xmlns:p14="http://schemas.microsoft.com/office/powerpoint/2010/main" val="28777544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CANCELLING A BOOKING</a:t>
            </a:r>
          </a:p>
        </p:txBody>
      </p:sp>
      <p:pic>
        <p:nvPicPr>
          <p:cNvPr id="4" name="Content Placeholder 3"/>
          <p:cNvPicPr>
            <a:picLocks noGrp="1" noChangeAspect="1"/>
          </p:cNvPicPr>
          <p:nvPr>
            <p:ph idx="1"/>
          </p:nvPr>
        </p:nvPicPr>
        <p:blipFill>
          <a:blip r:embed="rId2"/>
          <a:stretch>
            <a:fillRect/>
          </a:stretch>
        </p:blipFill>
        <p:spPr>
          <a:xfrm>
            <a:off x="1061476" y="1452818"/>
            <a:ext cx="11072812" cy="4020870"/>
          </a:xfrm>
          <a:prstGeom prst="rect">
            <a:avLst/>
          </a:prstGeom>
        </p:spPr>
      </p:pic>
    </p:spTree>
    <p:extLst>
      <p:ext uri="{BB962C8B-B14F-4D97-AF65-F5344CB8AC3E}">
        <p14:creationId xmlns:p14="http://schemas.microsoft.com/office/powerpoint/2010/main" val="10500608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 what’s the thinking?</a:t>
            </a:r>
          </a:p>
        </p:txBody>
      </p:sp>
      <p:sp>
        <p:nvSpPr>
          <p:cNvPr id="3" name="Content Placeholder 2"/>
          <p:cNvSpPr>
            <a:spLocks noGrp="1"/>
          </p:cNvSpPr>
          <p:nvPr>
            <p:ph idx="1"/>
          </p:nvPr>
        </p:nvSpPr>
        <p:spPr/>
        <p:txBody>
          <a:bodyPr>
            <a:normAutofit fontScale="92500" lnSpcReduction="10000"/>
          </a:bodyPr>
          <a:lstStyle/>
          <a:p>
            <a:r>
              <a:rPr lang="en-US" sz="3600" dirty="0"/>
              <a:t>As the user selects a name from the </a:t>
            </a:r>
            <a:r>
              <a:rPr lang="en-US" sz="3600" dirty="0" err="1"/>
              <a:t>gridview</a:t>
            </a:r>
            <a:r>
              <a:rPr lang="en-US" sz="3600" dirty="0"/>
              <a:t> – single click of the cell…the appointments made by that person should be shown in another </a:t>
            </a:r>
            <a:r>
              <a:rPr lang="en-US" sz="3600" dirty="0" err="1"/>
              <a:t>gridview</a:t>
            </a:r>
            <a:endParaRPr lang="en-US" sz="3600" dirty="0"/>
          </a:p>
          <a:p>
            <a:r>
              <a:rPr lang="en-US" sz="3600" dirty="0"/>
              <a:t>From a database perspective, the </a:t>
            </a:r>
            <a:r>
              <a:rPr lang="en-US" sz="3600" dirty="0" err="1"/>
              <a:t>CustID</a:t>
            </a:r>
            <a:r>
              <a:rPr lang="en-US" sz="3600" dirty="0"/>
              <a:t> is used as a search criterion to determine all appointments made by that customer</a:t>
            </a:r>
          </a:p>
          <a:p>
            <a:r>
              <a:rPr lang="en-US" sz="3600" dirty="0"/>
              <a:t>Once an appointment is selected for cancelling, then</a:t>
            </a:r>
          </a:p>
          <a:p>
            <a:pPr lvl="1"/>
            <a:r>
              <a:rPr lang="en-US" sz="3600" dirty="0"/>
              <a:t>The appointment is removed from the Appointment table</a:t>
            </a:r>
          </a:p>
          <a:p>
            <a:pPr lvl="1"/>
            <a:r>
              <a:rPr lang="en-US" sz="3600" dirty="0"/>
              <a:t>The timeslot is made available for another booking in the dropdown box on the “make appointments tab”</a:t>
            </a:r>
          </a:p>
        </p:txBody>
      </p:sp>
    </p:spTree>
    <p:extLst>
      <p:ext uri="{BB962C8B-B14F-4D97-AF65-F5344CB8AC3E}">
        <p14:creationId xmlns:p14="http://schemas.microsoft.com/office/powerpoint/2010/main" val="2403211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Start with a clean set of adapters and datasets</a:t>
            </a:r>
          </a:p>
        </p:txBody>
      </p:sp>
      <p:pic>
        <p:nvPicPr>
          <p:cNvPr id="4" name="Content Placeholder 3"/>
          <p:cNvPicPr>
            <a:picLocks noGrp="1" noChangeAspect="1"/>
          </p:cNvPicPr>
          <p:nvPr>
            <p:ph idx="1"/>
          </p:nvPr>
        </p:nvPicPr>
        <p:blipFill>
          <a:blip r:embed="rId2"/>
          <a:stretch>
            <a:fillRect/>
          </a:stretch>
        </p:blipFill>
        <p:spPr>
          <a:xfrm>
            <a:off x="805242" y="1295814"/>
            <a:ext cx="4656111" cy="2600325"/>
          </a:xfrm>
          <a:prstGeom prst="rect">
            <a:avLst/>
          </a:prstGeom>
        </p:spPr>
      </p:pic>
      <p:grpSp>
        <p:nvGrpSpPr>
          <p:cNvPr id="8" name="Group 7"/>
          <p:cNvGrpSpPr/>
          <p:nvPr/>
        </p:nvGrpSpPr>
        <p:grpSpPr>
          <a:xfrm>
            <a:off x="6042991" y="1139687"/>
            <a:ext cx="6149009" cy="5718313"/>
            <a:chOff x="6042991" y="1139687"/>
            <a:chExt cx="6149009" cy="5718313"/>
          </a:xfrm>
        </p:grpSpPr>
        <p:pic>
          <p:nvPicPr>
            <p:cNvPr id="5" name="Picture 4"/>
            <p:cNvPicPr>
              <a:picLocks noChangeAspect="1"/>
            </p:cNvPicPr>
            <p:nvPr/>
          </p:nvPicPr>
          <p:blipFill>
            <a:blip r:embed="rId3"/>
            <a:stretch>
              <a:fillRect/>
            </a:stretch>
          </p:blipFill>
          <p:spPr>
            <a:xfrm>
              <a:off x="6042991" y="2684576"/>
              <a:ext cx="6149009" cy="4173424"/>
            </a:xfrm>
            <a:prstGeom prst="rect">
              <a:avLst/>
            </a:prstGeom>
          </p:spPr>
        </p:pic>
        <p:cxnSp>
          <p:nvCxnSpPr>
            <p:cNvPr id="7" name="Straight Arrow Connector 6"/>
            <p:cNvCxnSpPr/>
            <p:nvPr/>
          </p:nvCxnSpPr>
          <p:spPr>
            <a:xfrm>
              <a:off x="8481391" y="1139687"/>
              <a:ext cx="1563757" cy="51948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9" name="Picture 8"/>
          <p:cNvPicPr>
            <a:picLocks noChangeAspect="1"/>
          </p:cNvPicPr>
          <p:nvPr/>
        </p:nvPicPr>
        <p:blipFill>
          <a:blip r:embed="rId4"/>
          <a:stretch>
            <a:fillRect/>
          </a:stretch>
        </p:blipFill>
        <p:spPr>
          <a:xfrm>
            <a:off x="0" y="4537101"/>
            <a:ext cx="5788909" cy="2320899"/>
          </a:xfrm>
          <a:prstGeom prst="rect">
            <a:avLst/>
          </a:prstGeom>
        </p:spPr>
      </p:pic>
    </p:spTree>
    <p:extLst>
      <p:ext uri="{BB962C8B-B14F-4D97-AF65-F5344CB8AC3E}">
        <p14:creationId xmlns:p14="http://schemas.microsoft.com/office/powerpoint/2010/main" val="16642740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cancellation</a:t>
            </a:r>
          </a:p>
        </p:txBody>
      </p:sp>
      <p:pic>
        <p:nvPicPr>
          <p:cNvPr id="4" name="Content Placeholder 3"/>
          <p:cNvPicPr>
            <a:picLocks noGrp="1" noChangeAspect="1"/>
          </p:cNvPicPr>
          <p:nvPr>
            <p:ph idx="1"/>
          </p:nvPr>
        </p:nvPicPr>
        <p:blipFill>
          <a:blip r:embed="rId2"/>
          <a:stretch>
            <a:fillRect/>
          </a:stretch>
        </p:blipFill>
        <p:spPr>
          <a:xfrm>
            <a:off x="1000853" y="1205860"/>
            <a:ext cx="11072812" cy="4625931"/>
          </a:xfrm>
          <a:prstGeom prst="rect">
            <a:avLst/>
          </a:prstGeom>
        </p:spPr>
      </p:pic>
    </p:spTree>
    <p:extLst>
      <p:ext uri="{BB962C8B-B14F-4D97-AF65-F5344CB8AC3E}">
        <p14:creationId xmlns:p14="http://schemas.microsoft.com/office/powerpoint/2010/main" val="14096987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23651" y="192643"/>
            <a:ext cx="4293705" cy="1172331"/>
          </a:xfrm>
        </p:spPr>
        <p:txBody>
          <a:bodyPr>
            <a:normAutofit fontScale="90000"/>
          </a:bodyPr>
          <a:lstStyle/>
          <a:p>
            <a:r>
              <a:rPr lang="en-US" dirty="0"/>
              <a:t>Using a Cell Content Click</a:t>
            </a:r>
          </a:p>
        </p:txBody>
      </p:sp>
      <p:sp>
        <p:nvSpPr>
          <p:cNvPr id="3" name="Content Placeholder 2"/>
          <p:cNvSpPr>
            <a:spLocks noGrp="1"/>
          </p:cNvSpPr>
          <p:nvPr>
            <p:ph idx="1"/>
          </p:nvPr>
        </p:nvSpPr>
        <p:spPr>
          <a:xfrm>
            <a:off x="477079" y="4910417"/>
            <a:ext cx="11410854" cy="2233017"/>
          </a:xfrm>
        </p:spPr>
        <p:txBody>
          <a:bodyPr>
            <a:normAutofit/>
          </a:bodyPr>
          <a:lstStyle/>
          <a:p>
            <a:r>
              <a:rPr lang="en-US" dirty="0"/>
              <a:t> </a:t>
            </a:r>
            <a:r>
              <a:rPr lang="en-US" sz="1800" b="1" i="1" dirty="0"/>
              <a:t>private void </a:t>
            </a:r>
            <a:r>
              <a:rPr lang="en-US" sz="1800" b="1" i="1" dirty="0" err="1"/>
              <a:t>dgvCustNameCancel_CellMouseClick</a:t>
            </a:r>
            <a:r>
              <a:rPr lang="en-US" sz="1800" dirty="0"/>
              <a:t>(object sender, </a:t>
            </a:r>
            <a:r>
              <a:rPr lang="en-US" sz="1800" dirty="0" err="1"/>
              <a:t>DataGridViewCellMouseEventArgs</a:t>
            </a:r>
            <a:r>
              <a:rPr lang="en-US" sz="1800" dirty="0"/>
              <a:t> </a:t>
            </a:r>
            <a:r>
              <a:rPr lang="en-US" sz="1600" dirty="0"/>
              <a:t>e)</a:t>
            </a:r>
          </a:p>
          <a:p>
            <a:r>
              <a:rPr lang="en-US" sz="1600" dirty="0"/>
              <a:t>{       </a:t>
            </a:r>
            <a:r>
              <a:rPr lang="en-US" sz="1400" dirty="0"/>
              <a:t>ta2_CurrentCancelCust.FillByCustIDCancel(ds2_AppointCancel.DTCurrentAppointments,(</a:t>
            </a:r>
            <a:r>
              <a:rPr lang="en-US" sz="1400" dirty="0" err="1"/>
              <a:t>int</a:t>
            </a:r>
            <a:r>
              <a:rPr lang="en-US" sz="1400" dirty="0"/>
              <a:t>)</a:t>
            </a:r>
            <a:r>
              <a:rPr lang="en-US" sz="1400" dirty="0" err="1"/>
              <a:t>dgvCustNameCancel.CurrentRow.Cells</a:t>
            </a:r>
            <a:r>
              <a:rPr lang="en-US" sz="1400" dirty="0"/>
              <a:t>[0].Value);</a:t>
            </a:r>
          </a:p>
          <a:p>
            <a:r>
              <a:rPr lang="en-US" sz="1600" dirty="0"/>
              <a:t> }</a:t>
            </a:r>
          </a:p>
        </p:txBody>
      </p:sp>
      <p:pic>
        <p:nvPicPr>
          <p:cNvPr id="6" name="Picture 5"/>
          <p:cNvPicPr>
            <a:picLocks noChangeAspect="1"/>
          </p:cNvPicPr>
          <p:nvPr/>
        </p:nvPicPr>
        <p:blipFill>
          <a:blip r:embed="rId2"/>
          <a:stretch>
            <a:fillRect/>
          </a:stretch>
        </p:blipFill>
        <p:spPr>
          <a:xfrm>
            <a:off x="0" y="1"/>
            <a:ext cx="5552661" cy="3305405"/>
          </a:xfrm>
          <a:prstGeom prst="rect">
            <a:avLst/>
          </a:prstGeom>
        </p:spPr>
      </p:pic>
      <p:sp>
        <p:nvSpPr>
          <p:cNvPr id="4" name="TextBox 3"/>
          <p:cNvSpPr txBox="1"/>
          <p:nvPr/>
        </p:nvSpPr>
        <p:spPr>
          <a:xfrm>
            <a:off x="7023651" y="1364974"/>
            <a:ext cx="4532245" cy="646331"/>
          </a:xfrm>
          <a:prstGeom prst="rect">
            <a:avLst/>
          </a:prstGeom>
          <a:noFill/>
        </p:spPr>
        <p:txBody>
          <a:bodyPr wrap="square" rtlCol="0">
            <a:spAutoFit/>
          </a:bodyPr>
          <a:lstStyle/>
          <a:p>
            <a:r>
              <a:rPr lang="en-US" dirty="0"/>
              <a:t>As soon as a cell is clicked, that customer’s ID is used to generate a list of appointments</a:t>
            </a:r>
          </a:p>
        </p:txBody>
      </p:sp>
      <p:pic>
        <p:nvPicPr>
          <p:cNvPr id="5" name="Picture 4"/>
          <p:cNvPicPr>
            <a:picLocks noChangeAspect="1"/>
          </p:cNvPicPr>
          <p:nvPr/>
        </p:nvPicPr>
        <p:blipFill>
          <a:blip r:embed="rId3"/>
          <a:stretch>
            <a:fillRect/>
          </a:stretch>
        </p:blipFill>
        <p:spPr>
          <a:xfrm>
            <a:off x="5642548" y="2204866"/>
            <a:ext cx="6370756" cy="1876803"/>
          </a:xfrm>
          <a:prstGeom prst="rect">
            <a:avLst/>
          </a:prstGeom>
        </p:spPr>
      </p:pic>
    </p:spTree>
    <p:extLst>
      <p:ext uri="{BB962C8B-B14F-4D97-AF65-F5344CB8AC3E}">
        <p14:creationId xmlns:p14="http://schemas.microsoft.com/office/powerpoint/2010/main" val="6244366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actual Deletion</a:t>
            </a:r>
          </a:p>
        </p:txBody>
      </p:sp>
      <p:pic>
        <p:nvPicPr>
          <p:cNvPr id="4" name="Content Placeholder 3"/>
          <p:cNvPicPr>
            <a:picLocks noGrp="1" noChangeAspect="1"/>
          </p:cNvPicPr>
          <p:nvPr>
            <p:ph idx="1"/>
          </p:nvPr>
        </p:nvPicPr>
        <p:blipFill>
          <a:blip r:embed="rId2"/>
          <a:stretch>
            <a:fillRect/>
          </a:stretch>
        </p:blipFill>
        <p:spPr>
          <a:xfrm>
            <a:off x="2286000" y="1177497"/>
            <a:ext cx="4958786" cy="4040741"/>
          </a:xfrm>
          <a:prstGeom prst="rect">
            <a:avLst/>
          </a:prstGeom>
        </p:spPr>
      </p:pic>
    </p:spTree>
    <p:extLst>
      <p:ext uri="{BB962C8B-B14F-4D97-AF65-F5344CB8AC3E}">
        <p14:creationId xmlns:p14="http://schemas.microsoft.com/office/powerpoint/2010/main" val="33657497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Confirm the Cancel!</a:t>
            </a:r>
          </a:p>
        </p:txBody>
      </p:sp>
      <p:sp>
        <p:nvSpPr>
          <p:cNvPr id="3" name="Content Placeholder 2"/>
          <p:cNvSpPr>
            <a:spLocks noGrp="1"/>
          </p:cNvSpPr>
          <p:nvPr>
            <p:ph idx="1"/>
          </p:nvPr>
        </p:nvSpPr>
        <p:spPr>
          <a:xfrm>
            <a:off x="959867" y="969972"/>
            <a:ext cx="11073839" cy="1226382"/>
          </a:xfrm>
        </p:spPr>
        <p:txBody>
          <a:bodyPr>
            <a:normAutofit fontScale="85000" lnSpcReduction="20000"/>
          </a:bodyPr>
          <a:lstStyle/>
          <a:p>
            <a:r>
              <a:rPr lang="en-US" dirty="0"/>
              <a:t>A customer’s name/detail is selected via a cell content click</a:t>
            </a:r>
          </a:p>
          <a:p>
            <a:r>
              <a:rPr lang="en-US" dirty="0"/>
              <a:t>Hereafter all the appointments for that customer appears in a </a:t>
            </a:r>
            <a:r>
              <a:rPr lang="en-US" dirty="0" err="1"/>
              <a:t>Gridview</a:t>
            </a:r>
            <a:endParaRPr lang="en-US" dirty="0"/>
          </a:p>
          <a:p>
            <a:r>
              <a:rPr lang="en-US" dirty="0"/>
              <a:t>Once you double-click the row header of a specific appointment – then this appointment is now eligible for cancellation</a:t>
            </a:r>
          </a:p>
        </p:txBody>
      </p:sp>
      <p:sp>
        <p:nvSpPr>
          <p:cNvPr id="4" name="Rectangle 3">
            <a:extLst>
              <a:ext uri="{FF2B5EF4-FFF2-40B4-BE49-F238E27FC236}">
                <a16:creationId xmlns:a16="http://schemas.microsoft.com/office/drawing/2014/main" id="{BC4237CC-ABFD-4605-BD17-B1D7F654DF12}"/>
              </a:ext>
            </a:extLst>
          </p:cNvPr>
          <p:cNvSpPr/>
          <p:nvPr/>
        </p:nvSpPr>
        <p:spPr>
          <a:xfrm>
            <a:off x="565097" y="2383276"/>
            <a:ext cx="11863377" cy="3416320"/>
          </a:xfrm>
          <a:prstGeom prst="rect">
            <a:avLst/>
          </a:prstGeom>
          <a:solidFill>
            <a:schemeClr val="accent5">
              <a:lumMod val="40000"/>
              <a:lumOff val="60000"/>
            </a:schemeClr>
          </a:solidFill>
        </p:spPr>
        <p:txBody>
          <a:bodyPr wrap="square">
            <a:spAutoFit/>
          </a:bodyPr>
          <a:lstStyle/>
          <a:p>
            <a:r>
              <a:rPr lang="en-ZA" dirty="0">
                <a:solidFill>
                  <a:srgbClr val="000000"/>
                </a:solidFill>
                <a:latin typeface="Consolas" panose="020B0609020204030204" pitchFamily="49" charset="0"/>
              </a:rPr>
              <a:t> </a:t>
            </a:r>
            <a:r>
              <a:rPr lang="en-ZA" dirty="0">
                <a:solidFill>
                  <a:srgbClr val="0000FF"/>
                </a:solidFill>
                <a:latin typeface="Consolas" panose="020B0609020204030204" pitchFamily="49" charset="0"/>
              </a:rPr>
              <a:t>private</a:t>
            </a:r>
            <a:r>
              <a:rPr lang="en-ZA" dirty="0">
                <a:solidFill>
                  <a:srgbClr val="000000"/>
                </a:solidFill>
                <a:latin typeface="Consolas" panose="020B0609020204030204" pitchFamily="49" charset="0"/>
              </a:rPr>
              <a:t> </a:t>
            </a:r>
            <a:r>
              <a:rPr lang="en-ZA" dirty="0">
                <a:solidFill>
                  <a:srgbClr val="0000FF"/>
                </a:solidFill>
                <a:latin typeface="Consolas" panose="020B0609020204030204" pitchFamily="49" charset="0"/>
              </a:rPr>
              <a:t>void</a:t>
            </a:r>
            <a:r>
              <a:rPr lang="en-ZA" dirty="0">
                <a:solidFill>
                  <a:srgbClr val="000000"/>
                </a:solidFill>
                <a:latin typeface="Consolas" panose="020B0609020204030204" pitchFamily="49" charset="0"/>
              </a:rPr>
              <a:t> </a:t>
            </a:r>
            <a:r>
              <a:rPr lang="en-ZA" dirty="0" err="1">
                <a:solidFill>
                  <a:srgbClr val="000000"/>
                </a:solidFill>
                <a:latin typeface="Consolas" panose="020B0609020204030204" pitchFamily="49" charset="0"/>
              </a:rPr>
              <a:t>dgvViewApptCancel_RowHeaderMouseDoubleClick</a:t>
            </a:r>
            <a:r>
              <a:rPr lang="en-ZA" dirty="0">
                <a:solidFill>
                  <a:srgbClr val="000000"/>
                </a:solidFill>
                <a:latin typeface="Consolas" panose="020B0609020204030204" pitchFamily="49" charset="0"/>
              </a:rPr>
              <a:t>(</a:t>
            </a:r>
            <a:r>
              <a:rPr lang="en-ZA" dirty="0">
                <a:solidFill>
                  <a:srgbClr val="0000FF"/>
                </a:solidFill>
                <a:latin typeface="Consolas" panose="020B0609020204030204" pitchFamily="49" charset="0"/>
              </a:rPr>
              <a:t>object</a:t>
            </a:r>
            <a:r>
              <a:rPr lang="en-ZA" dirty="0">
                <a:solidFill>
                  <a:srgbClr val="000000"/>
                </a:solidFill>
                <a:latin typeface="Consolas" panose="020B0609020204030204" pitchFamily="49" charset="0"/>
              </a:rPr>
              <a:t> sender, </a:t>
            </a:r>
            <a:r>
              <a:rPr lang="en-ZA" dirty="0" err="1">
                <a:solidFill>
                  <a:srgbClr val="000000"/>
                </a:solidFill>
                <a:latin typeface="Consolas" panose="020B0609020204030204" pitchFamily="49" charset="0"/>
              </a:rPr>
              <a:t>DataGridViewCellMouseEventArgs</a:t>
            </a:r>
            <a:r>
              <a:rPr lang="en-ZA" dirty="0">
                <a:solidFill>
                  <a:srgbClr val="000000"/>
                </a:solidFill>
                <a:latin typeface="Consolas" panose="020B0609020204030204" pitchFamily="49" charset="0"/>
              </a:rPr>
              <a:t> e)</a:t>
            </a:r>
          </a:p>
          <a:p>
            <a:r>
              <a:rPr lang="en-ZA"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DialogResult</a:t>
            </a:r>
            <a:r>
              <a:rPr lang="en-US" sz="1100" dirty="0">
                <a:solidFill>
                  <a:srgbClr val="000000"/>
                </a:solidFill>
                <a:latin typeface="Consolas" panose="020B0609020204030204" pitchFamily="49" charset="0"/>
              </a:rPr>
              <a:t> result = </a:t>
            </a:r>
            <a:r>
              <a:rPr lang="en-US" sz="1100" dirty="0" err="1">
                <a:solidFill>
                  <a:srgbClr val="000000"/>
                </a:solidFill>
                <a:latin typeface="Consolas" panose="020B0609020204030204" pitchFamily="49" charset="0"/>
              </a:rPr>
              <a:t>MessageBox.Show</a:t>
            </a:r>
            <a:r>
              <a:rPr lang="en-US" sz="1100" dirty="0">
                <a:solidFill>
                  <a:srgbClr val="000000"/>
                </a:solidFill>
                <a:latin typeface="Consolas" panose="020B0609020204030204" pitchFamily="49" charset="0"/>
              </a:rPr>
              <a:t>(</a:t>
            </a:r>
            <a:r>
              <a:rPr lang="en-US" sz="1100" dirty="0">
                <a:solidFill>
                  <a:srgbClr val="A31515"/>
                </a:solidFill>
                <a:latin typeface="Consolas" panose="020B0609020204030204" pitchFamily="49" charset="0"/>
              </a:rPr>
              <a:t>"Are you sure that you want to CANCEL this appointment?"</a:t>
            </a:r>
            <a:r>
              <a:rPr lang="en-US" sz="1100" dirty="0">
                <a:solidFill>
                  <a:srgbClr val="000000"/>
                </a:solidFill>
                <a:latin typeface="Consolas" panose="020B0609020204030204" pitchFamily="49" charset="0"/>
              </a:rPr>
              <a:t>, </a:t>
            </a:r>
            <a:r>
              <a:rPr lang="en-US" sz="1100" dirty="0">
                <a:solidFill>
                  <a:srgbClr val="A31515"/>
                </a:solidFill>
                <a:latin typeface="Consolas" panose="020B0609020204030204" pitchFamily="49" charset="0"/>
              </a:rPr>
              <a:t>"Appointment CANCEL"</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MessageBoxButtons.OKCancel</a:t>
            </a:r>
            <a:r>
              <a:rPr lang="en-US" sz="1100" dirty="0">
                <a:solidFill>
                  <a:srgbClr val="000000"/>
                </a:solidFill>
                <a:latin typeface="Consolas" panose="020B0609020204030204" pitchFamily="49" charset="0"/>
              </a:rPr>
              <a:t>);</a:t>
            </a:r>
          </a:p>
          <a:p>
            <a:r>
              <a:rPr lang="en-ZA" dirty="0">
                <a:solidFill>
                  <a:srgbClr val="000000"/>
                </a:solidFill>
                <a:latin typeface="Consolas" panose="020B0609020204030204" pitchFamily="49" charset="0"/>
              </a:rPr>
              <a:t>  </a:t>
            </a:r>
            <a:r>
              <a:rPr lang="en-ZA" dirty="0">
                <a:solidFill>
                  <a:srgbClr val="0000FF"/>
                </a:solidFill>
                <a:latin typeface="Consolas" panose="020B0609020204030204" pitchFamily="49" charset="0"/>
              </a:rPr>
              <a:t>if</a:t>
            </a:r>
            <a:r>
              <a:rPr lang="en-ZA" dirty="0">
                <a:solidFill>
                  <a:srgbClr val="000000"/>
                </a:solidFill>
                <a:latin typeface="Consolas" panose="020B0609020204030204" pitchFamily="49" charset="0"/>
              </a:rPr>
              <a:t> (result == </a:t>
            </a:r>
            <a:r>
              <a:rPr lang="en-ZA" dirty="0" err="1">
                <a:solidFill>
                  <a:srgbClr val="000000"/>
                </a:solidFill>
                <a:latin typeface="Consolas" panose="020B0609020204030204" pitchFamily="49" charset="0"/>
              </a:rPr>
              <a:t>DialogResult.OK</a:t>
            </a:r>
            <a:r>
              <a:rPr lang="en-ZA" dirty="0">
                <a:solidFill>
                  <a:srgbClr val="000000"/>
                </a:solidFill>
                <a:latin typeface="Consolas" panose="020B0609020204030204" pitchFamily="49" charset="0"/>
              </a:rPr>
              <a:t>)</a:t>
            </a:r>
          </a:p>
          <a:p>
            <a:r>
              <a:rPr lang="en-ZA" dirty="0">
                <a:solidFill>
                  <a:srgbClr val="000000"/>
                </a:solidFill>
                <a:latin typeface="Consolas" panose="020B0609020204030204" pitchFamily="49" charset="0"/>
              </a:rPr>
              <a:t>  {</a:t>
            </a:r>
          </a:p>
          <a:p>
            <a:r>
              <a:rPr lang="en-ZA" dirty="0">
                <a:solidFill>
                  <a:srgbClr val="000000"/>
                </a:solidFill>
                <a:latin typeface="Consolas" panose="020B0609020204030204" pitchFamily="49" charset="0"/>
              </a:rPr>
              <a:t>   </a:t>
            </a:r>
            <a:r>
              <a:rPr lang="en-ZA" dirty="0" err="1">
                <a:solidFill>
                  <a:srgbClr val="000000"/>
                </a:solidFill>
                <a:latin typeface="Consolas" panose="020B0609020204030204" pitchFamily="49" charset="0"/>
              </a:rPr>
              <a:t>taAppointment.DeleteAppt</a:t>
            </a:r>
            <a:r>
              <a:rPr lang="en-ZA" dirty="0">
                <a:solidFill>
                  <a:srgbClr val="000000"/>
                </a:solidFill>
                <a:latin typeface="Consolas" panose="020B0609020204030204" pitchFamily="49" charset="0"/>
              </a:rPr>
              <a:t>((</a:t>
            </a:r>
            <a:r>
              <a:rPr lang="en-ZA" dirty="0">
                <a:solidFill>
                  <a:srgbClr val="0000FF"/>
                </a:solidFill>
                <a:latin typeface="Consolas" panose="020B0609020204030204" pitchFamily="49" charset="0"/>
              </a:rPr>
              <a:t>int</a:t>
            </a:r>
            <a:r>
              <a:rPr lang="en-ZA" dirty="0">
                <a:solidFill>
                  <a:srgbClr val="000000"/>
                </a:solidFill>
                <a:latin typeface="Consolas" panose="020B0609020204030204" pitchFamily="49" charset="0"/>
              </a:rPr>
              <a:t>)</a:t>
            </a:r>
            <a:r>
              <a:rPr lang="en-ZA" dirty="0" err="1">
                <a:solidFill>
                  <a:srgbClr val="000000"/>
                </a:solidFill>
                <a:latin typeface="Consolas" panose="020B0609020204030204" pitchFamily="49" charset="0"/>
              </a:rPr>
              <a:t>dgvViewApptCancel.CurrentRow.Cells</a:t>
            </a:r>
            <a:r>
              <a:rPr lang="en-ZA" dirty="0">
                <a:solidFill>
                  <a:srgbClr val="000000"/>
                </a:solidFill>
                <a:latin typeface="Consolas" panose="020B0609020204030204" pitchFamily="49" charset="0"/>
              </a:rPr>
              <a:t>[1].Value);</a:t>
            </a:r>
          </a:p>
          <a:p>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MessageBox.Show</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"Appointment has been Cancelled"</a:t>
            </a:r>
            <a:r>
              <a:rPr lang="en-US" dirty="0">
                <a:solidFill>
                  <a:srgbClr val="000000"/>
                </a:solidFill>
                <a:latin typeface="Consolas" panose="020B0609020204030204" pitchFamily="49" charset="0"/>
              </a:rPr>
              <a:t>);</a:t>
            </a:r>
          </a:p>
          <a:p>
            <a:r>
              <a:rPr lang="en-ZA" dirty="0">
                <a:solidFill>
                  <a:srgbClr val="000000"/>
                </a:solidFill>
                <a:latin typeface="Consolas" panose="020B0609020204030204" pitchFamily="49" charset="0"/>
              </a:rPr>
              <a:t>   </a:t>
            </a:r>
            <a:r>
              <a:rPr lang="en-ZA" sz="1400" dirty="0" err="1">
                <a:solidFill>
                  <a:srgbClr val="000000"/>
                </a:solidFill>
                <a:latin typeface="Consolas" panose="020B0609020204030204" pitchFamily="49" charset="0"/>
              </a:rPr>
              <a:t>taPreviousAppCancel.FillByCustID</a:t>
            </a:r>
            <a:r>
              <a:rPr lang="en-ZA" sz="1400" dirty="0">
                <a:solidFill>
                  <a:srgbClr val="000000"/>
                </a:solidFill>
                <a:latin typeface="Consolas" panose="020B0609020204030204" pitchFamily="49" charset="0"/>
              </a:rPr>
              <a:t>(</a:t>
            </a:r>
            <a:r>
              <a:rPr lang="en-ZA" sz="1400" dirty="0" err="1">
                <a:solidFill>
                  <a:srgbClr val="000000"/>
                </a:solidFill>
                <a:latin typeface="Consolas" panose="020B0609020204030204" pitchFamily="49" charset="0"/>
              </a:rPr>
              <a:t>dsAppt.PreviousAppoint</a:t>
            </a:r>
            <a:r>
              <a:rPr lang="en-ZA" sz="1400" dirty="0">
                <a:solidFill>
                  <a:srgbClr val="000000"/>
                </a:solidFill>
                <a:latin typeface="Consolas" panose="020B0609020204030204" pitchFamily="49" charset="0"/>
              </a:rPr>
              <a:t>, (</a:t>
            </a:r>
            <a:r>
              <a:rPr lang="en-ZA" sz="1400" dirty="0">
                <a:solidFill>
                  <a:srgbClr val="0000FF"/>
                </a:solidFill>
                <a:latin typeface="Consolas" panose="020B0609020204030204" pitchFamily="49" charset="0"/>
              </a:rPr>
              <a:t>int</a:t>
            </a:r>
            <a:r>
              <a:rPr lang="en-ZA" sz="1400" dirty="0">
                <a:solidFill>
                  <a:srgbClr val="000000"/>
                </a:solidFill>
                <a:latin typeface="Consolas" panose="020B0609020204030204" pitchFamily="49" charset="0"/>
              </a:rPr>
              <a:t>)</a:t>
            </a:r>
            <a:r>
              <a:rPr lang="en-ZA" sz="1400" dirty="0" err="1">
                <a:solidFill>
                  <a:srgbClr val="000000"/>
                </a:solidFill>
                <a:latin typeface="Consolas" panose="020B0609020204030204" pitchFamily="49" charset="0"/>
              </a:rPr>
              <a:t>dgvCustCancel.CurrentRow.Cells</a:t>
            </a:r>
            <a:r>
              <a:rPr lang="en-ZA" sz="1400" dirty="0">
                <a:solidFill>
                  <a:srgbClr val="000000"/>
                </a:solidFill>
                <a:latin typeface="Consolas" panose="020B0609020204030204" pitchFamily="49" charset="0"/>
              </a:rPr>
              <a:t>[0].Value);</a:t>
            </a:r>
          </a:p>
          <a:p>
            <a:r>
              <a:rPr lang="en-ZA" dirty="0">
                <a:solidFill>
                  <a:srgbClr val="000000"/>
                </a:solidFill>
                <a:latin typeface="Consolas" panose="020B0609020204030204" pitchFamily="49" charset="0"/>
              </a:rPr>
              <a:t>   </a:t>
            </a:r>
            <a:r>
              <a:rPr lang="en-ZA" sz="1400" dirty="0" err="1">
                <a:solidFill>
                  <a:srgbClr val="000000"/>
                </a:solidFill>
                <a:latin typeface="Consolas" panose="020B0609020204030204" pitchFamily="49" charset="0"/>
              </a:rPr>
              <a:t>taSlotsAvailable.FillbyAvailableTimeSlots</a:t>
            </a:r>
            <a:r>
              <a:rPr lang="en-ZA" sz="1400" dirty="0">
                <a:solidFill>
                  <a:srgbClr val="000000"/>
                </a:solidFill>
                <a:latin typeface="Consolas" panose="020B0609020204030204" pitchFamily="49" charset="0"/>
              </a:rPr>
              <a:t>(</a:t>
            </a:r>
            <a:r>
              <a:rPr lang="en-ZA" sz="1400" dirty="0" err="1">
                <a:solidFill>
                  <a:srgbClr val="000000"/>
                </a:solidFill>
                <a:latin typeface="Consolas" panose="020B0609020204030204" pitchFamily="49" charset="0"/>
              </a:rPr>
              <a:t>dsAppt.DTTimeSlotsAvailable</a:t>
            </a:r>
            <a:r>
              <a:rPr lang="en-ZA" sz="1400" dirty="0">
                <a:solidFill>
                  <a:srgbClr val="000000"/>
                </a:solidFill>
                <a:latin typeface="Consolas" panose="020B0609020204030204" pitchFamily="49" charset="0"/>
              </a:rPr>
              <a:t>, monthCalendar1.SelectionRange.Start);</a:t>
            </a:r>
            <a:endParaRPr lang="en-ZA" dirty="0">
              <a:solidFill>
                <a:srgbClr val="000000"/>
              </a:solidFill>
              <a:latin typeface="Consolas" panose="020B0609020204030204" pitchFamily="49" charset="0"/>
            </a:endParaRPr>
          </a:p>
          <a:p>
            <a:r>
              <a:rPr lang="en-ZA" dirty="0">
                <a:solidFill>
                  <a:srgbClr val="000000"/>
                </a:solidFill>
                <a:latin typeface="Consolas" panose="020B0609020204030204" pitchFamily="49" charset="0"/>
              </a:rPr>
              <a:t>  }</a:t>
            </a:r>
          </a:p>
          <a:p>
            <a:r>
              <a:rPr lang="en-ZA" dirty="0">
                <a:solidFill>
                  <a:srgbClr val="000000"/>
                </a:solidFill>
                <a:latin typeface="Consolas" panose="020B0609020204030204" pitchFamily="49" charset="0"/>
              </a:rPr>
              <a:t> }</a:t>
            </a:r>
            <a:endParaRPr lang="en-ZA" dirty="0"/>
          </a:p>
        </p:txBody>
      </p:sp>
      <p:sp>
        <p:nvSpPr>
          <p:cNvPr id="5" name="Content Placeholder 2">
            <a:extLst>
              <a:ext uri="{FF2B5EF4-FFF2-40B4-BE49-F238E27FC236}">
                <a16:creationId xmlns:a16="http://schemas.microsoft.com/office/drawing/2014/main" id="{2ED93033-23F0-4C75-9DBA-D98FE690D7A8}"/>
              </a:ext>
            </a:extLst>
          </p:cNvPr>
          <p:cNvSpPr txBox="1">
            <a:spLocks/>
          </p:cNvSpPr>
          <p:nvPr/>
        </p:nvSpPr>
        <p:spPr>
          <a:xfrm>
            <a:off x="699891" y="5792415"/>
            <a:ext cx="11073839" cy="1226382"/>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dirty="0"/>
              <a:t>After cancellation, the Appointment table needs to be re-filled to reflect the cancellation of this </a:t>
            </a:r>
            <a:r>
              <a:rPr lang="en-US" dirty="0" err="1"/>
              <a:t>apointmtent</a:t>
            </a:r>
            <a:r>
              <a:rPr lang="en-US" dirty="0"/>
              <a:t>; also, </a:t>
            </a:r>
            <a:r>
              <a:rPr lang="en-US" i="1" dirty="0">
                <a:solidFill>
                  <a:srgbClr val="C00000"/>
                </a:solidFill>
              </a:rPr>
              <a:t>the available timeslots needs to be updated to show that this slot is available for re-booking</a:t>
            </a:r>
            <a:r>
              <a:rPr lang="en-US" dirty="0">
                <a:solidFill>
                  <a:schemeClr val="tx1"/>
                </a:solidFill>
              </a:rPr>
              <a:t>…if you get to this stage, then you have done a pretty decent job of this application!!</a:t>
            </a:r>
            <a:endParaRPr lang="en-US" i="1" dirty="0">
              <a:solidFill>
                <a:srgbClr val="C00000"/>
              </a:solidFill>
            </a:endParaRPr>
          </a:p>
        </p:txBody>
      </p:sp>
    </p:spTree>
    <p:extLst>
      <p:ext uri="{BB962C8B-B14F-4D97-AF65-F5344CB8AC3E}">
        <p14:creationId xmlns:p14="http://schemas.microsoft.com/office/powerpoint/2010/main" val="31861858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After Cancellation</a:t>
            </a:r>
          </a:p>
        </p:txBody>
      </p:sp>
      <p:sp>
        <p:nvSpPr>
          <p:cNvPr id="3" name="Content Placeholder 2"/>
          <p:cNvSpPr>
            <a:spLocks noGrp="1"/>
          </p:cNvSpPr>
          <p:nvPr>
            <p:ph idx="1"/>
          </p:nvPr>
        </p:nvSpPr>
        <p:spPr/>
        <p:txBody>
          <a:bodyPr/>
          <a:lstStyle/>
          <a:p>
            <a:r>
              <a:rPr lang="en-US" dirty="0"/>
              <a:t>Once a cancellation is confirmed, the following has to happen</a:t>
            </a:r>
          </a:p>
          <a:p>
            <a:pPr lvl="1"/>
            <a:r>
              <a:rPr lang="en-US" dirty="0"/>
              <a:t>The </a:t>
            </a:r>
            <a:r>
              <a:rPr lang="en-US" dirty="0" err="1"/>
              <a:t>Gridview</a:t>
            </a:r>
            <a:r>
              <a:rPr lang="en-US" dirty="0"/>
              <a:t> must be updated to show the cancelled appointment</a:t>
            </a:r>
          </a:p>
          <a:p>
            <a:pPr lvl="1"/>
            <a:r>
              <a:rPr lang="en-US" dirty="0"/>
              <a:t>The cancelled time slot needs to be made available again</a:t>
            </a:r>
          </a:p>
          <a:p>
            <a:r>
              <a:rPr lang="en-US" dirty="0"/>
              <a:t>From a processing perspective, this can only be done if all the </a:t>
            </a:r>
            <a:r>
              <a:rPr lang="en-US" dirty="0" err="1"/>
              <a:t>Grdiviews</a:t>
            </a:r>
            <a:r>
              <a:rPr lang="en-US" dirty="0"/>
              <a:t> are updated</a:t>
            </a:r>
          </a:p>
          <a:p>
            <a:r>
              <a:rPr lang="en-US" dirty="0"/>
              <a:t>To update a </a:t>
            </a:r>
            <a:r>
              <a:rPr lang="en-US" dirty="0" err="1"/>
              <a:t>Gridview</a:t>
            </a:r>
            <a:r>
              <a:rPr lang="en-US" dirty="0"/>
              <a:t> with the latest data from the database, you need to re-fill the Table Adapter…which will result in the </a:t>
            </a:r>
            <a:r>
              <a:rPr lang="en-US" dirty="0" err="1"/>
              <a:t>Gridviews</a:t>
            </a:r>
            <a:r>
              <a:rPr lang="en-US" dirty="0"/>
              <a:t> being automatically updated</a:t>
            </a:r>
          </a:p>
          <a:p>
            <a:r>
              <a:rPr lang="en-US" dirty="0"/>
              <a:t>The sequence is illustrated in the next few slides</a:t>
            </a:r>
          </a:p>
        </p:txBody>
      </p:sp>
    </p:spTree>
    <p:extLst>
      <p:ext uri="{BB962C8B-B14F-4D97-AF65-F5344CB8AC3E}">
        <p14:creationId xmlns:p14="http://schemas.microsoft.com/office/powerpoint/2010/main" val="6473212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9530" y="0"/>
            <a:ext cx="9601200" cy="590407"/>
          </a:xfrm>
        </p:spPr>
        <p:txBody>
          <a:bodyPr>
            <a:normAutofit fontScale="90000"/>
          </a:bodyPr>
          <a:lstStyle/>
          <a:p>
            <a:r>
              <a:rPr lang="en-US" dirty="0"/>
              <a:t>The Cancellation Sequence</a:t>
            </a:r>
          </a:p>
        </p:txBody>
      </p:sp>
      <p:sp>
        <p:nvSpPr>
          <p:cNvPr id="3" name="Content Placeholder 2"/>
          <p:cNvSpPr>
            <a:spLocks noGrp="1"/>
          </p:cNvSpPr>
          <p:nvPr>
            <p:ph idx="1"/>
          </p:nvPr>
        </p:nvSpPr>
        <p:spPr>
          <a:xfrm>
            <a:off x="1297208" y="590407"/>
            <a:ext cx="11073839" cy="2712888"/>
          </a:xfrm>
        </p:spPr>
        <p:txBody>
          <a:bodyPr>
            <a:normAutofit fontScale="92500" lnSpcReduction="20000"/>
          </a:bodyPr>
          <a:lstStyle/>
          <a:p>
            <a:r>
              <a:rPr lang="en-US" dirty="0"/>
              <a:t>So in one of the previous slides we made a booking for Thabo Mbeki</a:t>
            </a:r>
          </a:p>
          <a:p>
            <a:r>
              <a:rPr lang="en-US" dirty="0"/>
              <a:t>Let us now cancel the booking</a:t>
            </a:r>
          </a:p>
          <a:p>
            <a:r>
              <a:rPr lang="en-US" dirty="0"/>
              <a:t>To do this we will have to:</a:t>
            </a:r>
          </a:p>
          <a:p>
            <a:pPr lvl="1"/>
            <a:r>
              <a:rPr lang="en-US" dirty="0"/>
              <a:t>Find the customer (Thabo Mbeki)</a:t>
            </a:r>
          </a:p>
          <a:p>
            <a:pPr lvl="1"/>
            <a:r>
              <a:rPr lang="en-US" dirty="0"/>
              <a:t>Check out his bookings</a:t>
            </a:r>
          </a:p>
          <a:p>
            <a:pPr lvl="1"/>
            <a:r>
              <a:rPr lang="en-US" dirty="0"/>
              <a:t>Select the one that needs to be cancelled</a:t>
            </a:r>
          </a:p>
          <a:p>
            <a:pPr lvl="1"/>
            <a:r>
              <a:rPr lang="en-US" dirty="0"/>
              <a:t>Confirm the cancellation</a:t>
            </a:r>
          </a:p>
          <a:p>
            <a:pPr lvl="1"/>
            <a:r>
              <a:rPr lang="en-US" dirty="0"/>
              <a:t>Make that booking slot available for any other patient or possibly Thabo Mbeki as well!</a:t>
            </a:r>
          </a:p>
          <a:p>
            <a:pPr lvl="1"/>
            <a:endParaRPr lang="en-US" dirty="0"/>
          </a:p>
          <a:p>
            <a:endParaRPr lang="en-US" dirty="0"/>
          </a:p>
        </p:txBody>
      </p:sp>
      <p:pic>
        <p:nvPicPr>
          <p:cNvPr id="6" name="Picture 5">
            <a:extLst>
              <a:ext uri="{FF2B5EF4-FFF2-40B4-BE49-F238E27FC236}">
                <a16:creationId xmlns:a16="http://schemas.microsoft.com/office/drawing/2014/main" id="{60C7E4FA-C42D-4B06-AAC3-E057BBE07221}"/>
              </a:ext>
            </a:extLst>
          </p:cNvPr>
          <p:cNvPicPr>
            <a:picLocks noChangeAspect="1"/>
          </p:cNvPicPr>
          <p:nvPr/>
        </p:nvPicPr>
        <p:blipFill>
          <a:blip r:embed="rId2"/>
          <a:stretch>
            <a:fillRect/>
          </a:stretch>
        </p:blipFill>
        <p:spPr>
          <a:xfrm>
            <a:off x="0" y="3126920"/>
            <a:ext cx="4894730" cy="1339354"/>
          </a:xfrm>
          <a:prstGeom prst="rect">
            <a:avLst/>
          </a:prstGeom>
        </p:spPr>
      </p:pic>
      <p:pic>
        <p:nvPicPr>
          <p:cNvPr id="7" name="Picture 6">
            <a:extLst>
              <a:ext uri="{FF2B5EF4-FFF2-40B4-BE49-F238E27FC236}">
                <a16:creationId xmlns:a16="http://schemas.microsoft.com/office/drawing/2014/main" id="{6DE1AAC0-F9AB-4F71-B0A3-CD59A32587F7}"/>
              </a:ext>
            </a:extLst>
          </p:cNvPr>
          <p:cNvPicPr>
            <a:picLocks noChangeAspect="1"/>
          </p:cNvPicPr>
          <p:nvPr/>
        </p:nvPicPr>
        <p:blipFill>
          <a:blip r:embed="rId3"/>
          <a:stretch>
            <a:fillRect/>
          </a:stretch>
        </p:blipFill>
        <p:spPr>
          <a:xfrm>
            <a:off x="4993340" y="3127349"/>
            <a:ext cx="6957790" cy="766353"/>
          </a:xfrm>
          <a:prstGeom prst="rect">
            <a:avLst/>
          </a:prstGeom>
        </p:spPr>
      </p:pic>
      <p:pic>
        <p:nvPicPr>
          <p:cNvPr id="8" name="Picture 7">
            <a:extLst>
              <a:ext uri="{FF2B5EF4-FFF2-40B4-BE49-F238E27FC236}">
                <a16:creationId xmlns:a16="http://schemas.microsoft.com/office/drawing/2014/main" id="{23D6D634-11BD-4632-ABA6-D1729B2A4F64}"/>
              </a:ext>
            </a:extLst>
          </p:cNvPr>
          <p:cNvPicPr>
            <a:picLocks noChangeAspect="1"/>
          </p:cNvPicPr>
          <p:nvPr/>
        </p:nvPicPr>
        <p:blipFill rotWithShape="1">
          <a:blip r:embed="rId4"/>
          <a:srcRect b="6045"/>
          <a:stretch/>
        </p:blipFill>
        <p:spPr>
          <a:xfrm>
            <a:off x="5997388" y="3958762"/>
            <a:ext cx="5163547" cy="2728910"/>
          </a:xfrm>
          <a:prstGeom prst="rect">
            <a:avLst/>
          </a:prstGeom>
        </p:spPr>
      </p:pic>
    </p:spTree>
    <p:extLst>
      <p:ext uri="{BB962C8B-B14F-4D97-AF65-F5344CB8AC3E}">
        <p14:creationId xmlns:p14="http://schemas.microsoft.com/office/powerpoint/2010/main" val="2244111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000"/>
                                        <p:tgtEl>
                                          <p:spTgt spid="7"/>
                                        </p:tgtEl>
                                      </p:cBhvr>
                                    </p:animEffect>
                                    <p:anim calcmode="lin" valueType="num">
                                      <p:cBhvr>
                                        <p:cTn id="12" dur="1000" fill="hold"/>
                                        <p:tgtEl>
                                          <p:spTgt spid="7"/>
                                        </p:tgtEl>
                                        <p:attrNameLst>
                                          <p:attrName>ppt_x</p:attrName>
                                        </p:attrNameLst>
                                      </p:cBhvr>
                                      <p:tavLst>
                                        <p:tav tm="0">
                                          <p:val>
                                            <p:strVal val="#ppt_x"/>
                                          </p:val>
                                        </p:tav>
                                        <p:tav tm="100000">
                                          <p:val>
                                            <p:strVal val="#ppt_x"/>
                                          </p:val>
                                        </p:tav>
                                      </p:tavLst>
                                    </p:anim>
                                    <p:anim calcmode="lin" valueType="num">
                                      <p:cBhvr>
                                        <p:cTn id="1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Refresh/Update of </a:t>
            </a:r>
            <a:r>
              <a:rPr lang="en-US" dirty="0" err="1"/>
              <a:t>Gridviews</a:t>
            </a:r>
            <a:endParaRPr lang="en-US" dirty="0"/>
          </a:p>
        </p:txBody>
      </p:sp>
      <p:sp>
        <p:nvSpPr>
          <p:cNvPr id="3" name="Content Placeholder 2"/>
          <p:cNvSpPr>
            <a:spLocks noGrp="1"/>
          </p:cNvSpPr>
          <p:nvPr>
            <p:ph idx="1"/>
          </p:nvPr>
        </p:nvSpPr>
        <p:spPr/>
        <p:txBody>
          <a:bodyPr>
            <a:normAutofit/>
          </a:bodyPr>
          <a:lstStyle/>
          <a:p>
            <a:r>
              <a:rPr lang="en-US" sz="4000" dirty="0"/>
              <a:t>This is done by refilling the </a:t>
            </a:r>
            <a:r>
              <a:rPr lang="en-US" sz="4000" dirty="0" err="1"/>
              <a:t>DataAdapters</a:t>
            </a:r>
            <a:endParaRPr lang="en-US" sz="4000" dirty="0"/>
          </a:p>
          <a:p>
            <a:r>
              <a:rPr lang="en-US" sz="4000" dirty="0"/>
              <a:t>Write a small method that simply invokes the Fill method of the Table Adapters so that the </a:t>
            </a:r>
            <a:r>
              <a:rPr lang="en-US" sz="4000" dirty="0" err="1"/>
              <a:t>Grirdviews</a:t>
            </a:r>
            <a:r>
              <a:rPr lang="en-US" sz="4000" dirty="0"/>
              <a:t> are Refilled to reflect the most current version of the Data in the </a:t>
            </a:r>
            <a:r>
              <a:rPr lang="en-US" sz="4000" dirty="0" err="1"/>
              <a:t>Sql</a:t>
            </a:r>
            <a:r>
              <a:rPr lang="en-US" sz="4000" dirty="0"/>
              <a:t> Database</a:t>
            </a:r>
          </a:p>
        </p:txBody>
      </p:sp>
    </p:spTree>
    <p:extLst>
      <p:ext uri="{BB962C8B-B14F-4D97-AF65-F5344CB8AC3E}">
        <p14:creationId xmlns:p14="http://schemas.microsoft.com/office/powerpoint/2010/main" val="25648164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C10F3-C658-4B00-A29C-826317C861EF}"/>
              </a:ext>
            </a:extLst>
          </p:cNvPr>
          <p:cNvSpPr>
            <a:spLocks noGrp="1"/>
          </p:cNvSpPr>
          <p:nvPr>
            <p:ph type="title"/>
          </p:nvPr>
        </p:nvSpPr>
        <p:spPr/>
        <p:txBody>
          <a:bodyPr>
            <a:normAutofit fontScale="90000"/>
          </a:bodyPr>
          <a:lstStyle/>
          <a:p>
            <a:r>
              <a:rPr lang="en-ZA" dirty="0"/>
              <a:t>The Full Code</a:t>
            </a:r>
          </a:p>
        </p:txBody>
      </p:sp>
      <p:sp>
        <p:nvSpPr>
          <p:cNvPr id="3" name="Content Placeholder 2">
            <a:extLst>
              <a:ext uri="{FF2B5EF4-FFF2-40B4-BE49-F238E27FC236}">
                <a16:creationId xmlns:a16="http://schemas.microsoft.com/office/drawing/2014/main" id="{52E603E7-0E55-4A21-B066-149AF9DE124E}"/>
              </a:ext>
            </a:extLst>
          </p:cNvPr>
          <p:cNvSpPr>
            <a:spLocks noGrp="1"/>
          </p:cNvSpPr>
          <p:nvPr>
            <p:ph idx="1"/>
          </p:nvPr>
        </p:nvSpPr>
        <p:spPr>
          <a:xfrm>
            <a:off x="959867" y="969972"/>
            <a:ext cx="11073839" cy="392664"/>
          </a:xfrm>
        </p:spPr>
        <p:txBody>
          <a:bodyPr/>
          <a:lstStyle/>
          <a:p>
            <a:r>
              <a:rPr lang="en-ZA" dirty="0"/>
              <a:t>Form Load, Customer Search and Change in Calendar Date to fill the Inner Join table and </a:t>
            </a:r>
            <a:r>
              <a:rPr lang="en-ZA" dirty="0" err="1"/>
              <a:t>Gridview</a:t>
            </a:r>
            <a:endParaRPr lang="en-ZA" dirty="0"/>
          </a:p>
        </p:txBody>
      </p:sp>
      <p:sp>
        <p:nvSpPr>
          <p:cNvPr id="4" name="Rectangle 3">
            <a:extLst>
              <a:ext uri="{FF2B5EF4-FFF2-40B4-BE49-F238E27FC236}">
                <a16:creationId xmlns:a16="http://schemas.microsoft.com/office/drawing/2014/main" id="{37F82C5D-571C-481B-8C8D-AA59367AED52}"/>
              </a:ext>
            </a:extLst>
          </p:cNvPr>
          <p:cNvSpPr/>
          <p:nvPr/>
        </p:nvSpPr>
        <p:spPr>
          <a:xfrm>
            <a:off x="642833" y="1362636"/>
            <a:ext cx="11707906" cy="2862322"/>
          </a:xfrm>
          <a:prstGeom prst="rect">
            <a:avLst/>
          </a:prstGeom>
          <a:solidFill>
            <a:schemeClr val="accent5">
              <a:lumMod val="40000"/>
              <a:lumOff val="60000"/>
            </a:schemeClr>
          </a:solidFill>
        </p:spPr>
        <p:txBody>
          <a:bodyPr wrap="square">
            <a:spAutoFit/>
          </a:bodyPr>
          <a:lstStyle/>
          <a:p>
            <a:r>
              <a:rPr lang="en-ZA" dirty="0">
                <a:solidFill>
                  <a:srgbClr val="0000FF"/>
                </a:solidFill>
                <a:latin typeface="Consolas" panose="020B0609020204030204" pitchFamily="49" charset="0"/>
              </a:rPr>
              <a:t>private</a:t>
            </a:r>
            <a:r>
              <a:rPr lang="en-ZA" dirty="0">
                <a:solidFill>
                  <a:srgbClr val="000000"/>
                </a:solidFill>
                <a:latin typeface="Consolas" panose="020B0609020204030204" pitchFamily="49" charset="0"/>
              </a:rPr>
              <a:t> </a:t>
            </a:r>
            <a:r>
              <a:rPr lang="en-ZA" dirty="0">
                <a:solidFill>
                  <a:srgbClr val="0000FF"/>
                </a:solidFill>
                <a:latin typeface="Consolas" panose="020B0609020204030204" pitchFamily="49" charset="0"/>
              </a:rPr>
              <a:t>void</a:t>
            </a:r>
            <a:r>
              <a:rPr lang="en-ZA" dirty="0">
                <a:solidFill>
                  <a:srgbClr val="000000"/>
                </a:solidFill>
                <a:latin typeface="Consolas" panose="020B0609020204030204" pitchFamily="49" charset="0"/>
              </a:rPr>
              <a:t> Form1_Load(</a:t>
            </a:r>
            <a:r>
              <a:rPr lang="en-ZA" dirty="0">
                <a:solidFill>
                  <a:srgbClr val="0000FF"/>
                </a:solidFill>
                <a:latin typeface="Consolas" panose="020B0609020204030204" pitchFamily="49" charset="0"/>
              </a:rPr>
              <a:t>object</a:t>
            </a:r>
            <a:r>
              <a:rPr lang="en-ZA" dirty="0">
                <a:solidFill>
                  <a:srgbClr val="000000"/>
                </a:solidFill>
                <a:latin typeface="Consolas" panose="020B0609020204030204" pitchFamily="49" charset="0"/>
              </a:rPr>
              <a:t> sender, </a:t>
            </a:r>
            <a:r>
              <a:rPr lang="en-ZA" dirty="0" err="1">
                <a:solidFill>
                  <a:srgbClr val="000000"/>
                </a:solidFill>
                <a:latin typeface="Consolas" panose="020B0609020204030204" pitchFamily="49" charset="0"/>
              </a:rPr>
              <a:t>EventArgs</a:t>
            </a:r>
            <a:r>
              <a:rPr lang="en-ZA" dirty="0">
                <a:solidFill>
                  <a:srgbClr val="000000"/>
                </a:solidFill>
                <a:latin typeface="Consolas" panose="020B0609020204030204" pitchFamily="49" charset="0"/>
              </a:rPr>
              <a:t> e)</a:t>
            </a:r>
          </a:p>
          <a:p>
            <a:r>
              <a:rPr lang="en-ZA" dirty="0">
                <a:solidFill>
                  <a:srgbClr val="000000"/>
                </a:solidFill>
                <a:latin typeface="Consolas" panose="020B0609020204030204" pitchFamily="49" charset="0"/>
              </a:rPr>
              <a:t>        </a:t>
            </a:r>
            <a:r>
              <a:rPr lang="en-ZA"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008000"/>
                </a:solidFill>
                <a:latin typeface="Consolas" panose="020B0609020204030204" pitchFamily="49" charset="0"/>
              </a:rPr>
              <a:t>// TODO: This line of code loads data into the '</a:t>
            </a:r>
            <a:r>
              <a:rPr lang="en-US" sz="1200" dirty="0" err="1">
                <a:solidFill>
                  <a:srgbClr val="008000"/>
                </a:solidFill>
                <a:latin typeface="Consolas" panose="020B0609020204030204" pitchFamily="49" charset="0"/>
              </a:rPr>
              <a:t>appSchedDataSet.TimeSlot</a:t>
            </a:r>
            <a:r>
              <a:rPr lang="en-US" sz="1200" dirty="0">
                <a:solidFill>
                  <a:srgbClr val="008000"/>
                </a:solidFill>
                <a:latin typeface="Consolas" panose="020B0609020204030204" pitchFamily="49" charset="0"/>
              </a:rPr>
              <a:t>' table. You can move, or remove it, as needed.</a:t>
            </a:r>
            <a:endParaRPr lang="en-US" sz="1200" dirty="0">
              <a:solidFill>
                <a:srgbClr val="000000"/>
              </a:solidFill>
              <a:latin typeface="Consolas" panose="020B0609020204030204" pitchFamily="49" charset="0"/>
            </a:endParaRPr>
          </a:p>
          <a:p>
            <a:r>
              <a:rPr lang="en-ZA" sz="1200" dirty="0">
                <a:solidFill>
                  <a:srgbClr val="000000"/>
                </a:solidFill>
                <a:latin typeface="Consolas" panose="020B0609020204030204" pitchFamily="49" charset="0"/>
              </a:rPr>
              <a:t>            </a:t>
            </a:r>
            <a:r>
              <a:rPr lang="en-ZA" sz="1200" dirty="0" err="1">
                <a:solidFill>
                  <a:srgbClr val="0000FF"/>
                </a:solidFill>
                <a:latin typeface="Consolas" panose="020B0609020204030204" pitchFamily="49" charset="0"/>
              </a:rPr>
              <a:t>this</a:t>
            </a:r>
            <a:r>
              <a:rPr lang="en-ZA" sz="1200" dirty="0" err="1">
                <a:solidFill>
                  <a:srgbClr val="000000"/>
                </a:solidFill>
                <a:latin typeface="Consolas" panose="020B0609020204030204" pitchFamily="49" charset="0"/>
              </a:rPr>
              <a:t>.timeSlotTableAdapter.Fill</a:t>
            </a:r>
            <a:r>
              <a:rPr lang="en-ZA" sz="1200" dirty="0">
                <a:solidFill>
                  <a:srgbClr val="000000"/>
                </a:solidFill>
                <a:latin typeface="Consolas" panose="020B0609020204030204" pitchFamily="49" charset="0"/>
              </a:rPr>
              <a:t>(</a:t>
            </a:r>
            <a:r>
              <a:rPr lang="en-ZA" sz="1200" dirty="0" err="1">
                <a:solidFill>
                  <a:srgbClr val="0000FF"/>
                </a:solidFill>
                <a:latin typeface="Consolas" panose="020B0609020204030204" pitchFamily="49" charset="0"/>
              </a:rPr>
              <a:t>this</a:t>
            </a:r>
            <a:r>
              <a:rPr lang="en-ZA" sz="1200" dirty="0" err="1">
                <a:solidFill>
                  <a:srgbClr val="000000"/>
                </a:solidFill>
                <a:latin typeface="Consolas" panose="020B0609020204030204" pitchFamily="49" charset="0"/>
              </a:rPr>
              <a:t>.dsAppt.TimeSlot</a:t>
            </a:r>
            <a:r>
              <a:rPr lang="en-ZA"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008000"/>
                </a:solidFill>
                <a:latin typeface="Consolas" panose="020B0609020204030204" pitchFamily="49" charset="0"/>
              </a:rPr>
              <a:t>// TODO: This line of code loads data into the '</a:t>
            </a:r>
            <a:r>
              <a:rPr lang="en-US" sz="1200" dirty="0" err="1">
                <a:solidFill>
                  <a:srgbClr val="008000"/>
                </a:solidFill>
                <a:latin typeface="Consolas" panose="020B0609020204030204" pitchFamily="49" charset="0"/>
              </a:rPr>
              <a:t>appSchedDataSet.PreviousAppoint</a:t>
            </a:r>
            <a:r>
              <a:rPr lang="en-US" sz="1200" dirty="0">
                <a:solidFill>
                  <a:srgbClr val="008000"/>
                </a:solidFill>
                <a:latin typeface="Consolas" panose="020B0609020204030204" pitchFamily="49" charset="0"/>
              </a:rPr>
              <a:t>' table. You can move, or remove it, as needed.</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err="1">
                <a:solidFill>
                  <a:srgbClr val="0000FF"/>
                </a:solidFill>
                <a:latin typeface="Consolas" panose="020B0609020204030204" pitchFamily="49" charset="0"/>
              </a:rPr>
              <a:t>this</a:t>
            </a:r>
            <a:r>
              <a:rPr lang="en-US" sz="1200" dirty="0" err="1">
                <a:solidFill>
                  <a:srgbClr val="000000"/>
                </a:solidFill>
                <a:latin typeface="Consolas" panose="020B0609020204030204" pitchFamily="49" charset="0"/>
              </a:rPr>
              <a:t>.taPreviousApp.Fill</a:t>
            </a:r>
            <a:r>
              <a:rPr lang="en-US" sz="1200" dirty="0">
                <a:solidFill>
                  <a:srgbClr val="000000"/>
                </a:solidFill>
                <a:latin typeface="Consolas" panose="020B0609020204030204" pitchFamily="49" charset="0"/>
              </a:rPr>
              <a:t>(</a:t>
            </a:r>
            <a:r>
              <a:rPr lang="en-US" sz="1200" dirty="0" err="1">
                <a:solidFill>
                  <a:srgbClr val="0000FF"/>
                </a:solidFill>
                <a:latin typeface="Consolas" panose="020B0609020204030204" pitchFamily="49" charset="0"/>
              </a:rPr>
              <a:t>this</a:t>
            </a:r>
            <a:r>
              <a:rPr lang="en-US" sz="1200" dirty="0" err="1">
                <a:solidFill>
                  <a:srgbClr val="000000"/>
                </a:solidFill>
                <a:latin typeface="Consolas" panose="020B0609020204030204" pitchFamily="49" charset="0"/>
              </a:rPr>
              <a:t>.dsAppt.PreviousAppoint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008000"/>
                </a:solidFill>
                <a:latin typeface="Consolas" panose="020B0609020204030204" pitchFamily="49" charset="0"/>
              </a:rPr>
              <a:t>// TODO: This line of code loads data into the '</a:t>
            </a:r>
            <a:r>
              <a:rPr lang="en-US" sz="1200" dirty="0" err="1">
                <a:solidFill>
                  <a:srgbClr val="008000"/>
                </a:solidFill>
                <a:latin typeface="Consolas" panose="020B0609020204030204" pitchFamily="49" charset="0"/>
              </a:rPr>
              <a:t>appSchedDataSet.Cust</a:t>
            </a:r>
            <a:r>
              <a:rPr lang="en-US" sz="1200" dirty="0">
                <a:solidFill>
                  <a:srgbClr val="008000"/>
                </a:solidFill>
                <a:latin typeface="Consolas" panose="020B0609020204030204" pitchFamily="49" charset="0"/>
              </a:rPr>
              <a:t>' table. You can move, or remove it, as needed.</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this</a:t>
            </a:r>
            <a:r>
              <a:rPr lang="en-US" sz="1200" dirty="0">
                <a:solidFill>
                  <a:srgbClr val="000000"/>
                </a:solidFill>
                <a:latin typeface="Consolas" panose="020B0609020204030204" pitchFamily="49" charset="0"/>
              </a:rPr>
              <a:t>.taCust1.Fill(</a:t>
            </a:r>
            <a:r>
              <a:rPr lang="en-US" sz="1200" dirty="0" err="1">
                <a:solidFill>
                  <a:srgbClr val="0000FF"/>
                </a:solidFill>
                <a:latin typeface="Consolas" panose="020B0609020204030204" pitchFamily="49" charset="0"/>
              </a:rPr>
              <a:t>this</a:t>
            </a:r>
            <a:r>
              <a:rPr lang="en-US" sz="1200" dirty="0" err="1">
                <a:solidFill>
                  <a:srgbClr val="000000"/>
                </a:solidFill>
                <a:latin typeface="Consolas" panose="020B0609020204030204" pitchFamily="49" charset="0"/>
              </a:rPr>
              <a:t>.dsAppt.Cust</a:t>
            </a:r>
            <a:r>
              <a:rPr lang="en-US" sz="1200" dirty="0">
                <a:solidFill>
                  <a:srgbClr val="000000"/>
                </a:solidFill>
                <a:latin typeface="Consolas" panose="020B0609020204030204" pitchFamily="49" charset="0"/>
              </a:rPr>
              <a:t>);</a:t>
            </a:r>
          </a:p>
          <a:p>
            <a:r>
              <a:rPr lang="en-ZA" sz="1200" dirty="0">
                <a:solidFill>
                  <a:srgbClr val="000000"/>
                </a:solidFill>
                <a:latin typeface="Consolas" panose="020B0609020204030204" pitchFamily="49" charset="0"/>
              </a:rPr>
              <a:t>            </a:t>
            </a:r>
            <a:r>
              <a:rPr lang="en-ZA" sz="1200" dirty="0" err="1">
                <a:solidFill>
                  <a:srgbClr val="000000"/>
                </a:solidFill>
                <a:latin typeface="Consolas" panose="020B0609020204030204" pitchFamily="49" charset="0"/>
              </a:rPr>
              <a:t>taPreviousApp.FillByDate</a:t>
            </a:r>
            <a:r>
              <a:rPr lang="en-ZA" sz="1200" dirty="0">
                <a:solidFill>
                  <a:srgbClr val="000000"/>
                </a:solidFill>
                <a:latin typeface="Consolas" panose="020B0609020204030204" pitchFamily="49" charset="0"/>
              </a:rPr>
              <a:t>(</a:t>
            </a:r>
            <a:r>
              <a:rPr lang="en-ZA" sz="1200" dirty="0" err="1">
                <a:solidFill>
                  <a:srgbClr val="000000"/>
                </a:solidFill>
                <a:latin typeface="Consolas" panose="020B0609020204030204" pitchFamily="49" charset="0"/>
              </a:rPr>
              <a:t>dsAppt.PreviousAppoint</a:t>
            </a:r>
            <a:r>
              <a:rPr lang="en-ZA" sz="1200" dirty="0">
                <a:solidFill>
                  <a:srgbClr val="000000"/>
                </a:solidFill>
                <a:latin typeface="Consolas" panose="020B0609020204030204" pitchFamily="49" charset="0"/>
              </a:rPr>
              <a:t>, </a:t>
            </a:r>
            <a:r>
              <a:rPr lang="en-ZA" sz="1200" dirty="0" err="1">
                <a:solidFill>
                  <a:srgbClr val="000000"/>
                </a:solidFill>
                <a:latin typeface="Consolas" panose="020B0609020204030204" pitchFamily="49" charset="0"/>
              </a:rPr>
              <a:t>DateTime.Today</a:t>
            </a:r>
            <a:r>
              <a:rPr lang="en-ZA" sz="1200" dirty="0">
                <a:solidFill>
                  <a:srgbClr val="000000"/>
                </a:solidFill>
                <a:latin typeface="Consolas" panose="020B0609020204030204" pitchFamily="49" charset="0"/>
              </a:rPr>
              <a:t>);</a:t>
            </a:r>
          </a:p>
          <a:p>
            <a:r>
              <a:rPr lang="en-ZA" sz="1200" dirty="0">
                <a:solidFill>
                  <a:srgbClr val="000000"/>
                </a:solidFill>
                <a:latin typeface="Consolas" panose="020B0609020204030204" pitchFamily="49" charset="0"/>
              </a:rPr>
              <a:t>            </a:t>
            </a:r>
            <a:r>
              <a:rPr lang="en-ZA" sz="1200" dirty="0" err="1">
                <a:solidFill>
                  <a:srgbClr val="000000"/>
                </a:solidFill>
                <a:latin typeface="Consolas" panose="020B0609020204030204" pitchFamily="49" charset="0"/>
              </a:rPr>
              <a:t>dgvViewCustAppointments.Sort</a:t>
            </a:r>
            <a:r>
              <a:rPr lang="en-ZA" sz="1200" dirty="0">
                <a:solidFill>
                  <a:srgbClr val="000000"/>
                </a:solidFill>
                <a:latin typeface="Consolas" panose="020B0609020204030204" pitchFamily="49" charset="0"/>
              </a:rPr>
              <a:t>(</a:t>
            </a:r>
            <a:r>
              <a:rPr lang="en-ZA" sz="1200" dirty="0" err="1">
                <a:solidFill>
                  <a:srgbClr val="000000"/>
                </a:solidFill>
                <a:latin typeface="Consolas" panose="020B0609020204030204" pitchFamily="49" charset="0"/>
              </a:rPr>
              <a:t>dgvViewCustAppointments.Columns</a:t>
            </a:r>
            <a:r>
              <a:rPr lang="en-ZA" sz="1200" dirty="0">
                <a:solidFill>
                  <a:srgbClr val="000000"/>
                </a:solidFill>
                <a:latin typeface="Consolas" panose="020B0609020204030204" pitchFamily="49" charset="0"/>
              </a:rPr>
              <a:t>[5], </a:t>
            </a:r>
            <a:r>
              <a:rPr lang="en-ZA" sz="1200" dirty="0" err="1">
                <a:solidFill>
                  <a:srgbClr val="000000"/>
                </a:solidFill>
                <a:latin typeface="Consolas" panose="020B0609020204030204" pitchFamily="49" charset="0"/>
              </a:rPr>
              <a:t>ListSortDirection.Ascending</a:t>
            </a:r>
            <a:r>
              <a:rPr lang="en-ZA" sz="1200" dirty="0">
                <a:solidFill>
                  <a:srgbClr val="000000"/>
                </a:solidFill>
                <a:latin typeface="Consolas" panose="020B0609020204030204" pitchFamily="49" charset="0"/>
              </a:rPr>
              <a:t>);</a:t>
            </a:r>
          </a:p>
          <a:p>
            <a:r>
              <a:rPr lang="en-ZA" sz="1200" dirty="0">
                <a:solidFill>
                  <a:srgbClr val="000000"/>
                </a:solidFill>
                <a:latin typeface="Consolas" panose="020B0609020204030204" pitchFamily="49" charset="0"/>
              </a:rPr>
              <a:t>            </a:t>
            </a:r>
            <a:r>
              <a:rPr lang="en-ZA" sz="1200" dirty="0" err="1">
                <a:solidFill>
                  <a:srgbClr val="000000"/>
                </a:solidFill>
                <a:latin typeface="Consolas" panose="020B0609020204030204" pitchFamily="49" charset="0"/>
              </a:rPr>
              <a:t>taSlotsAvailable.FillbyAvailableTimeSlots</a:t>
            </a:r>
            <a:r>
              <a:rPr lang="en-ZA" sz="1200" dirty="0">
                <a:solidFill>
                  <a:srgbClr val="000000"/>
                </a:solidFill>
                <a:latin typeface="Consolas" panose="020B0609020204030204" pitchFamily="49" charset="0"/>
              </a:rPr>
              <a:t>(</a:t>
            </a:r>
            <a:r>
              <a:rPr lang="en-ZA" sz="1200" dirty="0" err="1">
                <a:solidFill>
                  <a:srgbClr val="000000"/>
                </a:solidFill>
                <a:latin typeface="Consolas" panose="020B0609020204030204" pitchFamily="49" charset="0"/>
              </a:rPr>
              <a:t>dsAppt.DTTimeSlotsAvailable</a:t>
            </a:r>
            <a:r>
              <a:rPr lang="en-ZA" sz="1200" dirty="0">
                <a:solidFill>
                  <a:srgbClr val="000000"/>
                </a:solidFill>
                <a:latin typeface="Consolas" panose="020B0609020204030204" pitchFamily="49" charset="0"/>
              </a:rPr>
              <a:t>, </a:t>
            </a:r>
            <a:r>
              <a:rPr lang="en-ZA" sz="1200" dirty="0" err="1">
                <a:solidFill>
                  <a:srgbClr val="000000"/>
                </a:solidFill>
                <a:latin typeface="Consolas" panose="020B0609020204030204" pitchFamily="49" charset="0"/>
              </a:rPr>
              <a:t>DateTime.Today</a:t>
            </a:r>
            <a:r>
              <a:rPr lang="en-ZA" sz="1200" dirty="0">
                <a:solidFill>
                  <a:srgbClr val="000000"/>
                </a:solidFill>
                <a:latin typeface="Consolas" panose="020B0609020204030204" pitchFamily="49" charset="0"/>
              </a:rPr>
              <a:t>);</a:t>
            </a:r>
          </a:p>
          <a:p>
            <a:endParaRPr lang="en-ZA" sz="1200" dirty="0">
              <a:solidFill>
                <a:srgbClr val="000000"/>
              </a:solidFill>
              <a:latin typeface="Consolas" panose="020B0609020204030204" pitchFamily="49" charset="0"/>
            </a:endParaRPr>
          </a:p>
          <a:p>
            <a:r>
              <a:rPr lang="en-ZA" sz="1200" dirty="0">
                <a:solidFill>
                  <a:srgbClr val="000000"/>
                </a:solidFill>
                <a:latin typeface="Consolas" panose="020B0609020204030204" pitchFamily="49" charset="0"/>
              </a:rPr>
              <a:t>        }</a:t>
            </a:r>
            <a:endParaRPr lang="en-ZA" sz="1200" dirty="0"/>
          </a:p>
        </p:txBody>
      </p:sp>
      <p:sp>
        <p:nvSpPr>
          <p:cNvPr id="5" name="Rectangle 4">
            <a:extLst>
              <a:ext uri="{FF2B5EF4-FFF2-40B4-BE49-F238E27FC236}">
                <a16:creationId xmlns:a16="http://schemas.microsoft.com/office/drawing/2014/main" id="{2024DD62-0062-4F10-8B10-FF2277B3D1C5}"/>
              </a:ext>
            </a:extLst>
          </p:cNvPr>
          <p:cNvSpPr/>
          <p:nvPr/>
        </p:nvSpPr>
        <p:spPr>
          <a:xfrm>
            <a:off x="642833" y="4224958"/>
            <a:ext cx="12033706" cy="2585323"/>
          </a:xfrm>
          <a:prstGeom prst="rect">
            <a:avLst/>
          </a:prstGeom>
          <a:solidFill>
            <a:schemeClr val="accent4">
              <a:lumMod val="60000"/>
              <a:lumOff val="40000"/>
            </a:schemeClr>
          </a:solidFill>
        </p:spPr>
        <p:txBody>
          <a:bodyPr wrap="square">
            <a:spAutoFit/>
          </a:bodyPr>
          <a:lstStyle/>
          <a:p>
            <a:r>
              <a:rPr lang="en-US" dirty="0">
                <a:solidFill>
                  <a:srgbClr val="0000FF"/>
                </a:solidFill>
                <a:latin typeface="Consolas" panose="020B0609020204030204" pitchFamily="49" charset="0"/>
              </a:rPr>
              <a:t>private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txtCustSurname_TextChanged</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object</a:t>
            </a:r>
            <a:r>
              <a:rPr lang="en-US" dirty="0">
                <a:solidFill>
                  <a:srgbClr val="000000"/>
                </a:solidFill>
                <a:latin typeface="Consolas" panose="020B0609020204030204" pitchFamily="49" charset="0"/>
              </a:rPr>
              <a:t> sender, </a:t>
            </a:r>
            <a:r>
              <a:rPr lang="en-US" dirty="0" err="1">
                <a:solidFill>
                  <a:srgbClr val="000000"/>
                </a:solidFill>
                <a:latin typeface="Consolas" panose="020B0609020204030204" pitchFamily="49" charset="0"/>
              </a:rPr>
              <a:t>EventArgs</a:t>
            </a:r>
            <a:r>
              <a:rPr lang="en-US" dirty="0">
                <a:solidFill>
                  <a:srgbClr val="000000"/>
                </a:solidFill>
                <a:latin typeface="Consolas" panose="020B0609020204030204" pitchFamily="49" charset="0"/>
              </a:rPr>
              <a:t> e)</a:t>
            </a:r>
          </a:p>
          <a:p>
            <a:r>
              <a:rPr lang="en-ZA" dirty="0">
                <a:solidFill>
                  <a:srgbClr val="000000"/>
                </a:solidFill>
                <a:latin typeface="Consolas" panose="020B0609020204030204" pitchFamily="49" charset="0"/>
              </a:rPr>
              <a:t> {</a:t>
            </a:r>
          </a:p>
          <a:p>
            <a:r>
              <a:rPr lang="en-ZA" dirty="0">
                <a:solidFill>
                  <a:srgbClr val="000000"/>
                </a:solidFill>
                <a:latin typeface="Consolas" panose="020B0609020204030204" pitchFamily="49" charset="0"/>
              </a:rPr>
              <a:t>    taCust1.FillBySurname(</a:t>
            </a:r>
            <a:r>
              <a:rPr lang="en-ZA" dirty="0" err="1">
                <a:solidFill>
                  <a:srgbClr val="000000"/>
                </a:solidFill>
                <a:latin typeface="Consolas" panose="020B0609020204030204" pitchFamily="49" charset="0"/>
              </a:rPr>
              <a:t>dsAppt.Cust</a:t>
            </a:r>
            <a:r>
              <a:rPr lang="en-ZA" dirty="0">
                <a:solidFill>
                  <a:srgbClr val="000000"/>
                </a:solidFill>
                <a:latin typeface="Consolas" panose="020B0609020204030204" pitchFamily="49" charset="0"/>
              </a:rPr>
              <a:t>, </a:t>
            </a:r>
            <a:r>
              <a:rPr lang="en-ZA" dirty="0" err="1">
                <a:solidFill>
                  <a:srgbClr val="000000"/>
                </a:solidFill>
                <a:latin typeface="Consolas" panose="020B0609020204030204" pitchFamily="49" charset="0"/>
              </a:rPr>
              <a:t>txtCustSurname.Text</a:t>
            </a:r>
            <a:r>
              <a:rPr lang="en-ZA" dirty="0">
                <a:solidFill>
                  <a:srgbClr val="000000"/>
                </a:solidFill>
                <a:latin typeface="Consolas" panose="020B0609020204030204" pitchFamily="49" charset="0"/>
              </a:rPr>
              <a:t>);</a:t>
            </a:r>
          </a:p>
          <a:p>
            <a:r>
              <a:rPr lang="en-ZA" dirty="0">
                <a:solidFill>
                  <a:srgbClr val="000000"/>
                </a:solidFill>
                <a:latin typeface="Consolas" panose="020B0609020204030204" pitchFamily="49" charset="0"/>
              </a:rPr>
              <a:t> }</a:t>
            </a:r>
          </a:p>
          <a:p>
            <a:r>
              <a:rPr lang="en-ZA" dirty="0">
                <a:solidFill>
                  <a:srgbClr val="0000FF"/>
                </a:solidFill>
                <a:latin typeface="Consolas" panose="020B0609020204030204" pitchFamily="49" charset="0"/>
              </a:rPr>
              <a:t>private</a:t>
            </a:r>
            <a:r>
              <a:rPr lang="en-ZA" dirty="0">
                <a:solidFill>
                  <a:srgbClr val="000000"/>
                </a:solidFill>
                <a:latin typeface="Consolas" panose="020B0609020204030204" pitchFamily="49" charset="0"/>
              </a:rPr>
              <a:t> </a:t>
            </a:r>
            <a:r>
              <a:rPr lang="en-ZA" dirty="0">
                <a:solidFill>
                  <a:srgbClr val="0000FF"/>
                </a:solidFill>
                <a:latin typeface="Consolas" panose="020B0609020204030204" pitchFamily="49" charset="0"/>
              </a:rPr>
              <a:t>void</a:t>
            </a:r>
            <a:r>
              <a:rPr lang="en-ZA" dirty="0">
                <a:solidFill>
                  <a:srgbClr val="000000"/>
                </a:solidFill>
                <a:latin typeface="Consolas" panose="020B0609020204030204" pitchFamily="49" charset="0"/>
              </a:rPr>
              <a:t> monthCalendar1_DateChanged(</a:t>
            </a:r>
            <a:r>
              <a:rPr lang="en-ZA" dirty="0">
                <a:solidFill>
                  <a:srgbClr val="0000FF"/>
                </a:solidFill>
                <a:latin typeface="Consolas" panose="020B0609020204030204" pitchFamily="49" charset="0"/>
              </a:rPr>
              <a:t>object</a:t>
            </a:r>
            <a:r>
              <a:rPr lang="en-ZA" dirty="0">
                <a:solidFill>
                  <a:srgbClr val="000000"/>
                </a:solidFill>
                <a:latin typeface="Consolas" panose="020B0609020204030204" pitchFamily="49" charset="0"/>
              </a:rPr>
              <a:t> sender, </a:t>
            </a:r>
            <a:r>
              <a:rPr lang="en-ZA" dirty="0" err="1">
                <a:solidFill>
                  <a:srgbClr val="000000"/>
                </a:solidFill>
                <a:latin typeface="Consolas" panose="020B0609020204030204" pitchFamily="49" charset="0"/>
              </a:rPr>
              <a:t>DateRangeEventArgs</a:t>
            </a:r>
            <a:r>
              <a:rPr lang="en-ZA" dirty="0">
                <a:solidFill>
                  <a:srgbClr val="000000"/>
                </a:solidFill>
                <a:latin typeface="Consolas" panose="020B0609020204030204" pitchFamily="49" charset="0"/>
              </a:rPr>
              <a:t> e)</a:t>
            </a:r>
          </a:p>
          <a:p>
            <a:r>
              <a:rPr lang="en-ZA" dirty="0">
                <a:solidFill>
                  <a:srgbClr val="000000"/>
                </a:solidFill>
                <a:latin typeface="Consolas" panose="020B0609020204030204" pitchFamily="49" charset="0"/>
              </a:rPr>
              <a:t>{</a:t>
            </a:r>
          </a:p>
          <a:p>
            <a:r>
              <a:rPr lang="en-ZA" dirty="0">
                <a:solidFill>
                  <a:srgbClr val="000000"/>
                </a:solidFill>
                <a:latin typeface="Consolas" panose="020B0609020204030204" pitchFamily="49" charset="0"/>
              </a:rPr>
              <a:t> </a:t>
            </a:r>
            <a:r>
              <a:rPr lang="en-ZA" dirty="0" err="1">
                <a:solidFill>
                  <a:srgbClr val="000000"/>
                </a:solidFill>
                <a:latin typeface="Consolas" panose="020B0609020204030204" pitchFamily="49" charset="0"/>
              </a:rPr>
              <a:t>taPreviousApp.FillByDate</a:t>
            </a:r>
            <a:r>
              <a:rPr lang="en-ZA" dirty="0">
                <a:solidFill>
                  <a:srgbClr val="000000"/>
                </a:solidFill>
                <a:latin typeface="Consolas" panose="020B0609020204030204" pitchFamily="49" charset="0"/>
              </a:rPr>
              <a:t>(dsAppt.PreviousAppoint,monthCalendar1.SelectionRange.Start);</a:t>
            </a:r>
          </a:p>
          <a:p>
            <a:r>
              <a:rPr lang="en-ZA" dirty="0">
                <a:solidFill>
                  <a:srgbClr val="000000"/>
                </a:solidFill>
                <a:latin typeface="Consolas" panose="020B0609020204030204" pitchFamily="49" charset="0"/>
              </a:rPr>
              <a:t> </a:t>
            </a:r>
            <a:r>
              <a:rPr lang="en-ZA" sz="1400" dirty="0" err="1">
                <a:solidFill>
                  <a:srgbClr val="000000"/>
                </a:solidFill>
                <a:latin typeface="Consolas" panose="020B0609020204030204" pitchFamily="49" charset="0"/>
              </a:rPr>
              <a:t>taSlotsAvailable.FillbyAvailableTimeSlots</a:t>
            </a:r>
            <a:r>
              <a:rPr lang="en-ZA" sz="1400" dirty="0">
                <a:solidFill>
                  <a:srgbClr val="000000"/>
                </a:solidFill>
                <a:latin typeface="Consolas" panose="020B0609020204030204" pitchFamily="49" charset="0"/>
              </a:rPr>
              <a:t>(</a:t>
            </a:r>
            <a:r>
              <a:rPr lang="en-ZA" sz="1400" dirty="0" err="1">
                <a:solidFill>
                  <a:srgbClr val="000000"/>
                </a:solidFill>
                <a:latin typeface="Consolas" panose="020B0609020204030204" pitchFamily="49" charset="0"/>
              </a:rPr>
              <a:t>dsAppt.DTTimeSlotsAvailable</a:t>
            </a:r>
            <a:r>
              <a:rPr lang="en-ZA" sz="1400" dirty="0">
                <a:solidFill>
                  <a:srgbClr val="000000"/>
                </a:solidFill>
                <a:latin typeface="Consolas" panose="020B0609020204030204" pitchFamily="49" charset="0"/>
              </a:rPr>
              <a:t>, monthCalendar1.SelectionRange.Start);</a:t>
            </a:r>
            <a:endParaRPr lang="en-ZA" dirty="0">
              <a:solidFill>
                <a:srgbClr val="000000"/>
              </a:solidFill>
              <a:latin typeface="Consolas" panose="020B0609020204030204" pitchFamily="49" charset="0"/>
            </a:endParaRPr>
          </a:p>
          <a:p>
            <a:r>
              <a:rPr lang="en-ZA" dirty="0">
                <a:solidFill>
                  <a:srgbClr val="000000"/>
                </a:solidFill>
                <a:latin typeface="Consolas" panose="020B0609020204030204" pitchFamily="49" charset="0"/>
              </a:rPr>
              <a:t>}</a:t>
            </a:r>
            <a:endParaRPr lang="en-ZA" dirty="0"/>
          </a:p>
        </p:txBody>
      </p:sp>
    </p:spTree>
    <p:extLst>
      <p:ext uri="{BB962C8B-B14F-4D97-AF65-F5344CB8AC3E}">
        <p14:creationId xmlns:p14="http://schemas.microsoft.com/office/powerpoint/2010/main" val="35776100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2EDE0-724E-4813-8F5C-543797577437}"/>
              </a:ext>
            </a:extLst>
          </p:cNvPr>
          <p:cNvSpPr>
            <a:spLocks noGrp="1"/>
          </p:cNvSpPr>
          <p:nvPr>
            <p:ph type="title"/>
          </p:nvPr>
        </p:nvSpPr>
        <p:spPr/>
        <p:txBody>
          <a:bodyPr>
            <a:normAutofit fontScale="90000"/>
          </a:bodyPr>
          <a:lstStyle/>
          <a:p>
            <a:r>
              <a:rPr lang="en-ZA" dirty="0"/>
              <a:t>The Full Code </a:t>
            </a:r>
          </a:p>
        </p:txBody>
      </p:sp>
      <p:sp>
        <p:nvSpPr>
          <p:cNvPr id="3" name="Content Placeholder 2">
            <a:extLst>
              <a:ext uri="{FF2B5EF4-FFF2-40B4-BE49-F238E27FC236}">
                <a16:creationId xmlns:a16="http://schemas.microsoft.com/office/drawing/2014/main" id="{6E885803-CC49-4293-9E26-642EE573F43B}"/>
              </a:ext>
            </a:extLst>
          </p:cNvPr>
          <p:cNvSpPr>
            <a:spLocks noGrp="1"/>
          </p:cNvSpPr>
          <p:nvPr>
            <p:ph idx="1"/>
          </p:nvPr>
        </p:nvSpPr>
        <p:spPr>
          <a:xfrm>
            <a:off x="959867" y="969972"/>
            <a:ext cx="11073839" cy="419558"/>
          </a:xfrm>
        </p:spPr>
        <p:txBody>
          <a:bodyPr/>
          <a:lstStyle/>
          <a:p>
            <a:r>
              <a:rPr lang="en-ZA" dirty="0"/>
              <a:t>Selecting a Customer</a:t>
            </a:r>
          </a:p>
        </p:txBody>
      </p:sp>
      <p:sp>
        <p:nvSpPr>
          <p:cNvPr id="5" name="Rectangle 4">
            <a:extLst>
              <a:ext uri="{FF2B5EF4-FFF2-40B4-BE49-F238E27FC236}">
                <a16:creationId xmlns:a16="http://schemas.microsoft.com/office/drawing/2014/main" id="{857931B8-0764-474C-A5EA-E402F578D6C4}"/>
              </a:ext>
            </a:extLst>
          </p:cNvPr>
          <p:cNvSpPr/>
          <p:nvPr/>
        </p:nvSpPr>
        <p:spPr>
          <a:xfrm>
            <a:off x="779929" y="2510118"/>
            <a:ext cx="12129247" cy="2031325"/>
          </a:xfrm>
          <a:prstGeom prst="rect">
            <a:avLst/>
          </a:prstGeom>
          <a:solidFill>
            <a:schemeClr val="accent4">
              <a:lumMod val="60000"/>
              <a:lumOff val="40000"/>
            </a:schemeClr>
          </a:solidFill>
        </p:spPr>
        <p:txBody>
          <a:bodyPr wrap="square">
            <a:spAutoFit/>
          </a:bodyPr>
          <a:lstStyle/>
          <a:p>
            <a:r>
              <a:rPr lang="en-ZA" dirty="0">
                <a:solidFill>
                  <a:srgbClr val="000000"/>
                </a:solidFill>
                <a:latin typeface="Consolas" panose="020B0609020204030204" pitchFamily="49" charset="0"/>
              </a:rPr>
              <a:t> </a:t>
            </a:r>
            <a:r>
              <a:rPr lang="en-ZA" dirty="0">
                <a:solidFill>
                  <a:srgbClr val="0000FF"/>
                </a:solidFill>
                <a:latin typeface="Consolas" panose="020B0609020204030204" pitchFamily="49" charset="0"/>
              </a:rPr>
              <a:t>private</a:t>
            </a:r>
            <a:r>
              <a:rPr lang="en-ZA" dirty="0">
                <a:solidFill>
                  <a:srgbClr val="000000"/>
                </a:solidFill>
                <a:latin typeface="Consolas" panose="020B0609020204030204" pitchFamily="49" charset="0"/>
              </a:rPr>
              <a:t> </a:t>
            </a:r>
            <a:r>
              <a:rPr lang="en-ZA" dirty="0">
                <a:solidFill>
                  <a:srgbClr val="0000FF"/>
                </a:solidFill>
                <a:latin typeface="Consolas" panose="020B0609020204030204" pitchFamily="49" charset="0"/>
              </a:rPr>
              <a:t>void</a:t>
            </a:r>
            <a:r>
              <a:rPr lang="en-ZA" dirty="0">
                <a:solidFill>
                  <a:srgbClr val="000000"/>
                </a:solidFill>
                <a:latin typeface="Consolas" panose="020B0609020204030204" pitchFamily="49" charset="0"/>
              </a:rPr>
              <a:t> </a:t>
            </a:r>
            <a:r>
              <a:rPr lang="en-ZA" dirty="0" err="1">
                <a:solidFill>
                  <a:srgbClr val="000000"/>
                </a:solidFill>
                <a:latin typeface="Consolas" panose="020B0609020204030204" pitchFamily="49" charset="0"/>
              </a:rPr>
              <a:t>dgvCustomer_RowHeaderMouseDoubleClick</a:t>
            </a:r>
            <a:r>
              <a:rPr lang="en-ZA" dirty="0">
                <a:solidFill>
                  <a:srgbClr val="000000"/>
                </a:solidFill>
                <a:latin typeface="Consolas" panose="020B0609020204030204" pitchFamily="49" charset="0"/>
              </a:rPr>
              <a:t>(</a:t>
            </a:r>
            <a:r>
              <a:rPr lang="en-ZA" dirty="0">
                <a:solidFill>
                  <a:srgbClr val="0000FF"/>
                </a:solidFill>
                <a:latin typeface="Consolas" panose="020B0609020204030204" pitchFamily="49" charset="0"/>
              </a:rPr>
              <a:t>object</a:t>
            </a:r>
            <a:r>
              <a:rPr lang="en-ZA" dirty="0">
                <a:solidFill>
                  <a:srgbClr val="000000"/>
                </a:solidFill>
                <a:latin typeface="Consolas" panose="020B0609020204030204" pitchFamily="49" charset="0"/>
              </a:rPr>
              <a:t> sender, </a:t>
            </a:r>
            <a:r>
              <a:rPr lang="en-ZA" dirty="0" err="1">
                <a:solidFill>
                  <a:srgbClr val="000000"/>
                </a:solidFill>
                <a:latin typeface="Consolas" panose="020B0609020204030204" pitchFamily="49" charset="0"/>
              </a:rPr>
              <a:t>DataGridViewCellMouseEventArgs</a:t>
            </a:r>
            <a:r>
              <a:rPr lang="en-ZA" dirty="0">
                <a:solidFill>
                  <a:srgbClr val="000000"/>
                </a:solidFill>
                <a:latin typeface="Consolas" panose="020B0609020204030204" pitchFamily="49" charset="0"/>
              </a:rPr>
              <a:t> e)</a:t>
            </a:r>
          </a:p>
          <a:p>
            <a:r>
              <a:rPr lang="en-ZA" dirty="0">
                <a:solidFill>
                  <a:srgbClr val="000000"/>
                </a:solidFill>
                <a:latin typeface="Consolas" panose="020B0609020204030204" pitchFamily="49" charset="0"/>
              </a:rPr>
              <a:t>        {</a:t>
            </a:r>
          </a:p>
          <a:p>
            <a:r>
              <a:rPr lang="en-ZA" dirty="0">
                <a:solidFill>
                  <a:srgbClr val="000000"/>
                </a:solidFill>
                <a:latin typeface="Consolas" panose="020B0609020204030204" pitchFamily="49" charset="0"/>
              </a:rPr>
              <a:t>            </a:t>
            </a:r>
            <a:r>
              <a:rPr lang="en-ZA" dirty="0" err="1">
                <a:solidFill>
                  <a:srgbClr val="000000"/>
                </a:solidFill>
                <a:latin typeface="Consolas" panose="020B0609020204030204" pitchFamily="49" charset="0"/>
              </a:rPr>
              <a:t>lblFirstName.Text</a:t>
            </a:r>
            <a:r>
              <a:rPr lang="en-ZA" dirty="0">
                <a:solidFill>
                  <a:srgbClr val="000000"/>
                </a:solidFill>
                <a:latin typeface="Consolas" panose="020B0609020204030204" pitchFamily="49" charset="0"/>
              </a:rPr>
              <a:t> = </a:t>
            </a:r>
            <a:r>
              <a:rPr lang="en-ZA" dirty="0" err="1">
                <a:solidFill>
                  <a:srgbClr val="000000"/>
                </a:solidFill>
                <a:latin typeface="Consolas" panose="020B0609020204030204" pitchFamily="49" charset="0"/>
              </a:rPr>
              <a:t>dgvCustomer.CurrentRow.Cells</a:t>
            </a:r>
            <a:r>
              <a:rPr lang="en-ZA" dirty="0">
                <a:solidFill>
                  <a:srgbClr val="000000"/>
                </a:solidFill>
                <a:latin typeface="Consolas" panose="020B0609020204030204" pitchFamily="49" charset="0"/>
              </a:rPr>
              <a:t>[1].</a:t>
            </a:r>
            <a:r>
              <a:rPr lang="en-ZA" dirty="0" err="1">
                <a:solidFill>
                  <a:srgbClr val="000000"/>
                </a:solidFill>
                <a:latin typeface="Consolas" panose="020B0609020204030204" pitchFamily="49" charset="0"/>
              </a:rPr>
              <a:t>Value.ToString</a:t>
            </a:r>
            <a:r>
              <a:rPr lang="en-ZA" dirty="0">
                <a:solidFill>
                  <a:srgbClr val="000000"/>
                </a:solidFill>
                <a:latin typeface="Consolas" panose="020B0609020204030204" pitchFamily="49" charset="0"/>
              </a:rPr>
              <a:t>();</a:t>
            </a:r>
          </a:p>
          <a:p>
            <a:r>
              <a:rPr lang="en-ZA" dirty="0">
                <a:solidFill>
                  <a:srgbClr val="000000"/>
                </a:solidFill>
                <a:latin typeface="Consolas" panose="020B0609020204030204" pitchFamily="49" charset="0"/>
              </a:rPr>
              <a:t>            </a:t>
            </a:r>
            <a:r>
              <a:rPr lang="en-ZA" dirty="0" err="1">
                <a:solidFill>
                  <a:srgbClr val="000000"/>
                </a:solidFill>
                <a:latin typeface="Consolas" panose="020B0609020204030204" pitchFamily="49" charset="0"/>
              </a:rPr>
              <a:t>lblSurname.Text</a:t>
            </a:r>
            <a:r>
              <a:rPr lang="en-ZA" dirty="0">
                <a:solidFill>
                  <a:srgbClr val="000000"/>
                </a:solidFill>
                <a:latin typeface="Consolas" panose="020B0609020204030204" pitchFamily="49" charset="0"/>
              </a:rPr>
              <a:t> = </a:t>
            </a:r>
            <a:r>
              <a:rPr lang="en-ZA" dirty="0" err="1">
                <a:solidFill>
                  <a:srgbClr val="000000"/>
                </a:solidFill>
                <a:latin typeface="Consolas" panose="020B0609020204030204" pitchFamily="49" charset="0"/>
              </a:rPr>
              <a:t>dgvCustomer.CurrentRow.Cells</a:t>
            </a:r>
            <a:r>
              <a:rPr lang="en-ZA" dirty="0">
                <a:solidFill>
                  <a:srgbClr val="000000"/>
                </a:solidFill>
                <a:latin typeface="Consolas" panose="020B0609020204030204" pitchFamily="49" charset="0"/>
              </a:rPr>
              <a:t>[2].</a:t>
            </a:r>
            <a:r>
              <a:rPr lang="en-ZA" dirty="0" err="1">
                <a:solidFill>
                  <a:srgbClr val="000000"/>
                </a:solidFill>
                <a:latin typeface="Consolas" panose="020B0609020204030204" pitchFamily="49" charset="0"/>
              </a:rPr>
              <a:t>Value.ToString</a:t>
            </a:r>
            <a:r>
              <a:rPr lang="en-ZA" dirty="0">
                <a:solidFill>
                  <a:srgbClr val="000000"/>
                </a:solidFill>
                <a:latin typeface="Consolas" panose="020B0609020204030204" pitchFamily="49" charset="0"/>
              </a:rPr>
              <a:t>();</a:t>
            </a:r>
          </a:p>
          <a:p>
            <a:r>
              <a:rPr lang="en-ZA" dirty="0">
                <a:solidFill>
                  <a:srgbClr val="000000"/>
                </a:solidFill>
                <a:latin typeface="Consolas" panose="020B0609020204030204" pitchFamily="49" charset="0"/>
              </a:rPr>
              <a:t>            </a:t>
            </a:r>
            <a:r>
              <a:rPr lang="en-ZA" dirty="0" err="1">
                <a:solidFill>
                  <a:srgbClr val="000000"/>
                </a:solidFill>
                <a:latin typeface="Consolas" panose="020B0609020204030204" pitchFamily="49" charset="0"/>
              </a:rPr>
              <a:t>lblCustID.Text</a:t>
            </a:r>
            <a:r>
              <a:rPr lang="en-ZA" dirty="0">
                <a:solidFill>
                  <a:srgbClr val="000000"/>
                </a:solidFill>
                <a:latin typeface="Consolas" panose="020B0609020204030204" pitchFamily="49" charset="0"/>
              </a:rPr>
              <a:t>= </a:t>
            </a:r>
            <a:r>
              <a:rPr lang="en-ZA" dirty="0" err="1">
                <a:solidFill>
                  <a:srgbClr val="000000"/>
                </a:solidFill>
                <a:latin typeface="Consolas" panose="020B0609020204030204" pitchFamily="49" charset="0"/>
              </a:rPr>
              <a:t>dgvCustomer.CurrentRow.Cells</a:t>
            </a:r>
            <a:r>
              <a:rPr lang="en-ZA" dirty="0">
                <a:solidFill>
                  <a:srgbClr val="000000"/>
                </a:solidFill>
                <a:latin typeface="Consolas" panose="020B0609020204030204" pitchFamily="49" charset="0"/>
              </a:rPr>
              <a:t>[0].</a:t>
            </a:r>
            <a:r>
              <a:rPr lang="en-ZA" dirty="0" err="1">
                <a:solidFill>
                  <a:srgbClr val="000000"/>
                </a:solidFill>
                <a:latin typeface="Consolas" panose="020B0609020204030204" pitchFamily="49" charset="0"/>
              </a:rPr>
              <a:t>Value.ToString</a:t>
            </a:r>
            <a:r>
              <a:rPr lang="en-ZA" dirty="0">
                <a:solidFill>
                  <a:srgbClr val="000000"/>
                </a:solidFill>
                <a:latin typeface="Consolas" panose="020B0609020204030204" pitchFamily="49" charset="0"/>
              </a:rPr>
              <a:t>();</a:t>
            </a:r>
          </a:p>
          <a:p>
            <a:r>
              <a:rPr lang="en-ZA" dirty="0">
                <a:solidFill>
                  <a:srgbClr val="000000"/>
                </a:solidFill>
                <a:latin typeface="Consolas" panose="020B0609020204030204" pitchFamily="49" charset="0"/>
              </a:rPr>
              <a:t>        }</a:t>
            </a:r>
            <a:endParaRPr lang="en-ZA" dirty="0"/>
          </a:p>
        </p:txBody>
      </p:sp>
    </p:spTree>
    <p:extLst>
      <p:ext uri="{BB962C8B-B14F-4D97-AF65-F5344CB8AC3E}">
        <p14:creationId xmlns:p14="http://schemas.microsoft.com/office/powerpoint/2010/main" val="7944274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BE8D6-4790-41A2-8600-CEFB4D6D1F16}"/>
              </a:ext>
            </a:extLst>
          </p:cNvPr>
          <p:cNvSpPr>
            <a:spLocks noGrp="1"/>
          </p:cNvSpPr>
          <p:nvPr>
            <p:ph type="title"/>
          </p:nvPr>
        </p:nvSpPr>
        <p:spPr/>
        <p:txBody>
          <a:bodyPr>
            <a:normAutofit fontScale="90000"/>
          </a:bodyPr>
          <a:lstStyle/>
          <a:p>
            <a:r>
              <a:rPr lang="en-ZA" dirty="0"/>
              <a:t>Confirming the Booking</a:t>
            </a:r>
          </a:p>
        </p:txBody>
      </p:sp>
      <p:sp>
        <p:nvSpPr>
          <p:cNvPr id="3" name="Content Placeholder 2">
            <a:extLst>
              <a:ext uri="{FF2B5EF4-FFF2-40B4-BE49-F238E27FC236}">
                <a16:creationId xmlns:a16="http://schemas.microsoft.com/office/drawing/2014/main" id="{A5DE3E22-CBF0-466A-901F-E506EB1E61A8}"/>
              </a:ext>
            </a:extLst>
          </p:cNvPr>
          <p:cNvSpPr>
            <a:spLocks noGrp="1"/>
          </p:cNvSpPr>
          <p:nvPr>
            <p:ph idx="1"/>
          </p:nvPr>
        </p:nvSpPr>
        <p:spPr>
          <a:xfrm>
            <a:off x="959867" y="969972"/>
            <a:ext cx="11073839" cy="437488"/>
          </a:xfrm>
        </p:spPr>
        <p:txBody>
          <a:bodyPr/>
          <a:lstStyle/>
          <a:p>
            <a:endParaRPr lang="en-ZA"/>
          </a:p>
        </p:txBody>
      </p:sp>
      <p:sp>
        <p:nvSpPr>
          <p:cNvPr id="4" name="Rectangle 3">
            <a:extLst>
              <a:ext uri="{FF2B5EF4-FFF2-40B4-BE49-F238E27FC236}">
                <a16:creationId xmlns:a16="http://schemas.microsoft.com/office/drawing/2014/main" id="{F124097B-BC99-4263-B951-392319F5723B}"/>
              </a:ext>
            </a:extLst>
          </p:cNvPr>
          <p:cNvSpPr/>
          <p:nvPr/>
        </p:nvSpPr>
        <p:spPr>
          <a:xfrm>
            <a:off x="158294" y="1188716"/>
            <a:ext cx="12294326" cy="4524315"/>
          </a:xfrm>
          <a:prstGeom prst="rect">
            <a:avLst/>
          </a:prstGeom>
          <a:solidFill>
            <a:schemeClr val="accent4">
              <a:lumMod val="60000"/>
              <a:lumOff val="40000"/>
            </a:schemeClr>
          </a:solidFill>
        </p:spPr>
        <p:txBody>
          <a:bodyPr wrap="square">
            <a:spAutoFit/>
          </a:bodyPr>
          <a:lstStyle/>
          <a:p>
            <a:r>
              <a:rPr lang="en-ZA" sz="1600" dirty="0">
                <a:solidFill>
                  <a:srgbClr val="000000"/>
                </a:solidFill>
                <a:latin typeface="Consolas" panose="020B0609020204030204" pitchFamily="49" charset="0"/>
              </a:rPr>
              <a:t> </a:t>
            </a:r>
            <a:r>
              <a:rPr lang="en-ZA" sz="1600" dirty="0">
                <a:solidFill>
                  <a:srgbClr val="0000FF"/>
                </a:solidFill>
                <a:latin typeface="Consolas" panose="020B0609020204030204" pitchFamily="49" charset="0"/>
              </a:rPr>
              <a:t>private</a:t>
            </a:r>
            <a:r>
              <a:rPr lang="en-ZA" sz="1600" dirty="0">
                <a:solidFill>
                  <a:srgbClr val="000000"/>
                </a:solidFill>
                <a:latin typeface="Consolas" panose="020B0609020204030204" pitchFamily="49" charset="0"/>
              </a:rPr>
              <a:t> </a:t>
            </a:r>
            <a:r>
              <a:rPr lang="en-ZA" sz="1600" dirty="0">
                <a:solidFill>
                  <a:srgbClr val="0000FF"/>
                </a:solidFill>
                <a:latin typeface="Consolas" panose="020B0609020204030204" pitchFamily="49" charset="0"/>
              </a:rPr>
              <a:t>void</a:t>
            </a:r>
            <a:r>
              <a:rPr lang="en-ZA" sz="1600" dirty="0">
                <a:solidFill>
                  <a:srgbClr val="000000"/>
                </a:solidFill>
                <a:latin typeface="Consolas" panose="020B0609020204030204" pitchFamily="49" charset="0"/>
              </a:rPr>
              <a:t> </a:t>
            </a:r>
            <a:r>
              <a:rPr lang="en-ZA" sz="1600" dirty="0" err="1">
                <a:solidFill>
                  <a:srgbClr val="000000"/>
                </a:solidFill>
                <a:latin typeface="Consolas" panose="020B0609020204030204" pitchFamily="49" charset="0"/>
              </a:rPr>
              <a:t>btnConfirm_Click</a:t>
            </a:r>
            <a:r>
              <a:rPr lang="en-ZA" sz="1600" dirty="0">
                <a:solidFill>
                  <a:srgbClr val="000000"/>
                </a:solidFill>
                <a:latin typeface="Consolas" panose="020B0609020204030204" pitchFamily="49" charset="0"/>
              </a:rPr>
              <a:t>(</a:t>
            </a:r>
            <a:r>
              <a:rPr lang="en-ZA" sz="1600" dirty="0">
                <a:solidFill>
                  <a:srgbClr val="0000FF"/>
                </a:solidFill>
                <a:latin typeface="Consolas" panose="020B0609020204030204" pitchFamily="49" charset="0"/>
              </a:rPr>
              <a:t>object</a:t>
            </a:r>
            <a:r>
              <a:rPr lang="en-ZA" sz="1600" dirty="0">
                <a:solidFill>
                  <a:srgbClr val="000000"/>
                </a:solidFill>
                <a:latin typeface="Consolas" panose="020B0609020204030204" pitchFamily="49" charset="0"/>
              </a:rPr>
              <a:t> sender, </a:t>
            </a:r>
            <a:r>
              <a:rPr lang="en-ZA" sz="1600" dirty="0" err="1">
                <a:solidFill>
                  <a:srgbClr val="000000"/>
                </a:solidFill>
                <a:latin typeface="Consolas" panose="020B0609020204030204" pitchFamily="49" charset="0"/>
              </a:rPr>
              <a:t>EventArgs</a:t>
            </a:r>
            <a:r>
              <a:rPr lang="en-ZA" sz="1600" dirty="0">
                <a:solidFill>
                  <a:srgbClr val="000000"/>
                </a:solidFill>
                <a:latin typeface="Consolas" panose="020B0609020204030204" pitchFamily="49" charset="0"/>
              </a:rPr>
              <a:t> e)</a:t>
            </a:r>
          </a:p>
          <a:p>
            <a:r>
              <a:rPr lang="en-ZA"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if</a:t>
            </a:r>
            <a:r>
              <a:rPr lang="en-US" sz="1600" dirty="0">
                <a:solidFill>
                  <a:srgbClr val="000000"/>
                </a:solidFill>
                <a:latin typeface="Consolas" panose="020B0609020204030204" pitchFamily="49" charset="0"/>
              </a:rPr>
              <a:t> (monthCalendar1.SelectionRange.Start &lt; </a:t>
            </a:r>
            <a:r>
              <a:rPr lang="en-US" sz="1600" dirty="0" err="1">
                <a:solidFill>
                  <a:srgbClr val="000000"/>
                </a:solidFill>
                <a:latin typeface="Consolas" panose="020B0609020204030204" pitchFamily="49" charset="0"/>
              </a:rPr>
              <a:t>DateTime.Today</a:t>
            </a:r>
            <a:r>
              <a:rPr lang="en-US" sz="1600" dirty="0">
                <a:solidFill>
                  <a:srgbClr val="000000"/>
                </a:solidFill>
                <a:latin typeface="Consolas" panose="020B0609020204030204" pitchFamily="49" charset="0"/>
              </a:rPr>
              <a:t>)</a:t>
            </a:r>
          </a:p>
          <a:p>
            <a:r>
              <a:rPr lang="en-ZA"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MessageBox.Show</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"Cannot book prior to today"</a:t>
            </a:r>
            <a:r>
              <a:rPr lang="en-US" sz="1600" dirty="0">
                <a:solidFill>
                  <a:srgbClr val="000000"/>
                </a:solidFill>
                <a:latin typeface="Consolas" panose="020B0609020204030204" pitchFamily="49" charset="0"/>
              </a:rPr>
              <a:t>);</a:t>
            </a:r>
          </a:p>
          <a:p>
            <a:r>
              <a:rPr lang="en-ZA" sz="1600" dirty="0">
                <a:solidFill>
                  <a:srgbClr val="000000"/>
                </a:solidFill>
                <a:latin typeface="Consolas" panose="020B0609020204030204" pitchFamily="49" charset="0"/>
              </a:rPr>
              <a:t>     }</a:t>
            </a:r>
          </a:p>
          <a:p>
            <a:r>
              <a:rPr lang="en-ZA" sz="1600" dirty="0">
                <a:solidFill>
                  <a:srgbClr val="000000"/>
                </a:solidFill>
                <a:latin typeface="Consolas" panose="020B0609020204030204" pitchFamily="49" charset="0"/>
              </a:rPr>
              <a:t>     </a:t>
            </a:r>
            <a:r>
              <a:rPr lang="en-ZA" sz="1600" dirty="0">
                <a:solidFill>
                  <a:srgbClr val="0000FF"/>
                </a:solidFill>
                <a:latin typeface="Consolas" panose="020B0609020204030204" pitchFamily="49" charset="0"/>
              </a:rPr>
              <a:t>else</a:t>
            </a:r>
            <a:endParaRPr lang="en-ZA" sz="1600" dirty="0">
              <a:solidFill>
                <a:srgbClr val="000000"/>
              </a:solidFill>
              <a:latin typeface="Consolas" panose="020B0609020204030204" pitchFamily="49" charset="0"/>
            </a:endParaRPr>
          </a:p>
          <a:p>
            <a:r>
              <a:rPr lang="en-ZA"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DialogResult</a:t>
            </a:r>
            <a:r>
              <a:rPr lang="en-US" sz="1100" dirty="0">
                <a:solidFill>
                  <a:srgbClr val="000000"/>
                </a:solidFill>
                <a:latin typeface="Consolas" panose="020B0609020204030204" pitchFamily="49" charset="0"/>
              </a:rPr>
              <a:t> result = </a:t>
            </a:r>
            <a:r>
              <a:rPr lang="en-US" sz="1100" dirty="0" err="1">
                <a:solidFill>
                  <a:srgbClr val="000000"/>
                </a:solidFill>
                <a:latin typeface="Consolas" panose="020B0609020204030204" pitchFamily="49" charset="0"/>
              </a:rPr>
              <a:t>MessageBox.Show</a:t>
            </a:r>
            <a:r>
              <a:rPr lang="en-US" sz="1100" dirty="0">
                <a:solidFill>
                  <a:srgbClr val="000000"/>
                </a:solidFill>
                <a:latin typeface="Consolas" panose="020B0609020204030204" pitchFamily="49" charset="0"/>
              </a:rPr>
              <a:t>(</a:t>
            </a:r>
            <a:r>
              <a:rPr lang="en-US" sz="1100" dirty="0">
                <a:solidFill>
                  <a:srgbClr val="A31515"/>
                </a:solidFill>
                <a:latin typeface="Consolas" panose="020B0609020204030204" pitchFamily="49" charset="0"/>
              </a:rPr>
              <a:t>"Do you want to confirm the appointment booking?"</a:t>
            </a:r>
            <a:r>
              <a:rPr lang="en-US" sz="1100" dirty="0">
                <a:solidFill>
                  <a:srgbClr val="000000"/>
                </a:solidFill>
                <a:latin typeface="Consolas" panose="020B0609020204030204" pitchFamily="49" charset="0"/>
              </a:rPr>
              <a:t>, </a:t>
            </a:r>
            <a:r>
              <a:rPr lang="en-US" sz="1100" dirty="0">
                <a:solidFill>
                  <a:srgbClr val="A31515"/>
                </a:solidFill>
                <a:latin typeface="Consolas" panose="020B0609020204030204" pitchFamily="49" charset="0"/>
              </a:rPr>
              <a:t>"Appointment Confirm"</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MessageBoxButtons.OKCancel</a:t>
            </a:r>
            <a:r>
              <a:rPr lang="en-US" sz="11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ZA" sz="1600" dirty="0">
                <a:solidFill>
                  <a:srgbClr val="000000"/>
                </a:solidFill>
                <a:latin typeface="Consolas" panose="020B0609020204030204" pitchFamily="49" charset="0"/>
              </a:rPr>
              <a:t>    </a:t>
            </a:r>
            <a:r>
              <a:rPr lang="en-ZA" sz="1600" dirty="0">
                <a:solidFill>
                  <a:srgbClr val="0000FF"/>
                </a:solidFill>
                <a:latin typeface="Consolas" panose="020B0609020204030204" pitchFamily="49" charset="0"/>
              </a:rPr>
              <a:t>if</a:t>
            </a:r>
            <a:r>
              <a:rPr lang="en-ZA" sz="1600" dirty="0">
                <a:solidFill>
                  <a:srgbClr val="000000"/>
                </a:solidFill>
                <a:latin typeface="Consolas" panose="020B0609020204030204" pitchFamily="49" charset="0"/>
              </a:rPr>
              <a:t> (result == </a:t>
            </a:r>
            <a:r>
              <a:rPr lang="en-ZA" sz="1600" dirty="0" err="1">
                <a:solidFill>
                  <a:srgbClr val="000000"/>
                </a:solidFill>
                <a:latin typeface="Consolas" panose="020B0609020204030204" pitchFamily="49" charset="0"/>
              </a:rPr>
              <a:t>DialogResult.OK</a:t>
            </a:r>
            <a:r>
              <a:rPr lang="en-ZA" sz="1600" dirty="0">
                <a:solidFill>
                  <a:srgbClr val="000000"/>
                </a:solidFill>
                <a:latin typeface="Consolas" panose="020B0609020204030204" pitchFamily="49" charset="0"/>
              </a:rPr>
              <a:t>)</a:t>
            </a:r>
          </a:p>
          <a:p>
            <a:r>
              <a:rPr lang="en-ZA" sz="1600" dirty="0">
                <a:solidFill>
                  <a:srgbClr val="000000"/>
                </a:solidFill>
                <a:latin typeface="Consolas" panose="020B0609020204030204" pitchFamily="49" charset="0"/>
              </a:rPr>
              <a:t>    {</a:t>
            </a:r>
          </a:p>
          <a:p>
            <a:r>
              <a:rPr lang="en-ZA" sz="1600" dirty="0">
                <a:solidFill>
                  <a:srgbClr val="000000"/>
                </a:solidFill>
                <a:latin typeface="Consolas" panose="020B0609020204030204" pitchFamily="49" charset="0"/>
              </a:rPr>
              <a:t>     </a:t>
            </a:r>
            <a:r>
              <a:rPr lang="en-ZA" sz="1200" dirty="0" err="1">
                <a:solidFill>
                  <a:srgbClr val="000000"/>
                </a:solidFill>
                <a:latin typeface="Consolas" panose="020B0609020204030204" pitchFamily="49" charset="0"/>
              </a:rPr>
              <a:t>taAppointment.Insert</a:t>
            </a:r>
            <a:r>
              <a:rPr lang="en-ZA" sz="1200" dirty="0">
                <a:solidFill>
                  <a:srgbClr val="000000"/>
                </a:solidFill>
                <a:latin typeface="Consolas" panose="020B0609020204030204" pitchFamily="49" charset="0"/>
              </a:rPr>
              <a:t>(Convert.ToInt32(</a:t>
            </a:r>
            <a:r>
              <a:rPr lang="en-ZA" sz="1200" dirty="0" err="1">
                <a:solidFill>
                  <a:srgbClr val="000000"/>
                </a:solidFill>
                <a:latin typeface="Consolas" panose="020B0609020204030204" pitchFamily="49" charset="0"/>
              </a:rPr>
              <a:t>lblCustID.Text</a:t>
            </a:r>
            <a:r>
              <a:rPr lang="en-ZA" sz="1200" dirty="0">
                <a:solidFill>
                  <a:srgbClr val="000000"/>
                </a:solidFill>
                <a:latin typeface="Consolas" panose="020B0609020204030204" pitchFamily="49" charset="0"/>
              </a:rPr>
              <a:t>), monthCalendar1.SelectionRange.Start, (</a:t>
            </a:r>
            <a:r>
              <a:rPr lang="en-ZA" sz="1200" dirty="0">
                <a:solidFill>
                  <a:srgbClr val="0000FF"/>
                </a:solidFill>
                <a:latin typeface="Consolas" panose="020B0609020204030204" pitchFamily="49" charset="0"/>
              </a:rPr>
              <a:t>int</a:t>
            </a:r>
            <a:r>
              <a:rPr lang="en-ZA" sz="1200" dirty="0">
                <a:solidFill>
                  <a:srgbClr val="000000"/>
                </a:solidFill>
                <a:latin typeface="Consolas" panose="020B0609020204030204" pitchFamily="49" charset="0"/>
              </a:rPr>
              <a:t>)</a:t>
            </a:r>
            <a:r>
              <a:rPr lang="en-ZA" sz="1200" dirty="0" err="1">
                <a:solidFill>
                  <a:srgbClr val="000000"/>
                </a:solidFill>
                <a:latin typeface="Consolas" panose="020B0609020204030204" pitchFamily="49" charset="0"/>
              </a:rPr>
              <a:t>comboTimeSlot.SelectedValue</a:t>
            </a:r>
            <a:r>
              <a:rPr lang="en-ZA" sz="1200" dirty="0">
                <a:solidFill>
                  <a:srgbClr val="000000"/>
                </a:solidFill>
                <a:latin typeface="Consolas" panose="020B0609020204030204" pitchFamily="49" charset="0"/>
              </a:rPr>
              <a:t>);</a:t>
            </a:r>
            <a:endParaRPr lang="en-ZA"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MessageBox.Show</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"Appointment has been Confirmed"</a:t>
            </a:r>
            <a:r>
              <a:rPr lang="en-US" sz="1600" dirty="0">
                <a:solidFill>
                  <a:srgbClr val="000000"/>
                </a:solidFill>
                <a:latin typeface="Consolas" panose="020B0609020204030204" pitchFamily="49" charset="0"/>
              </a:rPr>
              <a:t>);</a:t>
            </a:r>
          </a:p>
          <a:p>
            <a:r>
              <a:rPr lang="en-ZA" sz="1600" dirty="0">
                <a:solidFill>
                  <a:srgbClr val="000000"/>
                </a:solidFill>
                <a:latin typeface="Consolas" panose="020B0609020204030204" pitchFamily="49" charset="0"/>
              </a:rPr>
              <a:t>    }</a:t>
            </a:r>
          </a:p>
          <a:p>
            <a:r>
              <a:rPr lang="en-ZA" sz="1600" dirty="0">
                <a:solidFill>
                  <a:srgbClr val="000000"/>
                </a:solidFill>
                <a:latin typeface="Consolas" panose="020B0609020204030204" pitchFamily="49" charset="0"/>
              </a:rPr>
              <a:t>     </a:t>
            </a:r>
            <a:r>
              <a:rPr lang="en-ZA" sz="1600" dirty="0" err="1">
                <a:solidFill>
                  <a:srgbClr val="000000"/>
                </a:solidFill>
                <a:latin typeface="Consolas" panose="020B0609020204030204" pitchFamily="49" charset="0"/>
              </a:rPr>
              <a:t>taPreviousApp.FillByDate</a:t>
            </a:r>
            <a:r>
              <a:rPr lang="en-ZA" sz="1600" dirty="0">
                <a:solidFill>
                  <a:srgbClr val="000000"/>
                </a:solidFill>
                <a:latin typeface="Consolas" panose="020B0609020204030204" pitchFamily="49" charset="0"/>
              </a:rPr>
              <a:t>(</a:t>
            </a:r>
            <a:r>
              <a:rPr lang="en-ZA" sz="1600" dirty="0" err="1">
                <a:solidFill>
                  <a:srgbClr val="000000"/>
                </a:solidFill>
                <a:latin typeface="Consolas" panose="020B0609020204030204" pitchFamily="49" charset="0"/>
              </a:rPr>
              <a:t>dsAppt.PreviousAppoint,DateTime.Today</a:t>
            </a:r>
            <a:r>
              <a:rPr lang="en-ZA" sz="1600" dirty="0">
                <a:solidFill>
                  <a:srgbClr val="000000"/>
                </a:solidFill>
                <a:latin typeface="Consolas" panose="020B0609020204030204" pitchFamily="49" charset="0"/>
              </a:rPr>
              <a:t>);</a:t>
            </a:r>
          </a:p>
          <a:p>
            <a:r>
              <a:rPr lang="en-ZA" sz="1600" dirty="0">
                <a:solidFill>
                  <a:srgbClr val="000000"/>
                </a:solidFill>
                <a:latin typeface="Consolas" panose="020B0609020204030204" pitchFamily="49" charset="0"/>
              </a:rPr>
              <a:t>     </a:t>
            </a:r>
            <a:r>
              <a:rPr lang="en-ZA" sz="1400" dirty="0" err="1">
                <a:solidFill>
                  <a:srgbClr val="000000"/>
                </a:solidFill>
                <a:latin typeface="Consolas" panose="020B0609020204030204" pitchFamily="49" charset="0"/>
              </a:rPr>
              <a:t>taSlotsAvailable.FillbyAvailableTimeSlots</a:t>
            </a:r>
            <a:r>
              <a:rPr lang="en-ZA" sz="1400" dirty="0">
                <a:solidFill>
                  <a:srgbClr val="000000"/>
                </a:solidFill>
                <a:latin typeface="Consolas" panose="020B0609020204030204" pitchFamily="49" charset="0"/>
              </a:rPr>
              <a:t>(</a:t>
            </a:r>
            <a:r>
              <a:rPr lang="en-ZA" sz="1400" dirty="0" err="1">
                <a:solidFill>
                  <a:srgbClr val="000000"/>
                </a:solidFill>
                <a:latin typeface="Consolas" panose="020B0609020204030204" pitchFamily="49" charset="0"/>
              </a:rPr>
              <a:t>dsAppt.DTTimeSlotsAvailable</a:t>
            </a:r>
            <a:r>
              <a:rPr lang="en-ZA" sz="1400" dirty="0">
                <a:solidFill>
                  <a:srgbClr val="000000"/>
                </a:solidFill>
                <a:latin typeface="Consolas" panose="020B0609020204030204" pitchFamily="49" charset="0"/>
              </a:rPr>
              <a:t>, monthCalendar1.SelectionRange.Start);</a:t>
            </a:r>
          </a:p>
          <a:p>
            <a:r>
              <a:rPr lang="en-ZA" sz="1600" dirty="0">
                <a:solidFill>
                  <a:srgbClr val="000000"/>
                </a:solidFill>
                <a:latin typeface="Consolas" panose="020B0609020204030204" pitchFamily="49" charset="0"/>
              </a:rPr>
              <a:t>    }</a:t>
            </a:r>
          </a:p>
          <a:p>
            <a:r>
              <a:rPr lang="en-ZA" sz="1600" dirty="0">
                <a:solidFill>
                  <a:srgbClr val="000000"/>
                </a:solidFill>
                <a:latin typeface="Consolas" panose="020B0609020204030204" pitchFamily="49" charset="0"/>
              </a:rPr>
              <a:t>   }</a:t>
            </a:r>
            <a:endParaRPr lang="en-ZA" sz="1600" dirty="0"/>
          </a:p>
        </p:txBody>
      </p:sp>
    </p:spTree>
    <p:extLst>
      <p:ext uri="{BB962C8B-B14F-4D97-AF65-F5344CB8AC3E}">
        <p14:creationId xmlns:p14="http://schemas.microsoft.com/office/powerpoint/2010/main" val="8359130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6B897-A29B-42E6-B91A-98ED3FF5CF51}"/>
              </a:ext>
            </a:extLst>
          </p:cNvPr>
          <p:cNvSpPr>
            <a:spLocks noGrp="1"/>
          </p:cNvSpPr>
          <p:nvPr>
            <p:ph type="title"/>
          </p:nvPr>
        </p:nvSpPr>
        <p:spPr/>
        <p:txBody>
          <a:bodyPr>
            <a:normAutofit fontScale="90000"/>
          </a:bodyPr>
          <a:lstStyle/>
          <a:p>
            <a:r>
              <a:rPr lang="en-ZA" dirty="0"/>
              <a:t>Cancellation</a:t>
            </a:r>
          </a:p>
        </p:txBody>
      </p:sp>
      <p:sp>
        <p:nvSpPr>
          <p:cNvPr id="4" name="Rectangle 3">
            <a:extLst>
              <a:ext uri="{FF2B5EF4-FFF2-40B4-BE49-F238E27FC236}">
                <a16:creationId xmlns:a16="http://schemas.microsoft.com/office/drawing/2014/main" id="{7EEB353C-4F9B-4946-ACF1-6C50C53DD9C1}"/>
              </a:ext>
            </a:extLst>
          </p:cNvPr>
          <p:cNvSpPr/>
          <p:nvPr/>
        </p:nvSpPr>
        <p:spPr>
          <a:xfrm>
            <a:off x="470647" y="783050"/>
            <a:ext cx="12267432" cy="4801314"/>
          </a:xfrm>
          <a:prstGeom prst="rect">
            <a:avLst/>
          </a:prstGeom>
          <a:solidFill>
            <a:schemeClr val="accent4">
              <a:lumMod val="60000"/>
              <a:lumOff val="40000"/>
            </a:schemeClr>
          </a:solidFill>
        </p:spPr>
        <p:txBody>
          <a:bodyPr wrap="square">
            <a:spAutoFit/>
          </a:bodyPr>
          <a:lstStyle/>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private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dgvCustCancel_CellClick</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object</a:t>
            </a:r>
            <a:r>
              <a:rPr lang="en-US" dirty="0">
                <a:solidFill>
                  <a:srgbClr val="000000"/>
                </a:solidFill>
                <a:latin typeface="Consolas" panose="020B0609020204030204" pitchFamily="49" charset="0"/>
              </a:rPr>
              <a:t> sender, </a:t>
            </a:r>
            <a:r>
              <a:rPr lang="en-US" dirty="0" err="1">
                <a:solidFill>
                  <a:srgbClr val="000000"/>
                </a:solidFill>
                <a:latin typeface="Consolas" panose="020B0609020204030204" pitchFamily="49" charset="0"/>
              </a:rPr>
              <a:t>DataGridViewCellEventArgs</a:t>
            </a:r>
            <a:r>
              <a:rPr lang="en-US" dirty="0">
                <a:solidFill>
                  <a:srgbClr val="000000"/>
                </a:solidFill>
                <a:latin typeface="Consolas" panose="020B0609020204030204" pitchFamily="49" charset="0"/>
              </a:rPr>
              <a:t> e)</a:t>
            </a:r>
          </a:p>
          <a:p>
            <a:r>
              <a:rPr lang="en-ZA" dirty="0">
                <a:solidFill>
                  <a:srgbClr val="000000"/>
                </a:solidFill>
                <a:latin typeface="Consolas" panose="020B0609020204030204" pitchFamily="49" charset="0"/>
              </a:rPr>
              <a:t>  {</a:t>
            </a:r>
          </a:p>
          <a:p>
            <a:r>
              <a:rPr lang="en-ZA" dirty="0">
                <a:solidFill>
                  <a:srgbClr val="000000"/>
                </a:solidFill>
                <a:latin typeface="Consolas" panose="020B0609020204030204" pitchFamily="49" charset="0"/>
              </a:rPr>
              <a:t>    </a:t>
            </a:r>
            <a:r>
              <a:rPr lang="en-ZA" sz="1600" dirty="0" err="1">
                <a:solidFill>
                  <a:srgbClr val="000000"/>
                </a:solidFill>
                <a:latin typeface="Consolas" panose="020B0609020204030204" pitchFamily="49" charset="0"/>
              </a:rPr>
              <a:t>taPreviousAppCancel.FillByCustID</a:t>
            </a:r>
            <a:r>
              <a:rPr lang="en-ZA" sz="1600" dirty="0">
                <a:solidFill>
                  <a:srgbClr val="000000"/>
                </a:solidFill>
                <a:latin typeface="Consolas" panose="020B0609020204030204" pitchFamily="49" charset="0"/>
              </a:rPr>
              <a:t>(</a:t>
            </a:r>
            <a:r>
              <a:rPr lang="en-ZA" sz="1600" dirty="0" err="1">
                <a:solidFill>
                  <a:srgbClr val="000000"/>
                </a:solidFill>
                <a:latin typeface="Consolas" panose="020B0609020204030204" pitchFamily="49" charset="0"/>
              </a:rPr>
              <a:t>dsAppt.PreviousAppoint</a:t>
            </a:r>
            <a:r>
              <a:rPr lang="en-ZA" sz="1600" dirty="0">
                <a:solidFill>
                  <a:srgbClr val="000000"/>
                </a:solidFill>
                <a:latin typeface="Consolas" panose="020B0609020204030204" pitchFamily="49" charset="0"/>
              </a:rPr>
              <a:t>, (</a:t>
            </a:r>
            <a:r>
              <a:rPr lang="en-ZA" sz="1600" dirty="0">
                <a:solidFill>
                  <a:srgbClr val="0000FF"/>
                </a:solidFill>
                <a:latin typeface="Consolas" panose="020B0609020204030204" pitchFamily="49" charset="0"/>
              </a:rPr>
              <a:t>int</a:t>
            </a:r>
            <a:r>
              <a:rPr lang="en-ZA" sz="1600" dirty="0">
                <a:solidFill>
                  <a:srgbClr val="000000"/>
                </a:solidFill>
                <a:latin typeface="Consolas" panose="020B0609020204030204" pitchFamily="49" charset="0"/>
              </a:rPr>
              <a:t>)</a:t>
            </a:r>
            <a:r>
              <a:rPr lang="en-ZA" sz="1600" dirty="0" err="1">
                <a:solidFill>
                  <a:srgbClr val="000000"/>
                </a:solidFill>
                <a:latin typeface="Consolas" panose="020B0609020204030204" pitchFamily="49" charset="0"/>
              </a:rPr>
              <a:t>dgvCustCancel.CurrentRow.Cells</a:t>
            </a:r>
            <a:r>
              <a:rPr lang="en-ZA" sz="1600" dirty="0">
                <a:solidFill>
                  <a:srgbClr val="000000"/>
                </a:solidFill>
                <a:latin typeface="Consolas" panose="020B0609020204030204" pitchFamily="49" charset="0"/>
              </a:rPr>
              <a:t>[0].Value);</a:t>
            </a:r>
          </a:p>
          <a:p>
            <a:r>
              <a:rPr lang="en-ZA" dirty="0">
                <a:solidFill>
                  <a:srgbClr val="000000"/>
                </a:solidFill>
                <a:latin typeface="Consolas" panose="020B0609020204030204" pitchFamily="49" charset="0"/>
              </a:rPr>
              <a:t>   }</a:t>
            </a:r>
          </a:p>
          <a:p>
            <a:endParaRPr lang="en-ZA" dirty="0">
              <a:solidFill>
                <a:srgbClr val="000000"/>
              </a:solidFill>
              <a:latin typeface="Consolas" panose="020B0609020204030204" pitchFamily="49" charset="0"/>
            </a:endParaRPr>
          </a:p>
          <a:p>
            <a:r>
              <a:rPr lang="en-ZA" dirty="0">
                <a:solidFill>
                  <a:srgbClr val="000000"/>
                </a:solidFill>
                <a:latin typeface="Consolas" panose="020B0609020204030204" pitchFamily="49" charset="0"/>
              </a:rPr>
              <a:t>  </a:t>
            </a:r>
            <a:r>
              <a:rPr lang="en-ZA" dirty="0">
                <a:solidFill>
                  <a:srgbClr val="0000FF"/>
                </a:solidFill>
                <a:latin typeface="Consolas" panose="020B0609020204030204" pitchFamily="49" charset="0"/>
              </a:rPr>
              <a:t>private</a:t>
            </a:r>
            <a:r>
              <a:rPr lang="en-ZA" dirty="0">
                <a:solidFill>
                  <a:srgbClr val="000000"/>
                </a:solidFill>
                <a:latin typeface="Consolas" panose="020B0609020204030204" pitchFamily="49" charset="0"/>
              </a:rPr>
              <a:t> </a:t>
            </a:r>
            <a:r>
              <a:rPr lang="en-ZA" dirty="0">
                <a:solidFill>
                  <a:srgbClr val="0000FF"/>
                </a:solidFill>
                <a:latin typeface="Consolas" panose="020B0609020204030204" pitchFamily="49" charset="0"/>
              </a:rPr>
              <a:t>void</a:t>
            </a:r>
            <a:r>
              <a:rPr lang="en-ZA" dirty="0">
                <a:solidFill>
                  <a:srgbClr val="000000"/>
                </a:solidFill>
                <a:latin typeface="Consolas" panose="020B0609020204030204" pitchFamily="49" charset="0"/>
              </a:rPr>
              <a:t> </a:t>
            </a:r>
            <a:r>
              <a:rPr lang="en-ZA" dirty="0" err="1">
                <a:solidFill>
                  <a:srgbClr val="000000"/>
                </a:solidFill>
                <a:latin typeface="Consolas" panose="020B0609020204030204" pitchFamily="49" charset="0"/>
              </a:rPr>
              <a:t>dgvViewApptCancel_RowHeaderMouseDoubleClick</a:t>
            </a:r>
            <a:r>
              <a:rPr lang="en-ZA" dirty="0">
                <a:solidFill>
                  <a:srgbClr val="000000"/>
                </a:solidFill>
                <a:latin typeface="Consolas" panose="020B0609020204030204" pitchFamily="49" charset="0"/>
              </a:rPr>
              <a:t>(</a:t>
            </a:r>
            <a:r>
              <a:rPr lang="en-ZA" dirty="0">
                <a:solidFill>
                  <a:srgbClr val="0000FF"/>
                </a:solidFill>
                <a:latin typeface="Consolas" panose="020B0609020204030204" pitchFamily="49" charset="0"/>
              </a:rPr>
              <a:t>object</a:t>
            </a:r>
            <a:r>
              <a:rPr lang="en-ZA" dirty="0">
                <a:solidFill>
                  <a:srgbClr val="000000"/>
                </a:solidFill>
                <a:latin typeface="Consolas" panose="020B0609020204030204" pitchFamily="49" charset="0"/>
              </a:rPr>
              <a:t> sender, </a:t>
            </a:r>
            <a:r>
              <a:rPr lang="en-ZA" dirty="0" err="1">
                <a:solidFill>
                  <a:srgbClr val="000000"/>
                </a:solidFill>
                <a:latin typeface="Consolas" panose="020B0609020204030204" pitchFamily="49" charset="0"/>
              </a:rPr>
              <a:t>DataGridViewCellMouseEventArgs</a:t>
            </a:r>
            <a:r>
              <a:rPr lang="en-ZA" dirty="0">
                <a:solidFill>
                  <a:srgbClr val="000000"/>
                </a:solidFill>
                <a:latin typeface="Consolas" panose="020B0609020204030204" pitchFamily="49" charset="0"/>
              </a:rPr>
              <a:t> e)</a:t>
            </a:r>
          </a:p>
          <a:p>
            <a:r>
              <a:rPr lang="en-ZA"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DialogResult</a:t>
            </a:r>
            <a:r>
              <a:rPr lang="en-US" sz="1100" dirty="0">
                <a:solidFill>
                  <a:srgbClr val="000000"/>
                </a:solidFill>
                <a:latin typeface="Consolas" panose="020B0609020204030204" pitchFamily="49" charset="0"/>
              </a:rPr>
              <a:t> result = </a:t>
            </a:r>
            <a:r>
              <a:rPr lang="en-US" sz="1100" dirty="0" err="1">
                <a:solidFill>
                  <a:srgbClr val="000000"/>
                </a:solidFill>
                <a:latin typeface="Consolas" panose="020B0609020204030204" pitchFamily="49" charset="0"/>
              </a:rPr>
              <a:t>MessageBox.Show</a:t>
            </a:r>
            <a:r>
              <a:rPr lang="en-US" sz="1100" dirty="0">
                <a:solidFill>
                  <a:srgbClr val="000000"/>
                </a:solidFill>
                <a:latin typeface="Consolas" panose="020B0609020204030204" pitchFamily="49" charset="0"/>
              </a:rPr>
              <a:t>(</a:t>
            </a:r>
            <a:r>
              <a:rPr lang="en-US" sz="1100" dirty="0">
                <a:solidFill>
                  <a:srgbClr val="A31515"/>
                </a:solidFill>
                <a:latin typeface="Consolas" panose="020B0609020204030204" pitchFamily="49" charset="0"/>
              </a:rPr>
              <a:t>"Are you sure that you want to CANCEL this appointment?"</a:t>
            </a:r>
            <a:r>
              <a:rPr lang="en-US" sz="1100" dirty="0">
                <a:solidFill>
                  <a:srgbClr val="000000"/>
                </a:solidFill>
                <a:latin typeface="Consolas" panose="020B0609020204030204" pitchFamily="49" charset="0"/>
              </a:rPr>
              <a:t>, </a:t>
            </a:r>
            <a:r>
              <a:rPr lang="en-US" sz="1100" dirty="0">
                <a:solidFill>
                  <a:srgbClr val="A31515"/>
                </a:solidFill>
                <a:latin typeface="Consolas" panose="020B0609020204030204" pitchFamily="49" charset="0"/>
              </a:rPr>
              <a:t>"Appointment CANCEL"</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MessageBoxButtons.OKCancel</a:t>
            </a:r>
            <a:r>
              <a:rPr lang="en-US" sz="1100" dirty="0">
                <a:solidFill>
                  <a:srgbClr val="000000"/>
                </a:solidFill>
                <a:latin typeface="Consolas" panose="020B0609020204030204" pitchFamily="49" charset="0"/>
              </a:rPr>
              <a:t>);</a:t>
            </a:r>
          </a:p>
          <a:p>
            <a:r>
              <a:rPr lang="en-ZA" dirty="0">
                <a:solidFill>
                  <a:srgbClr val="000000"/>
                </a:solidFill>
                <a:latin typeface="Consolas" panose="020B0609020204030204" pitchFamily="49" charset="0"/>
              </a:rPr>
              <a:t>   </a:t>
            </a:r>
            <a:r>
              <a:rPr lang="en-ZA" dirty="0">
                <a:solidFill>
                  <a:srgbClr val="0000FF"/>
                </a:solidFill>
                <a:latin typeface="Consolas" panose="020B0609020204030204" pitchFamily="49" charset="0"/>
              </a:rPr>
              <a:t>if</a:t>
            </a:r>
            <a:r>
              <a:rPr lang="en-ZA" dirty="0">
                <a:solidFill>
                  <a:srgbClr val="000000"/>
                </a:solidFill>
                <a:latin typeface="Consolas" panose="020B0609020204030204" pitchFamily="49" charset="0"/>
              </a:rPr>
              <a:t> (result == </a:t>
            </a:r>
            <a:r>
              <a:rPr lang="en-ZA" dirty="0" err="1">
                <a:solidFill>
                  <a:srgbClr val="000000"/>
                </a:solidFill>
                <a:latin typeface="Consolas" panose="020B0609020204030204" pitchFamily="49" charset="0"/>
              </a:rPr>
              <a:t>DialogResult.OK</a:t>
            </a:r>
            <a:r>
              <a:rPr lang="en-ZA" dirty="0">
                <a:solidFill>
                  <a:srgbClr val="000000"/>
                </a:solidFill>
                <a:latin typeface="Consolas" panose="020B0609020204030204" pitchFamily="49" charset="0"/>
              </a:rPr>
              <a:t>)</a:t>
            </a:r>
          </a:p>
          <a:p>
            <a:r>
              <a:rPr lang="en-ZA" dirty="0">
                <a:solidFill>
                  <a:srgbClr val="000000"/>
                </a:solidFill>
                <a:latin typeface="Consolas" panose="020B0609020204030204" pitchFamily="49" charset="0"/>
              </a:rPr>
              <a:t>   {</a:t>
            </a:r>
          </a:p>
          <a:p>
            <a:r>
              <a:rPr lang="en-ZA" dirty="0">
                <a:solidFill>
                  <a:srgbClr val="000000"/>
                </a:solidFill>
                <a:latin typeface="Consolas" panose="020B0609020204030204" pitchFamily="49" charset="0"/>
              </a:rPr>
              <a:t>    </a:t>
            </a:r>
            <a:r>
              <a:rPr lang="en-ZA" dirty="0" err="1">
                <a:solidFill>
                  <a:srgbClr val="000000"/>
                </a:solidFill>
                <a:latin typeface="Consolas" panose="020B0609020204030204" pitchFamily="49" charset="0"/>
              </a:rPr>
              <a:t>taAppointment.DeleteAppt</a:t>
            </a:r>
            <a:r>
              <a:rPr lang="en-ZA" dirty="0">
                <a:solidFill>
                  <a:srgbClr val="000000"/>
                </a:solidFill>
                <a:latin typeface="Consolas" panose="020B0609020204030204" pitchFamily="49" charset="0"/>
              </a:rPr>
              <a:t>((</a:t>
            </a:r>
            <a:r>
              <a:rPr lang="en-ZA" dirty="0">
                <a:solidFill>
                  <a:srgbClr val="0000FF"/>
                </a:solidFill>
                <a:latin typeface="Consolas" panose="020B0609020204030204" pitchFamily="49" charset="0"/>
              </a:rPr>
              <a:t>int</a:t>
            </a:r>
            <a:r>
              <a:rPr lang="en-ZA" dirty="0">
                <a:solidFill>
                  <a:srgbClr val="000000"/>
                </a:solidFill>
                <a:latin typeface="Consolas" panose="020B0609020204030204" pitchFamily="49" charset="0"/>
              </a:rPr>
              <a:t>)</a:t>
            </a:r>
            <a:r>
              <a:rPr lang="en-ZA" dirty="0" err="1">
                <a:solidFill>
                  <a:srgbClr val="000000"/>
                </a:solidFill>
                <a:latin typeface="Consolas" panose="020B0609020204030204" pitchFamily="49" charset="0"/>
              </a:rPr>
              <a:t>dgvViewApptCancel.CurrentRow.Cells</a:t>
            </a:r>
            <a:r>
              <a:rPr lang="en-ZA" dirty="0">
                <a:solidFill>
                  <a:srgbClr val="000000"/>
                </a:solidFill>
                <a:latin typeface="Consolas" panose="020B0609020204030204" pitchFamily="49" charset="0"/>
              </a:rPr>
              <a:t>[1].Value);</a:t>
            </a:r>
          </a:p>
          <a:p>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MessageBox.Show</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"Appointment has been Cancelled"</a:t>
            </a:r>
            <a:r>
              <a:rPr lang="en-US" dirty="0">
                <a:solidFill>
                  <a:srgbClr val="000000"/>
                </a:solidFill>
                <a:latin typeface="Consolas" panose="020B0609020204030204" pitchFamily="49" charset="0"/>
              </a:rPr>
              <a:t>);</a:t>
            </a:r>
          </a:p>
          <a:p>
            <a:r>
              <a:rPr lang="en-ZA" dirty="0">
                <a:solidFill>
                  <a:srgbClr val="000000"/>
                </a:solidFill>
                <a:latin typeface="Consolas" panose="020B0609020204030204" pitchFamily="49" charset="0"/>
              </a:rPr>
              <a:t>    </a:t>
            </a:r>
            <a:r>
              <a:rPr lang="en-ZA" sz="1600" dirty="0" err="1">
                <a:solidFill>
                  <a:srgbClr val="000000"/>
                </a:solidFill>
                <a:latin typeface="Consolas" panose="020B0609020204030204" pitchFamily="49" charset="0"/>
              </a:rPr>
              <a:t>taPreviousAppCancel.FillByCustID</a:t>
            </a:r>
            <a:r>
              <a:rPr lang="en-ZA" sz="1600" dirty="0">
                <a:solidFill>
                  <a:srgbClr val="000000"/>
                </a:solidFill>
                <a:latin typeface="Consolas" panose="020B0609020204030204" pitchFamily="49" charset="0"/>
              </a:rPr>
              <a:t>(</a:t>
            </a:r>
            <a:r>
              <a:rPr lang="en-ZA" sz="1600" dirty="0" err="1">
                <a:solidFill>
                  <a:srgbClr val="000000"/>
                </a:solidFill>
                <a:latin typeface="Consolas" panose="020B0609020204030204" pitchFamily="49" charset="0"/>
              </a:rPr>
              <a:t>dsAppt.PreviousAppoint</a:t>
            </a:r>
            <a:r>
              <a:rPr lang="en-ZA" sz="1600" dirty="0">
                <a:solidFill>
                  <a:srgbClr val="000000"/>
                </a:solidFill>
                <a:latin typeface="Consolas" panose="020B0609020204030204" pitchFamily="49" charset="0"/>
              </a:rPr>
              <a:t>, (</a:t>
            </a:r>
            <a:r>
              <a:rPr lang="en-ZA" sz="1600" dirty="0">
                <a:solidFill>
                  <a:srgbClr val="0000FF"/>
                </a:solidFill>
                <a:latin typeface="Consolas" panose="020B0609020204030204" pitchFamily="49" charset="0"/>
              </a:rPr>
              <a:t>int</a:t>
            </a:r>
            <a:r>
              <a:rPr lang="en-ZA" sz="1600" dirty="0">
                <a:solidFill>
                  <a:srgbClr val="000000"/>
                </a:solidFill>
                <a:latin typeface="Consolas" panose="020B0609020204030204" pitchFamily="49" charset="0"/>
              </a:rPr>
              <a:t>)</a:t>
            </a:r>
            <a:r>
              <a:rPr lang="en-ZA" sz="1600" dirty="0" err="1">
                <a:solidFill>
                  <a:srgbClr val="000000"/>
                </a:solidFill>
                <a:latin typeface="Consolas" panose="020B0609020204030204" pitchFamily="49" charset="0"/>
              </a:rPr>
              <a:t>dgvCustCancel.CurrentRow.Cells</a:t>
            </a:r>
            <a:r>
              <a:rPr lang="en-ZA" sz="1600" dirty="0">
                <a:solidFill>
                  <a:srgbClr val="000000"/>
                </a:solidFill>
                <a:latin typeface="Consolas" panose="020B0609020204030204" pitchFamily="49" charset="0"/>
              </a:rPr>
              <a:t>[0].Value);</a:t>
            </a:r>
            <a:endParaRPr lang="en-ZA" dirty="0">
              <a:solidFill>
                <a:srgbClr val="000000"/>
              </a:solidFill>
              <a:latin typeface="Consolas" panose="020B0609020204030204" pitchFamily="49" charset="0"/>
            </a:endParaRPr>
          </a:p>
          <a:p>
            <a:r>
              <a:rPr lang="en-ZA" dirty="0">
                <a:solidFill>
                  <a:srgbClr val="000000"/>
                </a:solidFill>
                <a:latin typeface="Consolas" panose="020B0609020204030204" pitchFamily="49" charset="0"/>
              </a:rPr>
              <a:t>    </a:t>
            </a:r>
            <a:r>
              <a:rPr lang="en-ZA" sz="1400" dirty="0" err="1">
                <a:solidFill>
                  <a:srgbClr val="000000"/>
                </a:solidFill>
                <a:latin typeface="Consolas" panose="020B0609020204030204" pitchFamily="49" charset="0"/>
              </a:rPr>
              <a:t>taSlotsAvailable.FillbyAvailableTimeSlots</a:t>
            </a:r>
            <a:r>
              <a:rPr lang="en-ZA" sz="1400" dirty="0">
                <a:solidFill>
                  <a:srgbClr val="000000"/>
                </a:solidFill>
                <a:latin typeface="Consolas" panose="020B0609020204030204" pitchFamily="49" charset="0"/>
              </a:rPr>
              <a:t>(</a:t>
            </a:r>
            <a:r>
              <a:rPr lang="en-ZA" sz="1400" dirty="0" err="1">
                <a:solidFill>
                  <a:srgbClr val="000000"/>
                </a:solidFill>
                <a:latin typeface="Consolas" panose="020B0609020204030204" pitchFamily="49" charset="0"/>
              </a:rPr>
              <a:t>dsAppt.DTTimeSlotsAvailable</a:t>
            </a:r>
            <a:r>
              <a:rPr lang="en-ZA" sz="1400" dirty="0">
                <a:solidFill>
                  <a:srgbClr val="000000"/>
                </a:solidFill>
                <a:latin typeface="Consolas" panose="020B0609020204030204" pitchFamily="49" charset="0"/>
              </a:rPr>
              <a:t>, monthCalendar1.SelectionRange.Start);</a:t>
            </a:r>
            <a:endParaRPr lang="en-ZA" dirty="0">
              <a:solidFill>
                <a:srgbClr val="000000"/>
              </a:solidFill>
              <a:latin typeface="Consolas" panose="020B0609020204030204" pitchFamily="49" charset="0"/>
            </a:endParaRPr>
          </a:p>
          <a:p>
            <a:r>
              <a:rPr lang="en-ZA" dirty="0">
                <a:solidFill>
                  <a:srgbClr val="000000"/>
                </a:solidFill>
                <a:latin typeface="Consolas" panose="020B0609020204030204" pitchFamily="49" charset="0"/>
              </a:rPr>
              <a:t>   }</a:t>
            </a:r>
          </a:p>
          <a:p>
            <a:r>
              <a:rPr lang="en-ZA" dirty="0">
                <a:solidFill>
                  <a:srgbClr val="000000"/>
                </a:solidFill>
                <a:latin typeface="Consolas" panose="020B0609020204030204" pitchFamily="49" charset="0"/>
              </a:rPr>
              <a:t>  }</a:t>
            </a:r>
            <a:endParaRPr lang="en-ZA" dirty="0"/>
          </a:p>
        </p:txBody>
      </p:sp>
    </p:spTree>
    <p:extLst>
      <p:ext uri="{BB962C8B-B14F-4D97-AF65-F5344CB8AC3E}">
        <p14:creationId xmlns:p14="http://schemas.microsoft.com/office/powerpoint/2010/main" val="4084956430"/>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TM10001105[[fn=Crop]]</Template>
  <TotalTime>8265</TotalTime>
  <Words>2779</Words>
  <Application>Microsoft Office PowerPoint</Application>
  <PresentationFormat>Widescreen</PresentationFormat>
  <Paragraphs>221</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Consolas</vt:lpstr>
      <vt:lpstr>Franklin Gothic Book</vt:lpstr>
      <vt:lpstr>Wingdings</vt:lpstr>
      <vt:lpstr>Crop</vt:lpstr>
      <vt:lpstr>Appointment scheduling/Reservations</vt:lpstr>
      <vt:lpstr>The Initial Design</vt:lpstr>
      <vt:lpstr>Configuring the Time Table</vt:lpstr>
      <vt:lpstr>The Adapters</vt:lpstr>
      <vt:lpstr>Inner Join***</vt:lpstr>
      <vt:lpstr>A new table created via an InnerJoin</vt:lpstr>
      <vt:lpstr>The MonthCalendar Control</vt:lpstr>
      <vt:lpstr>Get the Table Adapters</vt:lpstr>
      <vt:lpstr>Inner Join</vt:lpstr>
      <vt:lpstr>Based on the Current Date…</vt:lpstr>
      <vt:lpstr>Making a New Appointment</vt:lpstr>
      <vt:lpstr>Interface Layout</vt:lpstr>
      <vt:lpstr>Now for the Crazy Combo Box Design</vt:lpstr>
      <vt:lpstr>…and the crazy Sql that generates content for the ComboBox</vt:lpstr>
      <vt:lpstr>So now…</vt:lpstr>
      <vt:lpstr>Getting the Names is via txtChanged</vt:lpstr>
      <vt:lpstr>The Final App</vt:lpstr>
      <vt:lpstr>Transferring the selected Name to Make Booking Section</vt:lpstr>
      <vt:lpstr>To Make a Booking</vt:lpstr>
      <vt:lpstr>The Booking Code</vt:lpstr>
      <vt:lpstr>CANCELLING A BOOKING</vt:lpstr>
      <vt:lpstr>So what’s the thinking?</vt:lpstr>
      <vt:lpstr>Start with a clean set of adapters and datasets</vt:lpstr>
      <vt:lpstr>The cancellation</vt:lpstr>
      <vt:lpstr>Using a Cell Content Click</vt:lpstr>
      <vt:lpstr>The actual Deletion</vt:lpstr>
      <vt:lpstr>Confirm the Cancel!</vt:lpstr>
      <vt:lpstr>After Cancellation</vt:lpstr>
      <vt:lpstr>The Cancellation Sequence</vt:lpstr>
      <vt:lpstr>The Refresh/Update of Gridviews</vt:lpstr>
      <vt:lpstr>The Full Code</vt:lpstr>
      <vt:lpstr>The Full Code </vt:lpstr>
      <vt:lpstr>Confirming the Booking</vt:lpstr>
      <vt:lpstr>Cancellation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dc:creator>
  <cp:lastModifiedBy>Sanjay Ranjeeth</cp:lastModifiedBy>
  <cp:revision>67</cp:revision>
  <dcterms:created xsi:type="dcterms:W3CDTF">2020-06-03T17:48:59Z</dcterms:created>
  <dcterms:modified xsi:type="dcterms:W3CDTF">2026-05-14T22:06:24Z</dcterms:modified>
</cp:coreProperties>
</file>