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6"/>
  </p:notesMasterIdLst>
  <p:handoutMasterIdLst>
    <p:handoutMasterId r:id="rId27"/>
  </p:handoutMasterIdLst>
  <p:sldIdLst>
    <p:sldId id="277" r:id="rId5"/>
    <p:sldId id="325" r:id="rId6"/>
    <p:sldId id="326" r:id="rId7"/>
    <p:sldId id="328" r:id="rId8"/>
    <p:sldId id="321" r:id="rId9"/>
    <p:sldId id="322" r:id="rId10"/>
    <p:sldId id="330" r:id="rId11"/>
    <p:sldId id="331" r:id="rId12"/>
    <p:sldId id="332" r:id="rId13"/>
    <p:sldId id="333" r:id="rId14"/>
    <p:sldId id="334" r:id="rId15"/>
    <p:sldId id="335" r:id="rId16"/>
    <p:sldId id="336" r:id="rId17"/>
    <p:sldId id="337" r:id="rId18"/>
    <p:sldId id="338" r:id="rId19"/>
    <p:sldId id="323" r:id="rId20"/>
    <p:sldId id="339" r:id="rId21"/>
    <p:sldId id="340" r:id="rId22"/>
    <p:sldId id="341" r:id="rId23"/>
    <p:sldId id="342" r:id="rId24"/>
    <p:sldId id="34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guide id="3" pos="408" userDrawn="1">
          <p15:clr>
            <a:srgbClr val="A4A3A4"/>
          </p15:clr>
        </p15:guide>
        <p15:guide id="4" orient="horz" pos="432" userDrawn="1">
          <p15:clr>
            <a:srgbClr val="A4A3A4"/>
          </p15:clr>
        </p15:guide>
        <p15:guide id="5" pos="727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3047"/>
    <a:srgbClr val="0B2B41"/>
    <a:srgbClr val="114263"/>
    <a:srgbClr val="401918"/>
    <a:srgbClr val="731F1C"/>
    <a:srgbClr val="AB678E"/>
    <a:srgbClr val="B2606E"/>
    <a:srgbClr val="CA929B"/>
    <a:srgbClr val="248CD2"/>
    <a:srgbClr val="C88E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703" autoAdjust="0"/>
  </p:normalViewPr>
  <p:slideViewPr>
    <p:cSldViewPr snapToGrid="0">
      <p:cViewPr varScale="1">
        <p:scale>
          <a:sx n="84" d="100"/>
          <a:sy n="84" d="100"/>
        </p:scale>
        <p:origin x="115" y="106"/>
      </p:cViewPr>
      <p:guideLst>
        <p:guide orient="horz" pos="2160"/>
        <p:guide pos="3864"/>
        <p:guide pos="408"/>
        <p:guide orient="horz" pos="432"/>
        <p:guide pos="7272"/>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D1D01A-5516-4E1C-9A6D-D9EF8C203F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0087A2D-9F8F-45E9-B127-C2407E7953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34338A-2C54-48B6-A869-F1523EB17642}" type="datetimeFigureOut">
              <a:rPr lang="en-US" smtClean="0"/>
              <a:t>5/16/2025</a:t>
            </a:fld>
            <a:endParaRPr lang="en-US" dirty="0"/>
          </a:p>
        </p:txBody>
      </p:sp>
      <p:sp>
        <p:nvSpPr>
          <p:cNvPr id="4" name="Footer Placeholder 3">
            <a:extLst>
              <a:ext uri="{FF2B5EF4-FFF2-40B4-BE49-F238E27FC236}">
                <a16:creationId xmlns:a16="http://schemas.microsoft.com/office/drawing/2014/main" id="{60515058-9F03-4AC5-A723-3D23E27720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86E583C-77B5-479A-A9CA-17DC816BC65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3D57C9-54A6-4BAA-A5CD-C535F9370C4B}" type="slidenum">
              <a:rPr lang="en-US" smtClean="0"/>
              <a:t>‹#›</a:t>
            </a:fld>
            <a:endParaRPr lang="en-US" dirty="0"/>
          </a:p>
        </p:txBody>
      </p:sp>
    </p:spTree>
    <p:extLst>
      <p:ext uri="{BB962C8B-B14F-4D97-AF65-F5344CB8AC3E}">
        <p14:creationId xmlns:p14="http://schemas.microsoft.com/office/powerpoint/2010/main" val="21203655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7205A9-A302-429C-8AB8-C362C4362DF4}" type="datetimeFigureOut">
              <a:rPr lang="en-US" smtClean="0"/>
              <a:t>5/16/2025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F82289-BCFD-4053-9D06-A9140C63A457}" type="slidenum">
              <a:rPr lang="en-US" smtClean="0"/>
              <a:t>‹#›</a:t>
            </a:fld>
            <a:endParaRPr lang="en-US" dirty="0"/>
          </a:p>
        </p:txBody>
      </p:sp>
    </p:spTree>
    <p:extLst>
      <p:ext uri="{BB962C8B-B14F-4D97-AF65-F5344CB8AC3E}">
        <p14:creationId xmlns:p14="http://schemas.microsoft.com/office/powerpoint/2010/main" val="1449475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01">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305EBB3-0F16-4B63-82ED-191AB224B8E2}"/>
              </a:ext>
            </a:extLst>
          </p:cNvPr>
          <p:cNvSpPr/>
          <p:nvPr userDrawn="1"/>
        </p:nvSpPr>
        <p:spPr>
          <a:xfrm>
            <a:off x="6676569" y="0"/>
            <a:ext cx="3522381"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Picture Placeholder 11">
            <a:extLst>
              <a:ext uri="{FF2B5EF4-FFF2-40B4-BE49-F238E27FC236}">
                <a16:creationId xmlns:a16="http://schemas.microsoft.com/office/drawing/2014/main" id="{1A440F4A-C2AF-406D-B420-CCF52F447AC1}"/>
              </a:ext>
            </a:extLst>
          </p:cNvPr>
          <p:cNvSpPr>
            <a:spLocks noGrp="1"/>
          </p:cNvSpPr>
          <p:nvPr>
            <p:ph type="pic" sz="quarter" idx="10" hasCustomPrompt="1"/>
          </p:nvPr>
        </p:nvSpPr>
        <p:spPr>
          <a:xfrm>
            <a:off x="-1" y="0"/>
            <a:ext cx="6676568" cy="6858000"/>
          </a:xfrm>
        </p:spPr>
        <p:txBody>
          <a:bodyPr anchor="ctr" anchorCtr="1">
            <a:normAutofit/>
          </a:bodyPr>
          <a:lstStyle>
            <a:lvl1pPr marL="0" indent="0">
              <a:buNone/>
              <a:defRPr sz="2400">
                <a:solidFill>
                  <a:schemeClr val="bg1"/>
                </a:solidFill>
              </a:defRPr>
            </a:lvl1pPr>
          </a:lstStyle>
          <a:p>
            <a:r>
              <a:rPr lang="en-US" noProof="0" dirty="0"/>
              <a:t>Insert Image</a:t>
            </a:r>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grpSp>
        <p:nvGrpSpPr>
          <p:cNvPr id="6" name="Group 5">
            <a:extLst>
              <a:ext uri="{FF2B5EF4-FFF2-40B4-BE49-F238E27FC236}">
                <a16:creationId xmlns:a16="http://schemas.microsoft.com/office/drawing/2014/main" id="{EFDB39AB-B644-434A-9D55-AF3455D468E5}"/>
              </a:ext>
            </a:extLst>
          </p:cNvPr>
          <p:cNvGrpSpPr/>
          <p:nvPr userDrawn="1"/>
        </p:nvGrpSpPr>
        <p:grpSpPr>
          <a:xfrm>
            <a:off x="9140346" y="5054600"/>
            <a:ext cx="676275" cy="114300"/>
            <a:chOff x="9330846" y="5054600"/>
            <a:chExt cx="676275" cy="114300"/>
          </a:xfrm>
        </p:grpSpPr>
        <p:sp>
          <p:nvSpPr>
            <p:cNvPr id="7" name="Oval 6">
              <a:extLst>
                <a:ext uri="{FF2B5EF4-FFF2-40B4-BE49-F238E27FC236}">
                  <a16:creationId xmlns:a16="http://schemas.microsoft.com/office/drawing/2014/main" id="{BF14E129-1970-4994-89E5-F7A67128AFE3}"/>
                </a:ext>
              </a:extLst>
            </p:cNvPr>
            <p:cNvSpPr/>
            <p:nvPr/>
          </p:nvSpPr>
          <p:spPr>
            <a:xfrm>
              <a:off x="933084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593336FA-97B2-4528-88E8-5FF97F86E216}"/>
                </a:ext>
              </a:extLst>
            </p:cNvPr>
            <p:cNvSpPr/>
            <p:nvPr/>
          </p:nvSpPr>
          <p:spPr>
            <a:xfrm>
              <a:off x="951817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8A73C166-FCDF-40AE-8B0D-69C7E2C8573E}"/>
                </a:ext>
              </a:extLst>
            </p:cNvPr>
            <p:cNvSpPr/>
            <p:nvPr/>
          </p:nvSpPr>
          <p:spPr>
            <a:xfrm>
              <a:off x="970549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F418119-E3DD-44B0-A4AF-F8A98EC5863B}"/>
                </a:ext>
              </a:extLst>
            </p:cNvPr>
            <p:cNvSpPr/>
            <p:nvPr/>
          </p:nvSpPr>
          <p:spPr>
            <a:xfrm>
              <a:off x="989282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124204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0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305EBB3-0F16-4B63-82ED-191AB224B8E2}"/>
              </a:ext>
            </a:extLst>
          </p:cNvPr>
          <p:cNvSpPr/>
          <p:nvPr userDrawn="1"/>
        </p:nvSpPr>
        <p:spPr>
          <a:xfrm>
            <a:off x="5512953" y="0"/>
            <a:ext cx="3522381"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Picture Placeholder 11">
            <a:extLst>
              <a:ext uri="{FF2B5EF4-FFF2-40B4-BE49-F238E27FC236}">
                <a16:creationId xmlns:a16="http://schemas.microsoft.com/office/drawing/2014/main" id="{1A440F4A-C2AF-406D-B420-CCF52F447AC1}"/>
              </a:ext>
            </a:extLst>
          </p:cNvPr>
          <p:cNvSpPr>
            <a:spLocks noGrp="1"/>
          </p:cNvSpPr>
          <p:nvPr>
            <p:ph type="pic" sz="quarter" idx="10" hasCustomPrompt="1"/>
          </p:nvPr>
        </p:nvSpPr>
        <p:spPr>
          <a:xfrm>
            <a:off x="-1" y="0"/>
            <a:ext cx="5504688" cy="6858000"/>
          </a:xfrm>
        </p:spPr>
        <p:txBody>
          <a:bodyPr anchor="ctr" anchorCtr="1">
            <a:normAutofit/>
          </a:bodyPr>
          <a:lstStyle>
            <a:lvl1pPr marL="0" indent="0">
              <a:buNone/>
              <a:defRPr sz="2400">
                <a:solidFill>
                  <a:schemeClr val="bg1"/>
                </a:solidFill>
              </a:defRPr>
            </a:lvl1pPr>
          </a:lstStyle>
          <a:p>
            <a:r>
              <a:rPr lang="en-US" noProof="0" dirty="0"/>
              <a:t>Insert Image</a:t>
            </a:r>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spTree>
    <p:extLst>
      <p:ext uri="{BB962C8B-B14F-4D97-AF65-F5344CB8AC3E}">
        <p14:creationId xmlns:p14="http://schemas.microsoft.com/office/powerpoint/2010/main" val="1270854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03">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47CEAAF6-CCA9-40F8-8A3D-FAAD92220D11}"/>
              </a:ext>
            </a:extLst>
          </p:cNvPr>
          <p:cNvSpPr>
            <a:spLocks noGrp="1"/>
          </p:cNvSpPr>
          <p:nvPr>
            <p:ph type="pic" sz="quarter" idx="10" hasCustomPrompt="1"/>
          </p:nvPr>
        </p:nvSpPr>
        <p:spPr>
          <a:xfrm>
            <a:off x="-2" y="0"/>
            <a:ext cx="12192001" cy="6858000"/>
          </a:xfrm>
        </p:spPr>
        <p:txBody>
          <a:bodyPr anchor="ctr" anchorCtr="1">
            <a:normAutofit/>
          </a:bodyPr>
          <a:lstStyle>
            <a:lvl1pPr marL="0" indent="0">
              <a:buNone/>
              <a:defRPr sz="2400">
                <a:solidFill>
                  <a:schemeClr val="bg1"/>
                </a:solidFill>
              </a:defRPr>
            </a:lvl1pPr>
          </a:lstStyle>
          <a:p>
            <a:r>
              <a:rPr lang="en-US" noProof="0" dirty="0"/>
              <a:t>Insert Image</a:t>
            </a:r>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316020" y="2404234"/>
            <a:ext cx="5330038" cy="1746504"/>
          </a:xfrm>
        </p:spPr>
        <p:txBody>
          <a:bodyPr vert="horz" lIns="0" tIns="45720" rIns="0" bIns="45720" rtlCol="0" anchor="b" anchorCtr="1">
            <a:noAutofit/>
          </a:bodyPr>
          <a:lstStyle>
            <a:lvl1pPr>
              <a:defRPr lang="en-GB" dirty="0">
                <a:solidFill>
                  <a:schemeClr val="bg1"/>
                </a:solidFill>
              </a:defRPr>
            </a:lvl1pPr>
          </a:lstStyle>
          <a:p>
            <a:pPr marL="0" lvl="0"/>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453180" y="4553291"/>
            <a:ext cx="5049510" cy="521208"/>
          </a:xfrm>
        </p:spPr>
        <p:txBody>
          <a:bodyPr vert="horz" lIns="0" tIns="0" rIns="0" bIns="0" rtlCol="0" anchor="t" anchorCtr="1">
            <a:noAutofit/>
          </a:bodyPr>
          <a:lstStyle>
            <a:lvl1pPr marL="0" indent="0">
              <a:lnSpc>
                <a:spcPct val="100000"/>
              </a:lnSpc>
              <a:spcBef>
                <a:spcPts val="0"/>
              </a:spcBef>
              <a:buNone/>
              <a:defRPr lang="en-GB" sz="2000" dirty="0">
                <a:solidFill>
                  <a:schemeClr val="bg1"/>
                </a:solidFill>
              </a:defRPr>
            </a:lvl1pPr>
          </a:lstStyle>
          <a:p>
            <a:pPr lvl="0"/>
            <a:r>
              <a:rPr lang="en-US" noProof="0"/>
              <a:t>Subtitle</a:t>
            </a:r>
          </a:p>
        </p:txBody>
      </p:sp>
    </p:spTree>
    <p:extLst>
      <p:ext uri="{BB962C8B-B14F-4D97-AF65-F5344CB8AC3E}">
        <p14:creationId xmlns:p14="http://schemas.microsoft.com/office/powerpoint/2010/main" val="3477175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AAF32A0B-D38A-4E4A-BD5E-94B671296508}"/>
              </a:ext>
            </a:extLst>
          </p:cNvPr>
          <p:cNvSpPr>
            <a:spLocks noGrp="1"/>
          </p:cNvSpPr>
          <p:nvPr>
            <p:ph type="pic" sz="quarter" idx="10" hasCustomPrompt="1"/>
          </p:nvPr>
        </p:nvSpPr>
        <p:spPr>
          <a:xfrm>
            <a:off x="-2" y="0"/>
            <a:ext cx="12192001" cy="6858000"/>
          </a:xfrm>
        </p:spPr>
        <p:txBody>
          <a:bodyPr anchor="ctr" anchorCtr="1">
            <a:normAutofit/>
          </a:bodyPr>
          <a:lstStyle>
            <a:lvl1pPr marL="0" indent="0">
              <a:buNone/>
              <a:defRPr sz="2400">
                <a:solidFill>
                  <a:schemeClr val="tx1"/>
                </a:solidFill>
              </a:defRPr>
            </a:lvl1pPr>
          </a:lstStyle>
          <a:p>
            <a:r>
              <a:rPr lang="en-US" noProof="0" dirty="0"/>
              <a:t>Insert Image</a:t>
            </a:r>
          </a:p>
        </p:txBody>
      </p:sp>
      <p:sp>
        <p:nvSpPr>
          <p:cNvPr id="2" name="Title 1">
            <a:extLst>
              <a:ext uri="{FF2B5EF4-FFF2-40B4-BE49-F238E27FC236}">
                <a16:creationId xmlns:a16="http://schemas.microsoft.com/office/drawing/2014/main" id="{2DCD3B46-48AB-439D-A981-D3596F977592}"/>
              </a:ext>
            </a:extLst>
          </p:cNvPr>
          <p:cNvSpPr>
            <a:spLocks noGrp="1"/>
          </p:cNvSpPr>
          <p:nvPr>
            <p:ph type="title"/>
          </p:nvPr>
        </p:nvSpPr>
        <p:spPr>
          <a:xfrm>
            <a:off x="4590288" y="2313432"/>
            <a:ext cx="6592824" cy="2852737"/>
          </a:xfrm>
        </p:spPr>
        <p:txBody>
          <a:bodyPr vert="horz" lIns="91440" tIns="45720" rIns="91440" bIns="45720" rtlCol="0" anchor="b">
            <a:noAutofit/>
          </a:bodyPr>
          <a:lstStyle>
            <a:lvl1pPr>
              <a:defRPr lang="en-GB" sz="6000" dirty="0">
                <a:solidFill>
                  <a:schemeClr val="bg1"/>
                </a:solidFill>
              </a:defRPr>
            </a:lvl1pPr>
          </a:lstStyle>
          <a:p>
            <a:pPr lvl="0"/>
            <a:r>
              <a:rPr lang="en-US" noProof="0"/>
              <a:t>Click to edit Master title style</a:t>
            </a:r>
          </a:p>
        </p:txBody>
      </p:sp>
      <p:sp>
        <p:nvSpPr>
          <p:cNvPr id="3" name="Text Placeholder 2">
            <a:extLst>
              <a:ext uri="{FF2B5EF4-FFF2-40B4-BE49-F238E27FC236}">
                <a16:creationId xmlns:a16="http://schemas.microsoft.com/office/drawing/2014/main" id="{2728D712-0D13-4ECD-9BEB-B8EE651FF63F}"/>
              </a:ext>
            </a:extLst>
          </p:cNvPr>
          <p:cNvSpPr>
            <a:spLocks noGrp="1"/>
          </p:cNvSpPr>
          <p:nvPr>
            <p:ph type="body" idx="1"/>
          </p:nvPr>
        </p:nvSpPr>
        <p:spPr>
          <a:xfrm>
            <a:off x="4590288" y="5193792"/>
            <a:ext cx="6592824" cy="978408"/>
          </a:xfrm>
        </p:spPr>
        <p:txBody>
          <a:bodyPr vert="horz" lIns="91440" tIns="45720" rIns="91440" bIns="45720" rtlCol="0">
            <a:noAutofit/>
          </a:bodyPr>
          <a:lstStyle>
            <a:lvl1pPr marL="0" indent="0">
              <a:buNone/>
              <a:defRPr lang="en-US" sz="1600">
                <a:solidFill>
                  <a:schemeClr val="bg1"/>
                </a:solidFill>
              </a:defRPr>
            </a:lvl1pPr>
          </a:lstStyle>
          <a:p>
            <a:pPr marL="228600" lvl="0" indent="-228600"/>
            <a:r>
              <a:rPr lang="en-US" noProof="0"/>
              <a:t>Edit Master text styles</a:t>
            </a:r>
          </a:p>
        </p:txBody>
      </p:sp>
    </p:spTree>
    <p:extLst>
      <p:ext uri="{BB962C8B-B14F-4D97-AF65-F5344CB8AC3E}">
        <p14:creationId xmlns:p14="http://schemas.microsoft.com/office/powerpoint/2010/main" val="3411308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1 Content_2 colum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6836125" y="0"/>
            <a:ext cx="5355875"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4" name="Text Placeholder 12">
            <a:extLst>
              <a:ext uri="{FF2B5EF4-FFF2-40B4-BE49-F238E27FC236}">
                <a16:creationId xmlns:a16="http://schemas.microsoft.com/office/drawing/2014/main" id="{C7F0E85E-786D-44FC-A9C8-8853277D7C38}"/>
              </a:ext>
            </a:extLst>
          </p:cNvPr>
          <p:cNvSpPr>
            <a:spLocks noGrp="1"/>
          </p:cNvSpPr>
          <p:nvPr>
            <p:ph type="body" sz="quarter" idx="12"/>
          </p:nvPr>
        </p:nvSpPr>
        <p:spPr>
          <a:xfrm>
            <a:off x="4386558" y="2717803"/>
            <a:ext cx="2834640" cy="3368675"/>
          </a:xfrm>
        </p:spPr>
        <p:txBody>
          <a:bodyPr vert="horz" wrap="square" lIns="0" tIns="45720" rIns="0" bIns="45720" rtlCol="0" anchor="t">
            <a:noAutofit/>
          </a:bodyPr>
          <a:lstStyle>
            <a:lvl1pPr marL="0" indent="0">
              <a:buNone/>
              <a:defRPr lang="en-US" sz="1400" dirty="0" smtClean="0">
                <a:latin typeface="+mn-lt"/>
                <a:ea typeface="+mj-ea"/>
                <a:cs typeface="+mj-cs"/>
              </a:defRPr>
            </a:lvl1pPr>
          </a:lstStyle>
          <a:p>
            <a:pPr marL="57150" lvl="0" indent="-285750">
              <a:lnSpc>
                <a:spcPct val="100000"/>
              </a:lnSpc>
              <a:spcBef>
                <a:spcPct val="0"/>
              </a:spcBef>
            </a:pPr>
            <a:r>
              <a:rPr lang="en-US" noProof="0"/>
              <a:t>Edit Master text styles</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647700" y="2717803"/>
            <a:ext cx="2834640" cy="3368675"/>
          </a:xfrm>
        </p:spPr>
        <p:txBody>
          <a:bodyPr vert="horz" wrap="square" lIns="0" tIns="45720" rIns="0" bIns="45720" rtlCol="0" anchor="t">
            <a:noAutofit/>
          </a:bodyPr>
          <a:lstStyle>
            <a:lvl1pPr marL="0" indent="0">
              <a:buNone/>
              <a:defRPr lang="en-US" sz="1400" dirty="0" smtClean="0">
                <a:latin typeface="+mn-lt"/>
                <a:ea typeface="+mj-ea"/>
                <a:cs typeface="+mj-cs"/>
              </a:defRPr>
            </a:lvl1pPr>
          </a:lstStyle>
          <a:p>
            <a:pPr marL="57150" lvl="0" indent="-285750">
              <a:lnSpc>
                <a:spcPct val="100000"/>
              </a:lnSpc>
              <a:spcBef>
                <a:spcPct val="0"/>
              </a:spcBef>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6891564" cy="830997"/>
          </a:xfrm>
        </p:spPr>
        <p:txBody>
          <a:bodyPr vert="horz" wrap="square" lIns="0" tIns="45720" rIns="91440" bIns="45720" rtlCol="0" anchor="t">
            <a:noAutofit/>
          </a:bodyPr>
          <a:lstStyle>
            <a:lvl1pPr>
              <a:defRPr lang="en-GB" sz="2400">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1906451" y="1981200"/>
            <a:ext cx="548640" cy="548640"/>
          </a:xfrm>
        </p:spPr>
        <p:txBody>
          <a:bodyPr lIns="0" tIns="0" rIns="0" bIns="0" anchor="ctr">
            <a:noAutofit/>
          </a:bodyPr>
          <a:lstStyle>
            <a:lvl1pPr marL="0" indent="0" algn="ctr">
              <a:buNone/>
              <a:defRPr sz="1400"/>
            </a:lvl1pPr>
          </a:lstStyle>
          <a:p>
            <a:pPr lvl="0"/>
            <a:r>
              <a:rPr lang="en-US" noProof="0"/>
              <a:t>Icon</a:t>
            </a:r>
          </a:p>
        </p:txBody>
      </p:sp>
      <p:sp>
        <p:nvSpPr>
          <p:cNvPr id="17" name="Content Placeholder 15">
            <a:extLst>
              <a:ext uri="{FF2B5EF4-FFF2-40B4-BE49-F238E27FC236}">
                <a16:creationId xmlns:a16="http://schemas.microsoft.com/office/drawing/2014/main" id="{6DF8CB66-232E-4CE3-96FC-CE37C74994E1}"/>
              </a:ext>
            </a:extLst>
          </p:cNvPr>
          <p:cNvSpPr>
            <a:spLocks noGrp="1"/>
          </p:cNvSpPr>
          <p:nvPr>
            <p:ph sz="quarter" idx="14" hasCustomPrompt="1"/>
          </p:nvPr>
        </p:nvSpPr>
        <p:spPr>
          <a:xfrm>
            <a:off x="5645309" y="1981200"/>
            <a:ext cx="548640" cy="548640"/>
          </a:xfrm>
        </p:spPr>
        <p:txBody>
          <a:bodyPr lIns="0" tIns="0" rIns="0" bIns="0" anchor="ctr">
            <a:noAutofit/>
          </a:bodyPr>
          <a:lstStyle>
            <a:lvl1pPr marL="0" indent="0" algn="ctr">
              <a:buNone/>
              <a:defRPr sz="1400"/>
            </a:lvl1pPr>
          </a:lstStyle>
          <a:p>
            <a:pPr lvl="0"/>
            <a:r>
              <a:rPr lang="en-US" noProof="0"/>
              <a:t>Icon</a:t>
            </a:r>
          </a:p>
        </p:txBody>
      </p:sp>
      <p:sp>
        <p:nvSpPr>
          <p:cNvPr id="18" name="Slide Number Placeholder 7">
            <a:extLst>
              <a:ext uri="{FF2B5EF4-FFF2-40B4-BE49-F238E27FC236}">
                <a16:creationId xmlns:a16="http://schemas.microsoft.com/office/drawing/2014/main" id="{8728750D-82C7-4A8D-A7C7-554934667964}"/>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2772049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2 Content_3 colum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4" name="Text Placeholder 12">
            <a:extLst>
              <a:ext uri="{FF2B5EF4-FFF2-40B4-BE49-F238E27FC236}">
                <a16:creationId xmlns:a16="http://schemas.microsoft.com/office/drawing/2014/main" id="{C7F0E85E-786D-44FC-A9C8-8853277D7C38}"/>
              </a:ext>
            </a:extLst>
          </p:cNvPr>
          <p:cNvSpPr>
            <a:spLocks noGrp="1"/>
          </p:cNvSpPr>
          <p:nvPr>
            <p:ph type="body" sz="quarter" idx="12"/>
          </p:nvPr>
        </p:nvSpPr>
        <p:spPr>
          <a:xfrm>
            <a:off x="3888842" y="2717803"/>
            <a:ext cx="2377440" cy="3368675"/>
          </a:xfrm>
        </p:spPr>
        <p:txBody>
          <a:bodyPr vert="horz" wrap="square" lIns="0" tIns="45720" rIns="0" bIns="45720" rtlCol="0" anchor="t">
            <a:noAutofit/>
          </a:bodyPr>
          <a:lstStyle>
            <a:lvl1pPr marL="0" indent="0">
              <a:buNone/>
              <a:defRPr lang="en-US" sz="1400" dirty="0" smtClean="0">
                <a:solidFill>
                  <a:schemeClr val="bg1">
                    <a:lumMod val="95000"/>
                  </a:schemeClr>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647700" y="2717803"/>
            <a:ext cx="2377440" cy="3368675"/>
          </a:xfrm>
        </p:spPr>
        <p:txBody>
          <a:bodyPr vert="horz" wrap="square" lIns="0" tIns="45720" rIns="0" bIns="45720" rtlCol="0" anchor="t">
            <a:noAutofit/>
          </a:bodyPr>
          <a:lstStyle>
            <a:lvl1pPr marL="0" indent="0">
              <a:buNone/>
              <a:defRPr lang="en-US" sz="1400" dirty="0" smtClean="0">
                <a:solidFill>
                  <a:schemeClr val="bg1">
                    <a:lumMod val="95000"/>
                  </a:schemeClr>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206264" cy="830997"/>
          </a:xfrm>
        </p:spPr>
        <p:txBody>
          <a:bodyPr vert="horz" wrap="square" lIns="0" tIns="45720" rIns="91440" bIns="45720" rtlCol="0" anchor="t">
            <a:noAutofit/>
          </a:bodyPr>
          <a:lstStyle>
            <a:lvl1pPr>
              <a:defRPr lang="en-GB" sz="2400">
                <a:solidFill>
                  <a:schemeClr val="bg1">
                    <a:lumMod val="95000"/>
                  </a:schemeClr>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1562100" y="1981200"/>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7" name="Content Placeholder 15">
            <a:extLst>
              <a:ext uri="{FF2B5EF4-FFF2-40B4-BE49-F238E27FC236}">
                <a16:creationId xmlns:a16="http://schemas.microsoft.com/office/drawing/2014/main" id="{6DF8CB66-232E-4CE3-96FC-CE37C74994E1}"/>
              </a:ext>
            </a:extLst>
          </p:cNvPr>
          <p:cNvSpPr>
            <a:spLocks noGrp="1"/>
          </p:cNvSpPr>
          <p:nvPr>
            <p:ph sz="quarter" idx="14" hasCustomPrompt="1"/>
          </p:nvPr>
        </p:nvSpPr>
        <p:spPr>
          <a:xfrm>
            <a:off x="4803242" y="1981200"/>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8" name="Text Placeholder 12">
            <a:extLst>
              <a:ext uri="{FF2B5EF4-FFF2-40B4-BE49-F238E27FC236}">
                <a16:creationId xmlns:a16="http://schemas.microsoft.com/office/drawing/2014/main" id="{DEF523FD-B1FC-40A7-93AA-389CB38E17C0}"/>
              </a:ext>
            </a:extLst>
          </p:cNvPr>
          <p:cNvSpPr>
            <a:spLocks noGrp="1"/>
          </p:cNvSpPr>
          <p:nvPr>
            <p:ph type="body" sz="quarter" idx="15"/>
          </p:nvPr>
        </p:nvSpPr>
        <p:spPr>
          <a:xfrm>
            <a:off x="7129985" y="2717803"/>
            <a:ext cx="2377440" cy="3368675"/>
          </a:xfrm>
        </p:spPr>
        <p:txBody>
          <a:bodyPr vert="horz" wrap="square" lIns="0" tIns="45720" rIns="0" bIns="45720" rtlCol="0" anchor="t">
            <a:noAutofit/>
          </a:bodyPr>
          <a:lstStyle>
            <a:lvl1pPr marL="0" indent="0">
              <a:buNone/>
              <a:defRPr lang="en-US" sz="1400" dirty="0" smtClean="0">
                <a:solidFill>
                  <a:schemeClr val="bg1">
                    <a:lumMod val="95000"/>
                  </a:schemeClr>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10" name="Content Placeholder 15">
            <a:extLst>
              <a:ext uri="{FF2B5EF4-FFF2-40B4-BE49-F238E27FC236}">
                <a16:creationId xmlns:a16="http://schemas.microsoft.com/office/drawing/2014/main" id="{B60C8CC8-C869-4395-B389-D76DF4A56AA1}"/>
              </a:ext>
            </a:extLst>
          </p:cNvPr>
          <p:cNvSpPr>
            <a:spLocks noGrp="1"/>
          </p:cNvSpPr>
          <p:nvPr>
            <p:ph sz="quarter" idx="16" hasCustomPrompt="1"/>
          </p:nvPr>
        </p:nvSpPr>
        <p:spPr>
          <a:xfrm>
            <a:off x="8044385" y="1981200"/>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1" name="Slide Number Placeholder 7">
            <a:extLst>
              <a:ext uri="{FF2B5EF4-FFF2-40B4-BE49-F238E27FC236}">
                <a16:creationId xmlns:a16="http://schemas.microsoft.com/office/drawing/2014/main" id="{E10AF5F6-7B7D-4CE6-A1D0-2F46804D3CE7}"/>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105480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3 Content_2 column Vertical">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1809750" y="1847927"/>
            <a:ext cx="7315200" cy="1461613"/>
          </a:xfrm>
        </p:spPr>
        <p:txBody>
          <a:bodyPr vert="horz" wrap="square" lIns="0" tIns="45720" rIns="0" bIns="45720" rtlCol="0" anchor="t">
            <a:noAutofit/>
          </a:bodyPr>
          <a:lstStyle>
            <a:lvl1pPr>
              <a:defRPr lang="en-US" sz="1400" dirty="0" smtClean="0">
                <a:solidFill>
                  <a:schemeClr val="bg1">
                    <a:lumMod val="95000"/>
                  </a:schemeClr>
                </a:solidFill>
                <a:latin typeface="+mn-lt"/>
                <a:ea typeface="+mj-ea"/>
                <a:cs typeface="+mj-cs"/>
              </a:defRPr>
            </a:lvl1pPr>
          </a:lstStyle>
          <a:p>
            <a:pPr marL="0" lvl="0">
              <a:lnSpc>
                <a:spcPct val="100000"/>
              </a:lnSpc>
              <a:spcBef>
                <a:spcPct val="0"/>
              </a:spcBef>
              <a:buNone/>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206264" cy="830997"/>
          </a:xfrm>
        </p:spPr>
        <p:txBody>
          <a:bodyPr vert="horz" wrap="square" lIns="0" tIns="45720" rIns="91440" bIns="45720" rtlCol="0" anchor="t">
            <a:noAutofit/>
          </a:bodyPr>
          <a:lstStyle>
            <a:lvl1pPr>
              <a:defRPr lang="en-GB" sz="2400">
                <a:solidFill>
                  <a:schemeClr val="bg1">
                    <a:lumMod val="95000"/>
                  </a:schemeClr>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647700" y="2304413"/>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1" name="Text Placeholder 12">
            <a:extLst>
              <a:ext uri="{FF2B5EF4-FFF2-40B4-BE49-F238E27FC236}">
                <a16:creationId xmlns:a16="http://schemas.microsoft.com/office/drawing/2014/main" id="{C3BB8EAB-4266-4938-A8CB-6D18C938017F}"/>
              </a:ext>
            </a:extLst>
          </p:cNvPr>
          <p:cNvSpPr>
            <a:spLocks noGrp="1"/>
          </p:cNvSpPr>
          <p:nvPr>
            <p:ph type="body" sz="quarter" idx="14"/>
          </p:nvPr>
        </p:nvSpPr>
        <p:spPr>
          <a:xfrm>
            <a:off x="1809750" y="4048520"/>
            <a:ext cx="7315200" cy="1461613"/>
          </a:xfrm>
        </p:spPr>
        <p:txBody>
          <a:bodyPr vert="horz" wrap="square" lIns="0" tIns="45720" rIns="0" bIns="45720" rtlCol="0" anchor="t">
            <a:noAutofit/>
          </a:bodyPr>
          <a:lstStyle>
            <a:lvl1pPr>
              <a:defRPr lang="en-US" sz="1400" dirty="0" smtClean="0">
                <a:solidFill>
                  <a:schemeClr val="bg1">
                    <a:lumMod val="95000"/>
                  </a:schemeClr>
                </a:solidFill>
                <a:latin typeface="+mn-lt"/>
                <a:ea typeface="+mj-ea"/>
                <a:cs typeface="+mj-cs"/>
              </a:defRPr>
            </a:lvl1pPr>
          </a:lstStyle>
          <a:p>
            <a:pPr marL="0" lvl="0">
              <a:lnSpc>
                <a:spcPct val="100000"/>
              </a:lnSpc>
              <a:spcBef>
                <a:spcPct val="0"/>
              </a:spcBef>
              <a:buNone/>
            </a:pPr>
            <a:r>
              <a:rPr lang="en-US" noProof="0"/>
              <a:t>Edit Master text styles</a:t>
            </a:r>
          </a:p>
        </p:txBody>
      </p:sp>
      <p:sp>
        <p:nvSpPr>
          <p:cNvPr id="12" name="Content Placeholder 15">
            <a:extLst>
              <a:ext uri="{FF2B5EF4-FFF2-40B4-BE49-F238E27FC236}">
                <a16:creationId xmlns:a16="http://schemas.microsoft.com/office/drawing/2014/main" id="{716D363C-A0A5-4FB1-8CC2-850C0CD9F4E7}"/>
              </a:ext>
            </a:extLst>
          </p:cNvPr>
          <p:cNvSpPr>
            <a:spLocks noGrp="1"/>
          </p:cNvSpPr>
          <p:nvPr>
            <p:ph sz="quarter" idx="15" hasCustomPrompt="1"/>
          </p:nvPr>
        </p:nvSpPr>
        <p:spPr>
          <a:xfrm>
            <a:off x="647700" y="4505006"/>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15" name="Slide Number Placeholder 7">
            <a:extLst>
              <a:ext uri="{FF2B5EF4-FFF2-40B4-BE49-F238E27FC236}">
                <a16:creationId xmlns:a16="http://schemas.microsoft.com/office/drawing/2014/main" id="{AAF4A39B-C3C3-4691-BB94-371047ADD50E}"/>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2447190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4 Content_1 column">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1562100" y="1733627"/>
            <a:ext cx="2438400" cy="4248073"/>
          </a:xfrm>
        </p:spPr>
        <p:txBody>
          <a:bodyPr vert="horz" wrap="square" lIns="0" tIns="45720" rIns="0" bIns="45720" rtlCol="0" anchor="t">
            <a:noAutofit/>
          </a:bodyPr>
          <a:lstStyle>
            <a:lvl1pPr>
              <a:defRPr lang="en-US" sz="1400" dirty="0" smtClean="0">
                <a:solidFill>
                  <a:schemeClr val="bg1">
                    <a:lumMod val="95000"/>
                  </a:schemeClr>
                </a:solidFill>
                <a:latin typeface="+mn-lt"/>
                <a:ea typeface="+mj-ea"/>
                <a:cs typeface="+mj-cs"/>
              </a:defRPr>
            </a:lvl1pPr>
          </a:lstStyle>
          <a:p>
            <a:pPr marL="0" lvl="0">
              <a:lnSpc>
                <a:spcPct val="100000"/>
              </a:lnSpc>
              <a:spcBef>
                <a:spcPct val="0"/>
              </a:spcBef>
              <a:buNone/>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206264" cy="830997"/>
          </a:xfrm>
        </p:spPr>
        <p:txBody>
          <a:bodyPr vert="horz" wrap="square" lIns="0" tIns="45720" rIns="91440" bIns="45720" rtlCol="0" anchor="t">
            <a:noAutofit/>
          </a:bodyPr>
          <a:lstStyle>
            <a:lvl1pPr>
              <a:defRPr lang="en-GB" sz="2400">
                <a:solidFill>
                  <a:schemeClr val="bg1">
                    <a:lumMod val="95000"/>
                  </a:schemeClr>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647700" y="1733627"/>
            <a:ext cx="548640" cy="548640"/>
          </a:xfrm>
        </p:spPr>
        <p:txBody>
          <a:bodyPr lIns="0" tIns="0" rIns="0" bIns="0" anchor="ctr">
            <a:noAutofit/>
          </a:bodyPr>
          <a:lstStyle>
            <a:lvl1pPr marL="0" indent="0" algn="ctr">
              <a:buNone/>
              <a:defRPr sz="1400">
                <a:solidFill>
                  <a:schemeClr val="bg1">
                    <a:lumMod val="95000"/>
                  </a:schemeClr>
                </a:solidFill>
              </a:defRPr>
            </a:lvl1pPr>
          </a:lstStyle>
          <a:p>
            <a:pPr lvl="0"/>
            <a:r>
              <a:rPr lang="en-US" noProof="0"/>
              <a:t>Icon</a:t>
            </a:r>
          </a:p>
        </p:txBody>
      </p:sp>
      <p:sp>
        <p:nvSpPr>
          <p:cNvPr id="8" name="Slide Number Placeholder 7">
            <a:extLst>
              <a:ext uri="{FF2B5EF4-FFF2-40B4-BE49-F238E27FC236}">
                <a16:creationId xmlns:a16="http://schemas.microsoft.com/office/drawing/2014/main" id="{100F546D-5491-4A19-9725-5C920C5738BE}"/>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2215973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5 Conten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1562100" y="1733627"/>
            <a:ext cx="8534400" cy="4248073"/>
          </a:xfrm>
        </p:spPr>
        <p:txBody>
          <a:bodyPr vert="horz" wrap="square" lIns="0" tIns="45720" rIns="0" bIns="45720" rtlCol="0" anchor="t">
            <a:noAutofit/>
          </a:bodyPr>
          <a:lstStyle>
            <a:lvl1pPr>
              <a:defRPr lang="en-US" sz="1400" dirty="0" smtClean="0">
                <a:solidFill>
                  <a:schemeClr val="tx1"/>
                </a:solidFill>
                <a:latin typeface="+mn-lt"/>
                <a:ea typeface="+mj-ea"/>
                <a:cs typeface="+mj-cs"/>
              </a:defRPr>
            </a:lvl1pPr>
          </a:lstStyle>
          <a:p>
            <a:pPr marL="0" lvl="0">
              <a:lnSpc>
                <a:spcPct val="100000"/>
              </a:lnSpc>
              <a:spcBef>
                <a:spcPct val="0"/>
              </a:spcBef>
              <a:buNone/>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sp>
        <p:nvSpPr>
          <p:cNvPr id="16" name="Content Placeholder 15">
            <a:extLst>
              <a:ext uri="{FF2B5EF4-FFF2-40B4-BE49-F238E27FC236}">
                <a16:creationId xmlns:a16="http://schemas.microsoft.com/office/drawing/2014/main" id="{C1ABB07C-6957-412E-9A87-72242AA3EE85}"/>
              </a:ext>
            </a:extLst>
          </p:cNvPr>
          <p:cNvSpPr>
            <a:spLocks noGrp="1"/>
          </p:cNvSpPr>
          <p:nvPr>
            <p:ph sz="quarter" idx="13" hasCustomPrompt="1"/>
          </p:nvPr>
        </p:nvSpPr>
        <p:spPr>
          <a:xfrm>
            <a:off x="647700" y="1733627"/>
            <a:ext cx="548640" cy="548640"/>
          </a:xfrm>
        </p:spPr>
        <p:txBody>
          <a:bodyPr lIns="0" tIns="0" rIns="0" bIns="0" anchor="ctr">
            <a:noAutofit/>
          </a:bodyPr>
          <a:lstStyle>
            <a:lvl1pPr marL="0" indent="0" algn="ctr">
              <a:buNone/>
              <a:defRPr sz="1400">
                <a:solidFill>
                  <a:schemeClr val="tx1"/>
                </a:solidFill>
              </a:defRPr>
            </a:lvl1pPr>
          </a:lstStyle>
          <a:p>
            <a:pPr lvl="0"/>
            <a:r>
              <a:rPr lang="en-US" noProof="0"/>
              <a:t>Icon</a:t>
            </a:r>
          </a:p>
        </p:txBody>
      </p:sp>
      <p:grpSp>
        <p:nvGrpSpPr>
          <p:cNvPr id="11" name="Group 10">
            <a:extLst>
              <a:ext uri="{FF2B5EF4-FFF2-40B4-BE49-F238E27FC236}">
                <a16:creationId xmlns:a16="http://schemas.microsoft.com/office/drawing/2014/main" id="{00AC1958-0DCB-4970-ADE3-E64DAAFC501D}"/>
              </a:ext>
            </a:extLst>
          </p:cNvPr>
          <p:cNvGrpSpPr/>
          <p:nvPr userDrawn="1"/>
        </p:nvGrpSpPr>
        <p:grpSpPr>
          <a:xfrm>
            <a:off x="0" y="6086479"/>
            <a:ext cx="12192000" cy="600974"/>
            <a:chOff x="0" y="6086479"/>
            <a:chExt cx="12192000" cy="600974"/>
          </a:xfrm>
        </p:grpSpPr>
        <p:sp>
          <p:nvSpPr>
            <p:cNvPr id="12" name="Rectangle 11">
              <a:extLst>
                <a:ext uri="{FF2B5EF4-FFF2-40B4-BE49-F238E27FC236}">
                  <a16:creationId xmlns:a16="http://schemas.microsoft.com/office/drawing/2014/main" id="{9E71A8D8-5A28-4968-9E80-110E9CB88F92}"/>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Oval 13">
              <a:extLst>
                <a:ext uri="{FF2B5EF4-FFF2-40B4-BE49-F238E27FC236}">
                  <a16:creationId xmlns:a16="http://schemas.microsoft.com/office/drawing/2014/main" id="{7239C02C-1FAD-4E73-AB32-5A30A946A447}"/>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5" name="Slide Number Placeholder 5">
            <a:extLst>
              <a:ext uri="{FF2B5EF4-FFF2-40B4-BE49-F238E27FC236}">
                <a16:creationId xmlns:a16="http://schemas.microsoft.com/office/drawing/2014/main" id="{FF40D550-A563-4E50-AEE9-6D9D19499F9F}"/>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Tree>
    <p:extLst>
      <p:ext uri="{BB962C8B-B14F-4D97-AF65-F5344CB8AC3E}">
        <p14:creationId xmlns:p14="http://schemas.microsoft.com/office/powerpoint/2010/main" val="1830657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Tree>
    <p:extLst>
      <p:ext uri="{BB962C8B-B14F-4D97-AF65-F5344CB8AC3E}">
        <p14:creationId xmlns:p14="http://schemas.microsoft.com/office/powerpoint/2010/main" val="150809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Images_Important Text 01">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D935D313-376E-4CA0-9732-D0CACCC07FAD}"/>
              </a:ext>
            </a:extLst>
          </p:cNvPr>
          <p:cNvSpPr>
            <a:spLocks noGrp="1"/>
          </p:cNvSpPr>
          <p:nvPr>
            <p:ph type="pic" sz="quarter" idx="13" hasCustomPrompt="1"/>
          </p:nvPr>
        </p:nvSpPr>
        <p:spPr>
          <a:xfrm>
            <a:off x="6464300" y="0"/>
            <a:ext cx="5727700" cy="6858000"/>
          </a:xfrm>
          <a:custGeom>
            <a:avLst/>
            <a:gdLst>
              <a:gd name="connsiteX0" fmla="*/ 1708150 w 5727700"/>
              <a:gd name="connsiteY0" fmla="*/ 0 h 6858000"/>
              <a:gd name="connsiteX1" fmla="*/ 5727700 w 5727700"/>
              <a:gd name="connsiteY1" fmla="*/ 0 h 6858000"/>
              <a:gd name="connsiteX2" fmla="*/ 5727700 w 5727700"/>
              <a:gd name="connsiteY2" fmla="*/ 6858000 h 6858000"/>
              <a:gd name="connsiteX3" fmla="*/ 0 w 5727700"/>
              <a:gd name="connsiteY3" fmla="*/ 6858000 h 6858000"/>
              <a:gd name="connsiteX4" fmla="*/ 0 w 5727700"/>
              <a:gd name="connsiteY4" fmla="*/ 68326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00" h="6858000">
                <a:moveTo>
                  <a:pt x="1708150" y="0"/>
                </a:moveTo>
                <a:lnTo>
                  <a:pt x="5727700" y="0"/>
                </a:lnTo>
                <a:lnTo>
                  <a:pt x="5727700" y="6858000"/>
                </a:lnTo>
                <a:lnTo>
                  <a:pt x="0" y="6858000"/>
                </a:lnTo>
                <a:lnTo>
                  <a:pt x="0" y="6832600"/>
                </a:lnTo>
                <a:close/>
              </a:path>
            </a:pathLst>
          </a:custGeom>
        </p:spPr>
        <p:txBody>
          <a:bodyPr vert="horz" wrap="square" lIns="91440" tIns="45720" rIns="91440" bIns="45720" rtlCol="0" anchor="ctr" anchorCtr="1">
            <a:noAutofit/>
          </a:bodyPr>
          <a:lstStyle>
            <a:lvl1pPr marL="0" indent="0">
              <a:buNone/>
              <a:defRPr lang="en-GB" sz="1800"/>
            </a:lvl1pPr>
          </a:lstStyle>
          <a:p>
            <a:pPr marL="228600" lvl="0" indent="-228600" algn="ctr"/>
            <a:r>
              <a:rPr lang="en-US" noProof="0" dirty="0"/>
              <a:t>Insert Image</a:t>
            </a:r>
          </a:p>
        </p:txBody>
      </p:sp>
      <p:sp>
        <p:nvSpPr>
          <p:cNvPr id="12" name="Picture Placeholder 11">
            <a:extLst>
              <a:ext uri="{FF2B5EF4-FFF2-40B4-BE49-F238E27FC236}">
                <a16:creationId xmlns:a16="http://schemas.microsoft.com/office/drawing/2014/main" id="{83A2DEF1-03FF-475D-994A-6FC6FB1414FB}"/>
              </a:ext>
            </a:extLst>
          </p:cNvPr>
          <p:cNvSpPr>
            <a:spLocks noGrp="1"/>
          </p:cNvSpPr>
          <p:nvPr>
            <p:ph type="pic" sz="quarter" idx="12" hasCustomPrompt="1"/>
          </p:nvPr>
        </p:nvSpPr>
        <p:spPr>
          <a:xfrm>
            <a:off x="0" y="0"/>
            <a:ext cx="8087304" cy="6858000"/>
          </a:xfrm>
          <a:custGeom>
            <a:avLst/>
            <a:gdLst>
              <a:gd name="connsiteX0" fmla="*/ 0 w 8087304"/>
              <a:gd name="connsiteY0" fmla="*/ 0 h 6858000"/>
              <a:gd name="connsiteX1" fmla="*/ 8087304 w 8087304"/>
              <a:gd name="connsiteY1" fmla="*/ 0 h 6858000"/>
              <a:gd name="connsiteX2" fmla="*/ 8087304 w 8087304"/>
              <a:gd name="connsiteY2" fmla="*/ 7620 h 6858000"/>
              <a:gd name="connsiteX3" fmla="*/ 6368365 w 8087304"/>
              <a:gd name="connsiteY3" fmla="*/ 6858000 h 6858000"/>
              <a:gd name="connsiteX4" fmla="*/ 0 w 8087304"/>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7304" h="6858000">
                <a:moveTo>
                  <a:pt x="0" y="0"/>
                </a:moveTo>
                <a:lnTo>
                  <a:pt x="8087304" y="0"/>
                </a:lnTo>
                <a:lnTo>
                  <a:pt x="8087304" y="7620"/>
                </a:lnTo>
                <a:lnTo>
                  <a:pt x="6368365" y="6858000"/>
                </a:lnTo>
                <a:lnTo>
                  <a:pt x="0" y="6858000"/>
                </a:lnTo>
                <a:close/>
              </a:path>
            </a:pathLst>
          </a:custGeom>
        </p:spPr>
        <p:txBody>
          <a:bodyPr wrap="square" anchor="ctr" anchorCtr="1">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marL="285750" marR="0" lvl="0" indent="-285750" algn="ctr" defTabSz="914400" rtl="0" eaLnBrk="1" fontAlgn="auto" latinLnBrk="0" hangingPunct="1">
              <a:lnSpc>
                <a:spcPct val="90000"/>
              </a:lnSpc>
              <a:spcBef>
                <a:spcPts val="1000"/>
              </a:spcBef>
              <a:spcAft>
                <a:spcPts val="0"/>
              </a:spcAft>
              <a:buClrTx/>
              <a:buSzTx/>
              <a:tabLst/>
              <a:defRPr/>
            </a:pPr>
            <a:r>
              <a:rPr lang="en-US" noProof="0" dirty="0"/>
              <a:t>Insert Image</a:t>
            </a:r>
          </a:p>
        </p:txBody>
      </p:sp>
      <p:sp>
        <p:nvSpPr>
          <p:cNvPr id="13" name="Text Placeholder 12">
            <a:extLst>
              <a:ext uri="{FF2B5EF4-FFF2-40B4-BE49-F238E27FC236}">
                <a16:creationId xmlns:a16="http://schemas.microsoft.com/office/drawing/2014/main" id="{B48BA177-B717-42B2-884C-04576C20342D}"/>
              </a:ext>
            </a:extLst>
          </p:cNvPr>
          <p:cNvSpPr>
            <a:spLocks noGrp="1"/>
          </p:cNvSpPr>
          <p:nvPr>
            <p:ph type="body" sz="quarter" idx="11"/>
          </p:nvPr>
        </p:nvSpPr>
        <p:spPr>
          <a:xfrm>
            <a:off x="785586" y="5047107"/>
            <a:ext cx="5005614" cy="1005840"/>
          </a:xfrm>
        </p:spPr>
        <p:txBody>
          <a:bodyPr vert="horz" wrap="square" lIns="0" tIns="45720" rIns="0" bIns="45720" rtlCol="0" anchor="t">
            <a:noAutofit/>
          </a:bodyPr>
          <a:lstStyle>
            <a:lvl1pPr marL="0" indent="0">
              <a:buNone/>
              <a:defRPr lang="en-US" sz="1600" dirty="0" smtClean="0">
                <a:solidFill>
                  <a:schemeClr val="tx1"/>
                </a:solidFill>
                <a:latin typeface="+mn-lt"/>
                <a:ea typeface="+mj-ea"/>
                <a:cs typeface="+mj-cs"/>
              </a:defRPr>
            </a:lvl1pPr>
          </a:lstStyle>
          <a:p>
            <a:pPr marL="57150" lvl="0" indent="-285750">
              <a:lnSpc>
                <a:spcPct val="100000"/>
              </a:lnSpc>
              <a:spcBef>
                <a:spcPct val="0"/>
              </a:spcBef>
            </a:pPr>
            <a:r>
              <a:rPr lang="en-US" noProof="0"/>
              <a:t>Edit Master text styles</a:t>
            </a:r>
          </a:p>
        </p:txBody>
      </p:sp>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785586" y="4081468"/>
            <a:ext cx="5005614" cy="822960"/>
          </a:xfrm>
        </p:spPr>
        <p:txBody>
          <a:bodyPr vert="horz" wrap="square" lIns="0" tIns="45720" rIns="91440" bIns="45720" rtlCol="0" anchor="t">
            <a:noAutofit/>
          </a:bodyPr>
          <a:lstStyle>
            <a:lvl1pPr marL="0" indent="0">
              <a:buFont typeface="Arial" panose="020B0604020202020204" pitchFamily="34" charset="0"/>
              <a:buNone/>
              <a:defRPr lang="en-GB" sz="2400" dirty="0">
                <a:solidFill>
                  <a:schemeClr val="tx1"/>
                </a:solidFill>
                <a:latin typeface="Corbel" panose="020B0503020204020204" pitchFamily="34" charset="0"/>
              </a:defRPr>
            </a:lvl1pPr>
          </a:lstStyle>
          <a:p>
            <a:pPr marL="0" lvl="0">
              <a:lnSpc>
                <a:spcPct val="100000"/>
              </a:lnSpc>
            </a:pPr>
            <a:r>
              <a:rPr lang="en-US" noProof="0"/>
              <a:t>Click to edit Master title style</a:t>
            </a:r>
          </a:p>
        </p:txBody>
      </p:sp>
      <p:sp>
        <p:nvSpPr>
          <p:cNvPr id="20" name="Slide Number Placeholder 7">
            <a:extLst>
              <a:ext uri="{FF2B5EF4-FFF2-40B4-BE49-F238E27FC236}">
                <a16:creationId xmlns:a16="http://schemas.microsoft.com/office/drawing/2014/main" id="{1CEA3362-50AD-4D98-92C4-DA1D8C857A75}"/>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791417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F3686C7-DF83-47D9-A485-35F4F1D36A69}"/>
              </a:ext>
            </a:extLst>
          </p:cNvPr>
          <p:cNvGrpSpPr/>
          <p:nvPr userDrawn="1"/>
        </p:nvGrpSpPr>
        <p:grpSpPr>
          <a:xfrm>
            <a:off x="0" y="6086479"/>
            <a:ext cx="12192000" cy="600974"/>
            <a:chOff x="0" y="6086479"/>
            <a:chExt cx="12192000" cy="600974"/>
          </a:xfrm>
        </p:grpSpPr>
        <p:sp>
          <p:nvSpPr>
            <p:cNvPr id="4" name="Rectangle 3">
              <a:extLst>
                <a:ext uri="{FF2B5EF4-FFF2-40B4-BE49-F238E27FC236}">
                  <a16:creationId xmlns:a16="http://schemas.microsoft.com/office/drawing/2014/main" id="{790B36CF-9391-49E9-B599-8B724B6EF267}"/>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468CE156-5D60-42B0-A4F9-33FA85537807}"/>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Slide Number Placeholder 7">
            <a:extLst>
              <a:ext uri="{FF2B5EF4-FFF2-40B4-BE49-F238E27FC236}">
                <a16:creationId xmlns:a16="http://schemas.microsoft.com/office/drawing/2014/main" id="{9E4521A1-4C9D-4795-B551-D151E8856AAE}"/>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bg1"/>
                </a:solidFill>
              </a:defRPr>
            </a:lvl1pPr>
          </a:lstStyle>
          <a:p>
            <a:pPr algn="ctr"/>
            <a:fld id="{817179DE-9BF3-494C-804F-0C7C90AC8700}" type="slidenum">
              <a:rPr lang="en-US" noProof="0" smtClean="0"/>
              <a:pPr algn="ctr"/>
              <a:t>‹#›</a:t>
            </a:fld>
            <a:endParaRPr lang="en-US" noProof="0" dirty="0"/>
          </a:p>
        </p:txBody>
      </p:sp>
    </p:spTree>
    <p:extLst>
      <p:ext uri="{BB962C8B-B14F-4D97-AF65-F5344CB8AC3E}">
        <p14:creationId xmlns:p14="http://schemas.microsoft.com/office/powerpoint/2010/main" val="540370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46D6285-06A8-4297-915D-0A280359C280}"/>
              </a:ext>
            </a:extLst>
          </p:cNvPr>
          <p:cNvSpPr>
            <a:spLocks noGrp="1"/>
          </p:cNvSpPr>
          <p:nvPr>
            <p:ph type="pic" sz="quarter" idx="10" hasCustomPrompt="1"/>
          </p:nvPr>
        </p:nvSpPr>
        <p:spPr>
          <a:xfrm>
            <a:off x="1" y="0"/>
            <a:ext cx="12192000" cy="6858000"/>
          </a:xfrm>
        </p:spPr>
        <p:txBody>
          <a:bodyPr vert="horz" lIns="91440" tIns="45720" rIns="91440" bIns="45720" rtlCol="0" anchor="ctr" anchorCtr="1">
            <a:normAutofit/>
          </a:bodyPr>
          <a:lstStyle>
            <a:lvl1pPr>
              <a:defRPr lang="en-GB" sz="2400">
                <a:solidFill>
                  <a:schemeClr val="tx1"/>
                </a:solidFill>
              </a:defRPr>
            </a:lvl1pPr>
          </a:lstStyle>
          <a:p>
            <a:pPr marL="0" lvl="0" indent="0">
              <a:buNone/>
            </a:pPr>
            <a:r>
              <a:rPr lang="en-US" noProof="0" dirty="0"/>
              <a:t>Insert Image</a:t>
            </a:r>
          </a:p>
        </p:txBody>
      </p:sp>
      <p:sp>
        <p:nvSpPr>
          <p:cNvPr id="10" name="Title 1">
            <a:extLst>
              <a:ext uri="{FF2B5EF4-FFF2-40B4-BE49-F238E27FC236}">
                <a16:creationId xmlns:a16="http://schemas.microsoft.com/office/drawing/2014/main" id="{A75C086E-F523-4C77-938F-0DB6203DBC43}"/>
              </a:ext>
            </a:extLst>
          </p:cNvPr>
          <p:cNvSpPr>
            <a:spLocks noGrp="1"/>
          </p:cNvSpPr>
          <p:nvPr>
            <p:ph type="ctrTitle" hasCustomPrompt="1"/>
          </p:nvPr>
        </p:nvSpPr>
        <p:spPr>
          <a:xfrm>
            <a:off x="691080" y="2139696"/>
            <a:ext cx="5578995" cy="879928"/>
          </a:xfrm>
        </p:spPr>
        <p:txBody>
          <a:bodyPr vert="horz" lIns="91440" tIns="45720" rIns="91440" bIns="45720" rtlCol="0" anchor="ctr" anchorCtr="0">
            <a:noAutofit/>
          </a:bodyPr>
          <a:lstStyle>
            <a:lvl1pPr algn="l">
              <a:defRPr lang="en-GB" b="0" dirty="0">
                <a:solidFill>
                  <a:schemeClr val="bg1"/>
                </a:solidFill>
              </a:defRPr>
            </a:lvl1pPr>
          </a:lstStyle>
          <a:p>
            <a:pPr marL="0" lvl="0" algn="ctr"/>
            <a:r>
              <a:rPr lang="en-US" noProof="0"/>
              <a:t>TITLE</a:t>
            </a:r>
          </a:p>
        </p:txBody>
      </p:sp>
      <p:sp>
        <p:nvSpPr>
          <p:cNvPr id="17" name="Text Placeholder 4">
            <a:extLst>
              <a:ext uri="{FF2B5EF4-FFF2-40B4-BE49-F238E27FC236}">
                <a16:creationId xmlns:a16="http://schemas.microsoft.com/office/drawing/2014/main" id="{B293AB9F-7C1D-4A06-9F42-4FD67BF2739F}"/>
              </a:ext>
            </a:extLst>
          </p:cNvPr>
          <p:cNvSpPr>
            <a:spLocks noGrp="1"/>
          </p:cNvSpPr>
          <p:nvPr>
            <p:ph type="body" sz="quarter" idx="15" hasCustomPrompt="1"/>
          </p:nvPr>
        </p:nvSpPr>
        <p:spPr>
          <a:xfrm>
            <a:off x="1359075" y="3653097"/>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Name</a:t>
            </a:r>
          </a:p>
        </p:txBody>
      </p:sp>
      <p:sp>
        <p:nvSpPr>
          <p:cNvPr id="18" name="Text Placeholder 4">
            <a:extLst>
              <a:ext uri="{FF2B5EF4-FFF2-40B4-BE49-F238E27FC236}">
                <a16:creationId xmlns:a16="http://schemas.microsoft.com/office/drawing/2014/main" id="{224AF9FB-5C6E-4050-AE8D-3B218C0F1DAE}"/>
              </a:ext>
            </a:extLst>
          </p:cNvPr>
          <p:cNvSpPr>
            <a:spLocks noGrp="1"/>
          </p:cNvSpPr>
          <p:nvPr>
            <p:ph type="body" sz="quarter" idx="16" hasCustomPrompt="1"/>
          </p:nvPr>
        </p:nvSpPr>
        <p:spPr>
          <a:xfrm>
            <a:off x="1359075" y="4392151"/>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Phone</a:t>
            </a:r>
          </a:p>
        </p:txBody>
      </p:sp>
      <p:sp>
        <p:nvSpPr>
          <p:cNvPr id="19" name="Text Placeholder 4">
            <a:extLst>
              <a:ext uri="{FF2B5EF4-FFF2-40B4-BE49-F238E27FC236}">
                <a16:creationId xmlns:a16="http://schemas.microsoft.com/office/drawing/2014/main" id="{68A48B85-2E0B-42B6-AB4A-1302D3C828F5}"/>
              </a:ext>
            </a:extLst>
          </p:cNvPr>
          <p:cNvSpPr>
            <a:spLocks noGrp="1"/>
          </p:cNvSpPr>
          <p:nvPr>
            <p:ph type="body" sz="quarter" idx="17" hasCustomPrompt="1"/>
          </p:nvPr>
        </p:nvSpPr>
        <p:spPr>
          <a:xfrm>
            <a:off x="1359075" y="5131205"/>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Email</a:t>
            </a:r>
          </a:p>
        </p:txBody>
      </p:sp>
      <p:sp>
        <p:nvSpPr>
          <p:cNvPr id="20" name="Text Placeholder 4">
            <a:extLst>
              <a:ext uri="{FF2B5EF4-FFF2-40B4-BE49-F238E27FC236}">
                <a16:creationId xmlns:a16="http://schemas.microsoft.com/office/drawing/2014/main" id="{9244D33F-3A47-4DE3-8198-7AC5316E31E6}"/>
              </a:ext>
            </a:extLst>
          </p:cNvPr>
          <p:cNvSpPr>
            <a:spLocks noGrp="1"/>
          </p:cNvSpPr>
          <p:nvPr>
            <p:ph type="body" sz="quarter" idx="18" hasCustomPrompt="1"/>
          </p:nvPr>
        </p:nvSpPr>
        <p:spPr>
          <a:xfrm>
            <a:off x="1359075" y="5870258"/>
            <a:ext cx="3695206" cy="276999"/>
          </a:xfrm>
        </p:spPr>
        <p:txBody>
          <a:bodyPr lIns="0" anchor="ctr">
            <a:noAutofit/>
          </a:bodyPr>
          <a:lstStyle>
            <a:lvl1pPr marL="0" indent="0">
              <a:lnSpc>
                <a:spcPct val="100000"/>
              </a:lnSpc>
              <a:buNone/>
              <a:defRPr sz="1800" spc="0">
                <a:solidFill>
                  <a:schemeClr val="bg1"/>
                </a:solidFill>
              </a:defRPr>
            </a:lvl1pPr>
          </a:lstStyle>
          <a:p>
            <a:pPr lvl="0"/>
            <a:r>
              <a:rPr lang="en-US" noProof="0"/>
              <a:t>Website</a:t>
            </a:r>
          </a:p>
        </p:txBody>
      </p:sp>
      <p:sp>
        <p:nvSpPr>
          <p:cNvPr id="3" name="Content Placeholder 2">
            <a:extLst>
              <a:ext uri="{FF2B5EF4-FFF2-40B4-BE49-F238E27FC236}">
                <a16:creationId xmlns:a16="http://schemas.microsoft.com/office/drawing/2014/main" id="{8F220C8B-2E18-4D91-A806-6C7C3940B00F}"/>
              </a:ext>
            </a:extLst>
          </p:cNvPr>
          <p:cNvSpPr>
            <a:spLocks noGrp="1" noChangeAspect="1"/>
          </p:cNvSpPr>
          <p:nvPr>
            <p:ph sz="quarter" idx="19" hasCustomPrompt="1"/>
          </p:nvPr>
        </p:nvSpPr>
        <p:spPr>
          <a:xfrm>
            <a:off x="691080" y="4295744"/>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
        <p:nvSpPr>
          <p:cNvPr id="28" name="Content Placeholder 2">
            <a:extLst>
              <a:ext uri="{FF2B5EF4-FFF2-40B4-BE49-F238E27FC236}">
                <a16:creationId xmlns:a16="http://schemas.microsoft.com/office/drawing/2014/main" id="{3D1C5933-D103-4989-B652-C7B692341BC3}"/>
              </a:ext>
            </a:extLst>
          </p:cNvPr>
          <p:cNvSpPr>
            <a:spLocks noGrp="1" noChangeAspect="1"/>
          </p:cNvSpPr>
          <p:nvPr>
            <p:ph sz="quarter" idx="20" hasCustomPrompt="1"/>
          </p:nvPr>
        </p:nvSpPr>
        <p:spPr>
          <a:xfrm>
            <a:off x="691080" y="5034798"/>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
        <p:nvSpPr>
          <p:cNvPr id="29" name="Content Placeholder 2">
            <a:extLst>
              <a:ext uri="{FF2B5EF4-FFF2-40B4-BE49-F238E27FC236}">
                <a16:creationId xmlns:a16="http://schemas.microsoft.com/office/drawing/2014/main" id="{A80EBF65-A9A1-4724-B962-DB9B79A924AA}"/>
              </a:ext>
            </a:extLst>
          </p:cNvPr>
          <p:cNvSpPr>
            <a:spLocks noGrp="1" noChangeAspect="1"/>
          </p:cNvSpPr>
          <p:nvPr>
            <p:ph sz="quarter" idx="21" hasCustomPrompt="1"/>
          </p:nvPr>
        </p:nvSpPr>
        <p:spPr>
          <a:xfrm>
            <a:off x="691080" y="5773851"/>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
        <p:nvSpPr>
          <p:cNvPr id="30" name="Content Placeholder 2">
            <a:extLst>
              <a:ext uri="{FF2B5EF4-FFF2-40B4-BE49-F238E27FC236}">
                <a16:creationId xmlns:a16="http://schemas.microsoft.com/office/drawing/2014/main" id="{06251342-E6E3-4C57-A0A9-C7BB3DCAE115}"/>
              </a:ext>
            </a:extLst>
          </p:cNvPr>
          <p:cNvSpPr>
            <a:spLocks noGrp="1" noChangeAspect="1"/>
          </p:cNvSpPr>
          <p:nvPr>
            <p:ph sz="quarter" idx="22" hasCustomPrompt="1"/>
          </p:nvPr>
        </p:nvSpPr>
        <p:spPr>
          <a:xfrm>
            <a:off x="691080" y="3556690"/>
            <a:ext cx="469813" cy="469812"/>
          </a:xfrm>
          <a:prstGeom prst="ellipse">
            <a:avLst/>
          </a:prstGeom>
          <a:noFill/>
          <a:ln>
            <a:noFill/>
          </a:ln>
        </p:spPr>
        <p:txBody>
          <a:bodyPr lIns="0" tIns="0" rIns="0" bIns="0" anchor="ctr">
            <a:noAutofit/>
          </a:bodyPr>
          <a:lstStyle>
            <a:lvl1pPr marL="0" indent="0" algn="ctr">
              <a:buNone/>
              <a:defRPr sz="1050"/>
            </a:lvl1pPr>
          </a:lstStyle>
          <a:p>
            <a:pPr lvl="0"/>
            <a:r>
              <a:rPr lang="en-US" noProof="0"/>
              <a:t>Icon</a:t>
            </a:r>
          </a:p>
        </p:txBody>
      </p:sp>
    </p:spTree>
    <p:extLst>
      <p:ext uri="{BB962C8B-B14F-4D97-AF65-F5344CB8AC3E}">
        <p14:creationId xmlns:p14="http://schemas.microsoft.com/office/powerpoint/2010/main" val="4169354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grpSp>
        <p:nvGrpSpPr>
          <p:cNvPr id="6" name="Group 5">
            <a:extLst>
              <a:ext uri="{FF2B5EF4-FFF2-40B4-BE49-F238E27FC236}">
                <a16:creationId xmlns:a16="http://schemas.microsoft.com/office/drawing/2014/main" id="{EFDB39AB-B644-434A-9D55-AF3455D468E5}"/>
              </a:ext>
            </a:extLst>
          </p:cNvPr>
          <p:cNvGrpSpPr/>
          <p:nvPr userDrawn="1"/>
        </p:nvGrpSpPr>
        <p:grpSpPr>
          <a:xfrm>
            <a:off x="9140346" y="5054600"/>
            <a:ext cx="676275" cy="114300"/>
            <a:chOff x="9330846" y="5054600"/>
            <a:chExt cx="676275" cy="114300"/>
          </a:xfrm>
        </p:grpSpPr>
        <p:sp>
          <p:nvSpPr>
            <p:cNvPr id="7" name="Oval 6">
              <a:extLst>
                <a:ext uri="{FF2B5EF4-FFF2-40B4-BE49-F238E27FC236}">
                  <a16:creationId xmlns:a16="http://schemas.microsoft.com/office/drawing/2014/main" id="{BF14E129-1970-4994-89E5-F7A67128AFE3}"/>
                </a:ext>
              </a:extLst>
            </p:cNvPr>
            <p:cNvSpPr/>
            <p:nvPr/>
          </p:nvSpPr>
          <p:spPr>
            <a:xfrm>
              <a:off x="933084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593336FA-97B2-4528-88E8-5FF97F86E216}"/>
                </a:ext>
              </a:extLst>
            </p:cNvPr>
            <p:cNvSpPr/>
            <p:nvPr/>
          </p:nvSpPr>
          <p:spPr>
            <a:xfrm>
              <a:off x="951817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8A73C166-FCDF-40AE-8B0D-69C7E2C8573E}"/>
                </a:ext>
              </a:extLst>
            </p:cNvPr>
            <p:cNvSpPr/>
            <p:nvPr/>
          </p:nvSpPr>
          <p:spPr>
            <a:xfrm>
              <a:off x="970549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F418119-E3DD-44B0-A4AF-F8A98EC5863B}"/>
                </a:ext>
              </a:extLst>
            </p:cNvPr>
            <p:cNvSpPr/>
            <p:nvPr/>
          </p:nvSpPr>
          <p:spPr>
            <a:xfrm>
              <a:off x="989282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3" name="Freeform: Shape 12">
            <a:extLst>
              <a:ext uri="{FF2B5EF4-FFF2-40B4-BE49-F238E27FC236}">
                <a16:creationId xmlns:a16="http://schemas.microsoft.com/office/drawing/2014/main" id="{5BE10AC4-CBFC-4ECF-92D5-9CE1874F58D7}"/>
              </a:ext>
            </a:extLst>
          </p:cNvPr>
          <p:cNvSpPr/>
          <p:nvPr userDrawn="1"/>
        </p:nvSpPr>
        <p:spPr>
          <a:xfrm>
            <a:off x="0" y="0"/>
            <a:ext cx="8568965"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466734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305EBB3-0F16-4B63-82ED-191AB224B8E2}"/>
              </a:ext>
            </a:extLst>
          </p:cNvPr>
          <p:cNvSpPr/>
          <p:nvPr userDrawn="1"/>
        </p:nvSpPr>
        <p:spPr>
          <a:xfrm>
            <a:off x="4334810" y="0"/>
            <a:ext cx="3522381" cy="6858000"/>
          </a:xfrm>
          <a:custGeom>
            <a:avLst/>
            <a:gdLst>
              <a:gd name="connsiteX0" fmla="*/ 0 w 3522381"/>
              <a:gd name="connsiteY0" fmla="*/ 0 h 6858000"/>
              <a:gd name="connsiteX1" fmla="*/ 3522381 w 3522381"/>
              <a:gd name="connsiteY1" fmla="*/ 0 h 6858000"/>
              <a:gd name="connsiteX2" fmla="*/ 51547 w 3522381"/>
              <a:gd name="connsiteY2" fmla="*/ 6858000 h 6858000"/>
              <a:gd name="connsiteX3" fmla="*/ 0 w 352238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22381" h="6858000">
                <a:moveTo>
                  <a:pt x="0" y="0"/>
                </a:moveTo>
                <a:lnTo>
                  <a:pt x="3522381" y="0"/>
                </a:lnTo>
                <a:lnTo>
                  <a:pt x="51547" y="6858000"/>
                </a:lnTo>
                <a:lnTo>
                  <a:pt x="0" y="6858000"/>
                </a:lnTo>
                <a:close/>
              </a:path>
            </a:pathLst>
          </a:cu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Title 1">
            <a:extLst>
              <a:ext uri="{FF2B5EF4-FFF2-40B4-BE49-F238E27FC236}">
                <a16:creationId xmlns:a16="http://schemas.microsoft.com/office/drawing/2014/main" id="{C1744DE2-A455-46F2-BE15-959050C87CE4}"/>
              </a:ext>
            </a:extLst>
          </p:cNvPr>
          <p:cNvSpPr>
            <a:spLocks noGrp="1"/>
          </p:cNvSpPr>
          <p:nvPr>
            <p:ph type="ctrTitle" hasCustomPrompt="1"/>
          </p:nvPr>
        </p:nvSpPr>
        <p:spPr>
          <a:xfrm>
            <a:off x="7274144" y="1291772"/>
            <a:ext cx="4379976" cy="3611880"/>
          </a:xfrm>
        </p:spPr>
        <p:txBody>
          <a:bodyPr vert="horz" lIns="91440" tIns="45720" rIns="91440" bIns="45720" rtlCol="0" anchor="b" anchorCtr="1">
            <a:noAutofit/>
          </a:bodyPr>
          <a:lstStyle>
            <a:lvl1pPr>
              <a:defRPr lang="en-GB" dirty="0"/>
            </a:lvl1pPr>
          </a:lstStyle>
          <a:p>
            <a:pPr marL="0" lvl="0" algn="ctr"/>
            <a:r>
              <a:rPr lang="en-US" noProof="0"/>
              <a:t>TITLE</a:t>
            </a:r>
          </a:p>
        </p:txBody>
      </p:sp>
      <p:sp>
        <p:nvSpPr>
          <p:cNvPr id="3" name="Subtitle 2">
            <a:extLst>
              <a:ext uri="{FF2B5EF4-FFF2-40B4-BE49-F238E27FC236}">
                <a16:creationId xmlns:a16="http://schemas.microsoft.com/office/drawing/2014/main" id="{AC9DE4F3-CE8F-41A0-BFDE-76D0DF1DF432}"/>
              </a:ext>
            </a:extLst>
          </p:cNvPr>
          <p:cNvSpPr>
            <a:spLocks noGrp="1"/>
          </p:cNvSpPr>
          <p:nvPr>
            <p:ph type="subTitle" idx="1" hasCustomPrompt="1"/>
          </p:nvPr>
        </p:nvSpPr>
        <p:spPr>
          <a:xfrm>
            <a:off x="7389079" y="5392401"/>
            <a:ext cx="4178808" cy="521208"/>
          </a:xfrm>
        </p:spPr>
        <p:txBody>
          <a:bodyPr vert="horz" lIns="91440" tIns="45720" rIns="91440" bIns="45720" rtlCol="0" anchor="t">
            <a:noAutofit/>
          </a:bodyPr>
          <a:lstStyle>
            <a:lvl1pPr marL="0" indent="0" algn="ctr">
              <a:buNone/>
              <a:defRPr lang="en-US" sz="1800" dirty="0">
                <a:solidFill>
                  <a:srgbClr val="B2606E"/>
                </a:solidFill>
              </a:defRPr>
            </a:lvl1pPr>
          </a:lstStyle>
          <a:p>
            <a:pPr lvl="0"/>
            <a:r>
              <a:rPr lang="en-US" noProof="0"/>
              <a:t>Subtitle</a:t>
            </a:r>
          </a:p>
        </p:txBody>
      </p:sp>
      <p:grpSp>
        <p:nvGrpSpPr>
          <p:cNvPr id="6" name="Group 5">
            <a:extLst>
              <a:ext uri="{FF2B5EF4-FFF2-40B4-BE49-F238E27FC236}">
                <a16:creationId xmlns:a16="http://schemas.microsoft.com/office/drawing/2014/main" id="{EFDB39AB-B644-434A-9D55-AF3455D468E5}"/>
              </a:ext>
            </a:extLst>
          </p:cNvPr>
          <p:cNvGrpSpPr/>
          <p:nvPr userDrawn="1"/>
        </p:nvGrpSpPr>
        <p:grpSpPr>
          <a:xfrm>
            <a:off x="9140346" y="5054600"/>
            <a:ext cx="676275" cy="114300"/>
            <a:chOff x="9330846" y="5054600"/>
            <a:chExt cx="676275" cy="114300"/>
          </a:xfrm>
        </p:grpSpPr>
        <p:sp>
          <p:nvSpPr>
            <p:cNvPr id="7" name="Oval 6">
              <a:extLst>
                <a:ext uri="{FF2B5EF4-FFF2-40B4-BE49-F238E27FC236}">
                  <a16:creationId xmlns:a16="http://schemas.microsoft.com/office/drawing/2014/main" id="{BF14E129-1970-4994-89E5-F7A67128AFE3}"/>
                </a:ext>
              </a:extLst>
            </p:cNvPr>
            <p:cNvSpPr/>
            <p:nvPr/>
          </p:nvSpPr>
          <p:spPr>
            <a:xfrm>
              <a:off x="933084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Oval 7">
              <a:extLst>
                <a:ext uri="{FF2B5EF4-FFF2-40B4-BE49-F238E27FC236}">
                  <a16:creationId xmlns:a16="http://schemas.microsoft.com/office/drawing/2014/main" id="{593336FA-97B2-4528-88E8-5FF97F86E216}"/>
                </a:ext>
              </a:extLst>
            </p:cNvPr>
            <p:cNvSpPr/>
            <p:nvPr/>
          </p:nvSpPr>
          <p:spPr>
            <a:xfrm>
              <a:off x="951817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Oval 8">
              <a:extLst>
                <a:ext uri="{FF2B5EF4-FFF2-40B4-BE49-F238E27FC236}">
                  <a16:creationId xmlns:a16="http://schemas.microsoft.com/office/drawing/2014/main" id="{8A73C166-FCDF-40AE-8B0D-69C7E2C8573E}"/>
                </a:ext>
              </a:extLst>
            </p:cNvPr>
            <p:cNvSpPr/>
            <p:nvPr/>
          </p:nvSpPr>
          <p:spPr>
            <a:xfrm>
              <a:off x="9705496"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Oval 10">
              <a:extLst>
                <a:ext uri="{FF2B5EF4-FFF2-40B4-BE49-F238E27FC236}">
                  <a16:creationId xmlns:a16="http://schemas.microsoft.com/office/drawing/2014/main" id="{EF418119-E3DD-44B0-A4AF-F8A98EC5863B}"/>
                </a:ext>
              </a:extLst>
            </p:cNvPr>
            <p:cNvSpPr/>
            <p:nvPr/>
          </p:nvSpPr>
          <p:spPr>
            <a:xfrm>
              <a:off x="9892821" y="5054600"/>
              <a:ext cx="114300" cy="1143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Tree>
    <p:extLst>
      <p:ext uri="{BB962C8B-B14F-4D97-AF65-F5344CB8AC3E}">
        <p14:creationId xmlns:p14="http://schemas.microsoft.com/office/powerpoint/2010/main" val="3873491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Content Placeholder 2">
            <a:extLst>
              <a:ext uri="{FF2B5EF4-FFF2-40B4-BE49-F238E27FC236}">
                <a16:creationId xmlns:a16="http://schemas.microsoft.com/office/drawing/2014/main" id="{C7BBA6D3-FEB9-412B-8FBB-095FC3A60ABF}"/>
              </a:ext>
            </a:extLst>
          </p:cNvPr>
          <p:cNvSpPr>
            <a:spLocks noGrp="1"/>
          </p:cNvSpPr>
          <p:nvPr>
            <p:ph idx="1"/>
          </p:nvPr>
        </p:nvSpPr>
        <p:spPr>
          <a:xfrm>
            <a:off x="633186" y="1825625"/>
            <a:ext cx="10815864"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1002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Content Placeholder 2">
            <a:extLst>
              <a:ext uri="{FF2B5EF4-FFF2-40B4-BE49-F238E27FC236}">
                <a16:creationId xmlns:a16="http://schemas.microsoft.com/office/drawing/2014/main" id="{64A4F74B-B2CD-407C-865A-037EDFAC9DB0}"/>
              </a:ext>
            </a:extLst>
          </p:cNvPr>
          <p:cNvSpPr>
            <a:spLocks noGrp="1"/>
          </p:cNvSpPr>
          <p:nvPr>
            <p:ph sz="half" idx="1"/>
          </p:nvPr>
        </p:nvSpPr>
        <p:spPr>
          <a:xfrm>
            <a:off x="633186" y="1825625"/>
            <a:ext cx="5386614" cy="435133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3">
            <a:extLst>
              <a:ext uri="{FF2B5EF4-FFF2-40B4-BE49-F238E27FC236}">
                <a16:creationId xmlns:a16="http://schemas.microsoft.com/office/drawing/2014/main" id="{A2548E2E-973A-4D52-ACB9-BF564F407308}"/>
              </a:ext>
            </a:extLst>
          </p:cNvPr>
          <p:cNvSpPr>
            <a:spLocks noGrp="1"/>
          </p:cNvSpPr>
          <p:nvPr>
            <p:ph sz="half" idx="2"/>
          </p:nvPr>
        </p:nvSpPr>
        <p:spPr>
          <a:xfrm>
            <a:off x="6172200" y="1825625"/>
            <a:ext cx="5276850" cy="435133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510698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8FCDE-8F3F-4E83-B550-DF944B424F78}"/>
              </a:ext>
            </a:extLst>
          </p:cNvPr>
          <p:cNvSpPr>
            <a:spLocks noGrp="1"/>
          </p:cNvSpPr>
          <p:nvPr>
            <p:ph type="title"/>
          </p:nvPr>
        </p:nvSpPr>
        <p:spPr>
          <a:xfrm>
            <a:off x="633186" y="557439"/>
            <a:ext cx="10815864" cy="830997"/>
          </a:xfrm>
        </p:spPr>
        <p:txBody>
          <a:bodyPr vert="horz" wrap="square" lIns="0" tIns="45720" rIns="91440" bIns="45720" rtlCol="0" anchor="t">
            <a:noAutofit/>
          </a:bodyPr>
          <a:lstStyle>
            <a:lvl1pPr>
              <a:defRPr lang="en-GB" sz="2400">
                <a:solidFill>
                  <a:schemeClr val="tx1"/>
                </a:solidFill>
                <a:latin typeface="Corbel" panose="020B0503020204020204" pitchFamily="34" charset="0"/>
              </a:defRPr>
            </a:lvl1pPr>
          </a:lstStyle>
          <a:p>
            <a:pPr lvl="0">
              <a:lnSpc>
                <a:spcPct val="100000"/>
              </a:lnSpc>
            </a:pPr>
            <a:r>
              <a:rPr lang="en-US" noProof="0"/>
              <a:t>Click to edit Master title style</a:t>
            </a:r>
          </a:p>
        </p:txBody>
      </p:sp>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Text Placeholder 2">
            <a:extLst>
              <a:ext uri="{FF2B5EF4-FFF2-40B4-BE49-F238E27FC236}">
                <a16:creationId xmlns:a16="http://schemas.microsoft.com/office/drawing/2014/main" id="{10CD1AD0-C8B7-4785-A47D-D822CF4F248F}"/>
              </a:ext>
            </a:extLst>
          </p:cNvPr>
          <p:cNvSpPr>
            <a:spLocks noGrp="1"/>
          </p:cNvSpPr>
          <p:nvPr>
            <p:ph type="body" idx="1"/>
          </p:nvPr>
        </p:nvSpPr>
        <p:spPr>
          <a:xfrm>
            <a:off x="633186" y="1681163"/>
            <a:ext cx="533214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0" name="Text Placeholder 4">
            <a:extLst>
              <a:ext uri="{FF2B5EF4-FFF2-40B4-BE49-F238E27FC236}">
                <a16:creationId xmlns:a16="http://schemas.microsoft.com/office/drawing/2014/main" id="{90A1BBCF-EEF1-4C9A-BA10-9657A79560D3}"/>
              </a:ext>
            </a:extLst>
          </p:cNvPr>
          <p:cNvSpPr>
            <a:spLocks noGrp="1"/>
          </p:cNvSpPr>
          <p:nvPr>
            <p:ph type="body" sz="quarter" idx="3"/>
          </p:nvPr>
        </p:nvSpPr>
        <p:spPr>
          <a:xfrm>
            <a:off x="6172200" y="1681163"/>
            <a:ext cx="5276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1" name="Content Placeholder 3">
            <a:extLst>
              <a:ext uri="{FF2B5EF4-FFF2-40B4-BE49-F238E27FC236}">
                <a16:creationId xmlns:a16="http://schemas.microsoft.com/office/drawing/2014/main" id="{79F8415A-57A2-4D5C-97B0-E78499CC7C6F}"/>
              </a:ext>
            </a:extLst>
          </p:cNvPr>
          <p:cNvSpPr>
            <a:spLocks noGrp="1"/>
          </p:cNvSpPr>
          <p:nvPr>
            <p:ph sz="half" idx="2"/>
          </p:nvPr>
        </p:nvSpPr>
        <p:spPr>
          <a:xfrm>
            <a:off x="633186" y="2505075"/>
            <a:ext cx="5332147" cy="368458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5">
            <a:extLst>
              <a:ext uri="{FF2B5EF4-FFF2-40B4-BE49-F238E27FC236}">
                <a16:creationId xmlns:a16="http://schemas.microsoft.com/office/drawing/2014/main" id="{37A31490-A10D-455A-B515-E26064D0E10A}"/>
              </a:ext>
            </a:extLst>
          </p:cNvPr>
          <p:cNvSpPr>
            <a:spLocks noGrp="1"/>
          </p:cNvSpPr>
          <p:nvPr>
            <p:ph sz="quarter" idx="4"/>
          </p:nvPr>
        </p:nvSpPr>
        <p:spPr>
          <a:xfrm>
            <a:off x="6172200" y="2505075"/>
            <a:ext cx="5276850" cy="3684588"/>
          </a:xfrm>
        </p:spPr>
        <p:txBody>
          <a:bodyPr>
            <a:normAutofit/>
          </a:bodyPr>
          <a:lstStyle>
            <a:lvl1pPr>
              <a:defRPr sz="2000"/>
            </a:lvl1pPr>
            <a:lvl2pPr>
              <a:defRPr sz="1800"/>
            </a:lvl2pPr>
            <a:lvl3pPr>
              <a:defRPr sz="1600"/>
            </a:lvl3pPr>
            <a:lvl4pPr>
              <a:defRPr sz="1400"/>
            </a:lvl4pPr>
            <a:lvl5pPr>
              <a:defRPr sz="14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49070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Text Placeholder 3">
            <a:extLst>
              <a:ext uri="{FF2B5EF4-FFF2-40B4-BE49-F238E27FC236}">
                <a16:creationId xmlns:a16="http://schemas.microsoft.com/office/drawing/2014/main" id="{9F5DF135-B773-4FF0-A198-687768159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Content Placeholder 2">
            <a:extLst>
              <a:ext uri="{FF2B5EF4-FFF2-40B4-BE49-F238E27FC236}">
                <a16:creationId xmlns:a16="http://schemas.microsoft.com/office/drawing/2014/main" id="{4D4BA48E-457A-42FA-BC00-3AE386B38A0C}"/>
              </a:ext>
            </a:extLst>
          </p:cNvPr>
          <p:cNvSpPr>
            <a:spLocks noGrp="1"/>
          </p:cNvSpPr>
          <p:nvPr>
            <p:ph idx="1"/>
          </p:nvPr>
        </p:nvSpPr>
        <p:spPr>
          <a:xfrm>
            <a:off x="5183188" y="987425"/>
            <a:ext cx="626586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itle 1">
            <a:extLst>
              <a:ext uri="{FF2B5EF4-FFF2-40B4-BE49-F238E27FC236}">
                <a16:creationId xmlns:a16="http://schemas.microsoft.com/office/drawing/2014/main" id="{43DF8AE6-3466-400C-B6F1-335DF4DED075}"/>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Tree>
    <p:extLst>
      <p:ext uri="{BB962C8B-B14F-4D97-AF65-F5344CB8AC3E}">
        <p14:creationId xmlns:p14="http://schemas.microsoft.com/office/powerpoint/2010/main" val="39769864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59AE304-DA92-45D8-B258-61BEA6C99C0E}"/>
              </a:ext>
            </a:extLst>
          </p:cNvPr>
          <p:cNvGrpSpPr/>
          <p:nvPr userDrawn="1"/>
        </p:nvGrpSpPr>
        <p:grpSpPr>
          <a:xfrm>
            <a:off x="0" y="6086479"/>
            <a:ext cx="12192000" cy="600974"/>
            <a:chOff x="0" y="6086479"/>
            <a:chExt cx="12192000" cy="600974"/>
          </a:xfrm>
        </p:grpSpPr>
        <p:sp>
          <p:nvSpPr>
            <p:cNvPr id="5" name="Rectangle 4">
              <a:extLst>
                <a:ext uri="{FF2B5EF4-FFF2-40B4-BE49-F238E27FC236}">
                  <a16:creationId xmlns:a16="http://schemas.microsoft.com/office/drawing/2014/main" id="{6BF91D02-B4A9-4013-94B6-079A8D06DE11}"/>
                </a:ext>
              </a:extLst>
            </p:cNvPr>
            <p:cNvSpPr/>
            <p:nvPr/>
          </p:nvSpPr>
          <p:spPr>
            <a:xfrm>
              <a:off x="0" y="6355760"/>
              <a:ext cx="12192000" cy="914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Oval 6">
              <a:extLst>
                <a:ext uri="{FF2B5EF4-FFF2-40B4-BE49-F238E27FC236}">
                  <a16:creationId xmlns:a16="http://schemas.microsoft.com/office/drawing/2014/main" id="{74DAC864-782A-48D4-8E15-9B35C60421BB}"/>
                </a:ext>
              </a:extLst>
            </p:cNvPr>
            <p:cNvSpPr/>
            <p:nvPr/>
          </p:nvSpPr>
          <p:spPr>
            <a:xfrm>
              <a:off x="11091210" y="6086479"/>
              <a:ext cx="600974" cy="600974"/>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 name="Slide Number Placeholder 5">
            <a:extLst>
              <a:ext uri="{FF2B5EF4-FFF2-40B4-BE49-F238E27FC236}">
                <a16:creationId xmlns:a16="http://schemas.microsoft.com/office/drawing/2014/main" id="{73B7B0E2-E4FA-4B45-89A6-98E4C4DC1D24}"/>
              </a:ext>
            </a:extLst>
          </p:cNvPr>
          <p:cNvSpPr txBox="1">
            <a:spLocks/>
          </p:cNvSpPr>
          <p:nvPr userDrawn="1"/>
        </p:nvSpPr>
        <p:spPr>
          <a:xfrm>
            <a:off x="11091210" y="6189345"/>
            <a:ext cx="600974" cy="395243"/>
          </a:xfrm>
          <a:prstGeom prst="rect">
            <a:avLst/>
          </a:prstGeom>
        </p:spPr>
        <p:txBody>
          <a:bodyPr vert="horz" lIns="0" tIns="0" rIns="0" bIns="0" rtlCol="0" anchor="ctr"/>
          <a:lstStyle>
            <a:defPPr>
              <a:defRPr lang="en-US"/>
            </a:defPPr>
            <a:lvl1pPr marL="0" algn="r" defTabSz="914400" rtl="0" eaLnBrk="1" latinLnBrk="0" hangingPunct="1">
              <a:defRPr sz="11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47A4EEE-49CE-4F6C-BF32-B7FCC5EBBF45}" type="slidenum">
              <a:rPr lang="en-US" sz="1200" noProof="0" smtClean="0">
                <a:solidFill>
                  <a:schemeClr val="bg1"/>
                </a:solidFill>
              </a:rPr>
              <a:pPr algn="ctr"/>
              <a:t>‹#›</a:t>
            </a:fld>
            <a:endParaRPr lang="en-US" sz="1200" noProof="0" dirty="0">
              <a:solidFill>
                <a:schemeClr val="bg1"/>
              </a:solidFill>
            </a:endParaRPr>
          </a:p>
        </p:txBody>
      </p:sp>
      <p:sp>
        <p:nvSpPr>
          <p:cNvPr id="9" name="Title 1">
            <a:extLst>
              <a:ext uri="{FF2B5EF4-FFF2-40B4-BE49-F238E27FC236}">
                <a16:creationId xmlns:a16="http://schemas.microsoft.com/office/drawing/2014/main" id="{A3EA16B2-FFAE-4A6E-977D-191BC1DB5B28}"/>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p>
        </p:txBody>
      </p:sp>
      <p:sp>
        <p:nvSpPr>
          <p:cNvPr id="10" name="Text Placeholder 3">
            <a:extLst>
              <a:ext uri="{FF2B5EF4-FFF2-40B4-BE49-F238E27FC236}">
                <a16:creationId xmlns:a16="http://schemas.microsoft.com/office/drawing/2014/main" id="{436B2E80-B2B9-4309-8C9B-11D0B83C4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1" name="Picture Placeholder 2">
            <a:extLst>
              <a:ext uri="{FF2B5EF4-FFF2-40B4-BE49-F238E27FC236}">
                <a16:creationId xmlns:a16="http://schemas.microsoft.com/office/drawing/2014/main" id="{03DB89DF-F372-4E54-9DFD-D53E42A2B8E8}"/>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4294346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90F2147C-DDBF-4431-95AC-650CCE32FC7A}"/>
              </a:ext>
            </a:extLst>
          </p:cNvPr>
          <p:cNvSpPr>
            <a:spLocks noGrp="1"/>
          </p:cNvSpPr>
          <p:nvPr>
            <p:ph type="sldNum" sz="quarter" idx="4"/>
          </p:nvPr>
        </p:nvSpPr>
        <p:spPr>
          <a:xfrm>
            <a:off x="11091210" y="6189345"/>
            <a:ext cx="600974" cy="395243"/>
          </a:xfrm>
          <a:prstGeom prst="rect">
            <a:avLst/>
          </a:prstGeom>
        </p:spPr>
        <p:txBody>
          <a:bodyPr vert="horz" lIns="0" tIns="0" rIns="0" bIns="0" rtlCol="0" anchor="ctr"/>
          <a:lstStyle>
            <a:lvl1pPr>
              <a:defRPr lang="en-GB" sz="1200" smtClean="0">
                <a:solidFill>
                  <a:schemeClr val="tx1"/>
                </a:solidFill>
              </a:defRPr>
            </a:lvl1pPr>
          </a:lstStyle>
          <a:p>
            <a:pPr algn="ctr"/>
            <a:fld id="{817179DE-9BF3-494C-804F-0C7C90AC8700}" type="slidenum">
              <a:rPr lang="en-US" noProof="0" smtClean="0"/>
              <a:pPr algn="ctr"/>
              <a:t>‹#›</a:t>
            </a:fld>
            <a:endParaRPr lang="en-US" noProof="0" dirty="0"/>
          </a:p>
        </p:txBody>
      </p:sp>
      <p:sp>
        <p:nvSpPr>
          <p:cNvPr id="2" name="Title Placeholder 1">
            <a:extLst>
              <a:ext uri="{FF2B5EF4-FFF2-40B4-BE49-F238E27FC236}">
                <a16:creationId xmlns:a16="http://schemas.microsoft.com/office/drawing/2014/main" id="{224C3681-351A-40D9-8C08-632E98237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607CEF16-92A3-4A77-B95D-A9DB52319F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9677071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70" r:id="rId10"/>
    <p:sldLayoutId id="2147483669" r:id="rId11"/>
    <p:sldLayoutId id="2147483655"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group of students at a table studying in the library">
            <a:extLst>
              <a:ext uri="{FF2B5EF4-FFF2-40B4-BE49-F238E27FC236}">
                <a16:creationId xmlns:a16="http://schemas.microsoft.com/office/drawing/2014/main" id="{1A5F02FB-FDF1-427A-AB2F-50F09EBEE54E}"/>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p:pic>
      <p:grpSp>
        <p:nvGrpSpPr>
          <p:cNvPr id="3" name="Group 2">
            <a:extLst>
              <a:ext uri="{FF2B5EF4-FFF2-40B4-BE49-F238E27FC236}">
                <a16:creationId xmlns:a16="http://schemas.microsoft.com/office/drawing/2014/main" id="{B96D2D9B-E0B9-499F-9404-108DB59E4502}"/>
              </a:ext>
              <a:ext uri="{C183D7F6-B498-43B3-948B-1728B52AA6E4}">
                <adec:decorative xmlns:adec="http://schemas.microsoft.com/office/drawing/2017/decorative" val="1"/>
              </a:ext>
            </a:extLst>
          </p:cNvPr>
          <p:cNvGrpSpPr/>
          <p:nvPr/>
        </p:nvGrpSpPr>
        <p:grpSpPr>
          <a:xfrm>
            <a:off x="0" y="0"/>
            <a:ext cx="6957056" cy="6858000"/>
            <a:chOff x="0" y="0"/>
            <a:chExt cx="6957056" cy="6858000"/>
          </a:xfrm>
        </p:grpSpPr>
        <p:sp>
          <p:nvSpPr>
            <p:cNvPr id="33" name="Parallelogram 32">
              <a:extLst>
                <a:ext uri="{FF2B5EF4-FFF2-40B4-BE49-F238E27FC236}">
                  <a16:creationId xmlns:a16="http://schemas.microsoft.com/office/drawing/2014/main" id="{7E2E6584-76E9-4C56-A349-C9CDC96DC5F0}"/>
                </a:ext>
              </a:extLst>
            </p:cNvPr>
            <p:cNvSpPr/>
            <p:nvPr/>
          </p:nvSpPr>
          <p:spPr>
            <a:xfrm>
              <a:off x="1150750" y="0"/>
              <a:ext cx="5491804" cy="6858000"/>
            </a:xfrm>
            <a:prstGeom prst="parallelogram">
              <a:avLst>
                <a:gd name="adj" fmla="val 32713"/>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B73F00D5-E18D-4210-AD3E-3ED73CEE4865}"/>
                </a:ext>
              </a:extLst>
            </p:cNvPr>
            <p:cNvSpPr/>
            <p:nvPr/>
          </p:nvSpPr>
          <p:spPr>
            <a:xfrm flipH="1" flipV="1">
              <a:off x="0" y="482600"/>
              <a:ext cx="6957056" cy="5892799"/>
            </a:xfrm>
            <a:custGeom>
              <a:avLst/>
              <a:gdLst>
                <a:gd name="connsiteX0" fmla="*/ 6957056 w 6957056"/>
                <a:gd name="connsiteY0" fmla="*/ 5892799 h 5892799"/>
                <a:gd name="connsiteX1" fmla="*/ 0 w 6957056"/>
                <a:gd name="connsiteY1" fmla="*/ 5892799 h 5892799"/>
                <a:gd name="connsiteX2" fmla="*/ 1473200 w 6957056"/>
                <a:gd name="connsiteY2" fmla="*/ 0 h 5892799"/>
                <a:gd name="connsiteX3" fmla="*/ 6957056 w 6957056"/>
                <a:gd name="connsiteY3" fmla="*/ 0 h 5892799"/>
              </a:gdLst>
              <a:ahLst/>
              <a:cxnLst>
                <a:cxn ang="0">
                  <a:pos x="connsiteX0" y="connsiteY0"/>
                </a:cxn>
                <a:cxn ang="0">
                  <a:pos x="connsiteX1" y="connsiteY1"/>
                </a:cxn>
                <a:cxn ang="0">
                  <a:pos x="connsiteX2" y="connsiteY2"/>
                </a:cxn>
                <a:cxn ang="0">
                  <a:pos x="connsiteX3" y="connsiteY3"/>
                </a:cxn>
              </a:cxnLst>
              <a:rect l="l" t="t" r="r" b="b"/>
              <a:pathLst>
                <a:path w="6957056" h="5892799">
                  <a:moveTo>
                    <a:pt x="6957056" y="5892799"/>
                  </a:moveTo>
                  <a:lnTo>
                    <a:pt x="0" y="5892799"/>
                  </a:lnTo>
                  <a:lnTo>
                    <a:pt x="1473200" y="0"/>
                  </a:lnTo>
                  <a:lnTo>
                    <a:pt x="6957056" y="0"/>
                  </a:lnTo>
                  <a:close/>
                </a:path>
              </a:pathLst>
            </a:custGeom>
            <a:solidFill>
              <a:schemeClr val="accent2">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C6577883-A694-450C-A2C7-C9C8A85D9915}"/>
                </a:ext>
              </a:extLst>
            </p:cNvPr>
            <p:cNvSpPr/>
            <p:nvPr/>
          </p:nvSpPr>
          <p:spPr>
            <a:xfrm flipH="1" flipV="1">
              <a:off x="0" y="4457696"/>
              <a:ext cx="6267450" cy="883839"/>
            </a:xfrm>
            <a:custGeom>
              <a:avLst/>
              <a:gdLst>
                <a:gd name="connsiteX0" fmla="*/ 6267450 w 6267450"/>
                <a:gd name="connsiteY0" fmla="*/ 883839 h 883839"/>
                <a:gd name="connsiteX1" fmla="*/ 0 w 6267450"/>
                <a:gd name="connsiteY1" fmla="*/ 883839 h 883839"/>
                <a:gd name="connsiteX2" fmla="*/ 220960 w 6267450"/>
                <a:gd name="connsiteY2" fmla="*/ 0 h 883839"/>
                <a:gd name="connsiteX3" fmla="*/ 6267450 w 6267450"/>
                <a:gd name="connsiteY3" fmla="*/ 0 h 883839"/>
              </a:gdLst>
              <a:ahLst/>
              <a:cxnLst>
                <a:cxn ang="0">
                  <a:pos x="connsiteX0" y="connsiteY0"/>
                </a:cxn>
                <a:cxn ang="0">
                  <a:pos x="connsiteX1" y="connsiteY1"/>
                </a:cxn>
                <a:cxn ang="0">
                  <a:pos x="connsiteX2" y="connsiteY2"/>
                </a:cxn>
                <a:cxn ang="0">
                  <a:pos x="connsiteX3" y="connsiteY3"/>
                </a:cxn>
              </a:cxnLst>
              <a:rect l="l" t="t" r="r" b="b"/>
              <a:pathLst>
                <a:path w="6267450" h="883839">
                  <a:moveTo>
                    <a:pt x="6267450" y="883839"/>
                  </a:moveTo>
                  <a:lnTo>
                    <a:pt x="0" y="883839"/>
                  </a:lnTo>
                  <a:lnTo>
                    <a:pt x="220960" y="0"/>
                  </a:lnTo>
                  <a:lnTo>
                    <a:pt x="6267450" y="0"/>
                  </a:lnTo>
                  <a:close/>
                </a:path>
              </a:pathLst>
            </a:cu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1" name="Title 30" descr="title">
            <a:extLst>
              <a:ext uri="{FF2B5EF4-FFF2-40B4-BE49-F238E27FC236}">
                <a16:creationId xmlns:a16="http://schemas.microsoft.com/office/drawing/2014/main" id="{9284195F-D106-45D8-ABAA-959FA68948B0}"/>
              </a:ext>
            </a:extLst>
          </p:cNvPr>
          <p:cNvSpPr>
            <a:spLocks noGrp="1"/>
          </p:cNvSpPr>
          <p:nvPr>
            <p:ph type="ctrTitle"/>
          </p:nvPr>
        </p:nvSpPr>
        <p:spPr/>
        <p:txBody>
          <a:bodyPr/>
          <a:lstStyle/>
          <a:p>
            <a:r>
              <a:rPr lang="en-US" dirty="0"/>
              <a:t>Windows Forms- DB Processing </a:t>
            </a:r>
          </a:p>
        </p:txBody>
      </p:sp>
      <p:sp>
        <p:nvSpPr>
          <p:cNvPr id="12" name="Subtitle 11" descr="subtitle">
            <a:extLst>
              <a:ext uri="{FF2B5EF4-FFF2-40B4-BE49-F238E27FC236}">
                <a16:creationId xmlns:a16="http://schemas.microsoft.com/office/drawing/2014/main" id="{A6AB5563-AD44-4883-8D3E-93E27EEDAA40}"/>
              </a:ext>
            </a:extLst>
          </p:cNvPr>
          <p:cNvSpPr>
            <a:spLocks noGrp="1"/>
          </p:cNvSpPr>
          <p:nvPr>
            <p:ph type="subTitle" idx="1"/>
          </p:nvPr>
        </p:nvSpPr>
        <p:spPr/>
        <p:txBody>
          <a:bodyPr/>
          <a:lstStyle/>
          <a:p>
            <a:r>
              <a:rPr lang="en-US" dirty="0"/>
              <a:t>Recording the Inner Details of a Transaction for a Book Shop</a:t>
            </a:r>
          </a:p>
        </p:txBody>
      </p:sp>
    </p:spTree>
    <p:extLst>
      <p:ext uri="{BB962C8B-B14F-4D97-AF65-F5344CB8AC3E}">
        <p14:creationId xmlns:p14="http://schemas.microsoft.com/office/powerpoint/2010/main" val="2366578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398929" y="1040017"/>
            <a:ext cx="11250706" cy="830997"/>
          </a:xfrm>
        </p:spPr>
        <p:txBody>
          <a:bodyPr/>
          <a:lstStyle/>
          <a:p>
            <a:r>
              <a:rPr lang="en-ZA" sz="2000" b="1" dirty="0">
                <a:solidFill>
                  <a:srgbClr val="C00000"/>
                </a:solidFill>
              </a:rPr>
              <a:t>The demonstration of the recording of the Inner Detail of a Transaction will be demonstrated via a Book App that is designed to record the sale of books; in this app the Customer details are not required</a:t>
            </a:r>
          </a:p>
          <a:p>
            <a:r>
              <a:rPr lang="en-ZA" sz="2000" b="1" dirty="0">
                <a:solidFill>
                  <a:srgbClr val="C00000"/>
                </a:solidFill>
              </a:rPr>
              <a:t>The Book App consists of  the following dataset structure:</a:t>
            </a:r>
          </a:p>
          <a:p>
            <a:endParaRPr lang="en-ZA" sz="1800"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Book Sale App</a:t>
            </a:r>
          </a:p>
        </p:txBody>
      </p:sp>
      <p:pic>
        <p:nvPicPr>
          <p:cNvPr id="4" name="Picture 3">
            <a:extLst>
              <a:ext uri="{FF2B5EF4-FFF2-40B4-BE49-F238E27FC236}">
                <a16:creationId xmlns:a16="http://schemas.microsoft.com/office/drawing/2014/main" id="{FEFA3EA5-3613-44DF-9EF6-CA6323B4C20E}"/>
              </a:ext>
            </a:extLst>
          </p:cNvPr>
          <p:cNvPicPr>
            <a:picLocks noChangeAspect="1"/>
          </p:cNvPicPr>
          <p:nvPr/>
        </p:nvPicPr>
        <p:blipFill>
          <a:blip r:embed="rId2"/>
          <a:stretch>
            <a:fillRect/>
          </a:stretch>
        </p:blipFill>
        <p:spPr>
          <a:xfrm>
            <a:off x="1560210" y="2206102"/>
            <a:ext cx="8443692" cy="2415749"/>
          </a:xfrm>
          <a:prstGeom prst="rect">
            <a:avLst/>
          </a:prstGeom>
        </p:spPr>
      </p:pic>
      <p:sp>
        <p:nvSpPr>
          <p:cNvPr id="5" name="Text Placeholder 1">
            <a:extLst>
              <a:ext uri="{FF2B5EF4-FFF2-40B4-BE49-F238E27FC236}">
                <a16:creationId xmlns:a16="http://schemas.microsoft.com/office/drawing/2014/main" id="{823FDB63-1218-4F85-A16D-9BECA96036A2}"/>
              </a:ext>
            </a:extLst>
          </p:cNvPr>
          <p:cNvSpPr txBox="1">
            <a:spLocks/>
          </p:cNvSpPr>
          <p:nvPr/>
        </p:nvSpPr>
        <p:spPr>
          <a:xfrm>
            <a:off x="293567" y="4651898"/>
            <a:ext cx="11250706" cy="830997"/>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2000" b="1" dirty="0">
                <a:solidFill>
                  <a:srgbClr val="C00000"/>
                </a:solidFill>
              </a:rPr>
              <a:t>Book Order are placed – and each Order consist of many Order Details and each </a:t>
            </a:r>
            <a:r>
              <a:rPr lang="en-ZA" sz="2000" b="1" dirty="0" err="1">
                <a:solidFill>
                  <a:srgbClr val="C00000"/>
                </a:solidFill>
              </a:rPr>
              <a:t>OrderDetail</a:t>
            </a:r>
            <a:r>
              <a:rPr lang="en-ZA" sz="2000" b="1" dirty="0">
                <a:solidFill>
                  <a:srgbClr val="C00000"/>
                </a:solidFill>
              </a:rPr>
              <a:t> references a single book – we will not implement the relationship in the database (for convenience of avoiding database generated errors)</a:t>
            </a:r>
          </a:p>
          <a:p>
            <a:endParaRPr lang="en-ZA" sz="2000" b="1" dirty="0">
              <a:solidFill>
                <a:srgbClr val="C00000"/>
              </a:solidFill>
            </a:endParaRPr>
          </a:p>
        </p:txBody>
      </p:sp>
    </p:spTree>
    <p:extLst>
      <p:ext uri="{BB962C8B-B14F-4D97-AF65-F5344CB8AC3E}">
        <p14:creationId xmlns:p14="http://schemas.microsoft.com/office/powerpoint/2010/main" val="1591081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1"/>
            <a:ext cx="11250706" cy="1757081"/>
          </a:xfrm>
        </p:spPr>
        <p:txBody>
          <a:bodyPr/>
          <a:lstStyle/>
          <a:p>
            <a:r>
              <a:rPr lang="en-ZA" b="1" dirty="0">
                <a:solidFill>
                  <a:srgbClr val="C00000"/>
                </a:solidFill>
              </a:rPr>
              <a:t>Consists of many bits of functionality that is quite self-explanatory – the interface has options to:</a:t>
            </a:r>
          </a:p>
          <a:p>
            <a:pPr lvl="1"/>
            <a:r>
              <a:rPr lang="en-ZA" b="1" dirty="0">
                <a:solidFill>
                  <a:srgbClr val="C00000"/>
                </a:solidFill>
              </a:rPr>
              <a:t>Search for a Book</a:t>
            </a:r>
          </a:p>
          <a:p>
            <a:pPr lvl="1"/>
            <a:r>
              <a:rPr lang="en-ZA" b="1" dirty="0">
                <a:solidFill>
                  <a:srgbClr val="C00000"/>
                </a:solidFill>
              </a:rPr>
              <a:t>Update Book Stock (QOH)</a:t>
            </a:r>
          </a:p>
          <a:p>
            <a:pPr lvl="1"/>
            <a:r>
              <a:rPr lang="en-ZA" b="1" dirty="0">
                <a:solidFill>
                  <a:srgbClr val="C00000"/>
                </a:solidFill>
              </a:rPr>
              <a:t>Add items to an Invoice</a:t>
            </a:r>
          </a:p>
          <a:p>
            <a:pPr lvl="1"/>
            <a:r>
              <a:rPr lang="en-ZA" b="1" dirty="0">
                <a:solidFill>
                  <a:srgbClr val="C00000"/>
                </a:solidFill>
              </a:rPr>
              <a:t>Generate the total Amt owing</a:t>
            </a:r>
          </a:p>
          <a:p>
            <a:pPr lvl="1"/>
            <a:r>
              <a:rPr lang="en-ZA" b="1" dirty="0">
                <a:solidFill>
                  <a:srgbClr val="C00000"/>
                </a:solidFill>
              </a:rPr>
              <a:t>Record the full Sale</a:t>
            </a:r>
          </a:p>
          <a:p>
            <a:pPr lvl="2"/>
            <a:r>
              <a:rPr lang="en-ZA" b="1" dirty="0" err="1">
                <a:solidFill>
                  <a:srgbClr val="C00000"/>
                </a:solidFill>
              </a:rPr>
              <a:t>i.e</a:t>
            </a:r>
            <a:r>
              <a:rPr lang="en-ZA" b="1" dirty="0">
                <a:solidFill>
                  <a:srgbClr val="C00000"/>
                </a:solidFill>
              </a:rPr>
              <a:t> the total Sale Amt and Date</a:t>
            </a:r>
          </a:p>
          <a:p>
            <a:pPr lvl="2"/>
            <a:r>
              <a:rPr lang="en-ZA" b="1" dirty="0">
                <a:solidFill>
                  <a:srgbClr val="C00000"/>
                </a:solidFill>
              </a:rPr>
              <a:t>The details of books that will be </a:t>
            </a:r>
            <a:br>
              <a:rPr lang="en-ZA" b="1" dirty="0">
                <a:solidFill>
                  <a:srgbClr val="C00000"/>
                </a:solidFill>
              </a:rPr>
            </a:br>
            <a:r>
              <a:rPr lang="en-ZA" b="1" dirty="0">
                <a:solidFill>
                  <a:srgbClr val="C00000"/>
                </a:solidFill>
              </a:rPr>
              <a:t>purchased</a:t>
            </a:r>
          </a:p>
          <a:p>
            <a:pPr lvl="2"/>
            <a:r>
              <a:rPr lang="en-ZA" b="1" dirty="0">
                <a:solidFill>
                  <a:srgbClr val="C00000"/>
                </a:solidFill>
              </a:rPr>
              <a:t>Also, you can remove individual </a:t>
            </a:r>
            <a:br>
              <a:rPr lang="en-ZA" b="1" dirty="0">
                <a:solidFill>
                  <a:srgbClr val="C00000"/>
                </a:solidFill>
              </a:rPr>
            </a:br>
            <a:r>
              <a:rPr lang="en-ZA" b="1" dirty="0">
                <a:solidFill>
                  <a:srgbClr val="C00000"/>
                </a:solidFill>
              </a:rPr>
              <a:t>items from the Invoice as well as</a:t>
            </a:r>
            <a:br>
              <a:rPr lang="en-ZA" b="1" dirty="0">
                <a:solidFill>
                  <a:srgbClr val="C00000"/>
                </a:solidFill>
              </a:rPr>
            </a:br>
            <a:r>
              <a:rPr lang="en-ZA" b="1" dirty="0">
                <a:solidFill>
                  <a:srgbClr val="C00000"/>
                </a:solidFill>
              </a:rPr>
              <a:t>all invoice item</a:t>
            </a:r>
          </a:p>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Interface</a:t>
            </a:r>
          </a:p>
        </p:txBody>
      </p:sp>
      <p:pic>
        <p:nvPicPr>
          <p:cNvPr id="4" name="Picture 3">
            <a:extLst>
              <a:ext uri="{FF2B5EF4-FFF2-40B4-BE49-F238E27FC236}">
                <a16:creationId xmlns:a16="http://schemas.microsoft.com/office/drawing/2014/main" id="{20F050D4-A559-433A-A3D4-96C5622F547A}"/>
              </a:ext>
            </a:extLst>
          </p:cNvPr>
          <p:cNvPicPr>
            <a:picLocks noChangeAspect="1"/>
          </p:cNvPicPr>
          <p:nvPr/>
        </p:nvPicPr>
        <p:blipFill>
          <a:blip r:embed="rId2"/>
          <a:stretch>
            <a:fillRect/>
          </a:stretch>
        </p:blipFill>
        <p:spPr>
          <a:xfrm>
            <a:off x="5298141" y="1733547"/>
            <a:ext cx="6104965" cy="4239842"/>
          </a:xfrm>
          <a:prstGeom prst="rect">
            <a:avLst/>
          </a:prstGeom>
        </p:spPr>
      </p:pic>
    </p:spTree>
    <p:extLst>
      <p:ext uri="{BB962C8B-B14F-4D97-AF65-F5344CB8AC3E}">
        <p14:creationId xmlns:p14="http://schemas.microsoft.com/office/powerpoint/2010/main" val="527489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5916706" cy="4948516"/>
          </a:xfrm>
        </p:spPr>
        <p:txBody>
          <a:bodyPr/>
          <a:lstStyle/>
          <a:p>
            <a:r>
              <a:rPr lang="en-ZA" b="1" dirty="0">
                <a:solidFill>
                  <a:srgbClr val="C00000"/>
                </a:solidFill>
              </a:rPr>
              <a:t>Update can be done in many ways</a:t>
            </a:r>
          </a:p>
          <a:p>
            <a:pPr lvl="1"/>
            <a:r>
              <a:rPr lang="en-ZA" b="1" dirty="0">
                <a:solidFill>
                  <a:srgbClr val="C00000"/>
                </a:solidFill>
              </a:rPr>
              <a:t>Via the Database</a:t>
            </a:r>
          </a:p>
          <a:p>
            <a:pPr lvl="1"/>
            <a:r>
              <a:rPr lang="en-ZA" b="1" dirty="0">
                <a:solidFill>
                  <a:srgbClr val="C00000"/>
                </a:solidFill>
              </a:rPr>
              <a:t>Via programming code</a:t>
            </a:r>
          </a:p>
          <a:p>
            <a:r>
              <a:rPr lang="en-ZA" b="1" dirty="0">
                <a:solidFill>
                  <a:srgbClr val="C00000"/>
                </a:solidFill>
              </a:rPr>
              <a:t>We will write methods on the table adapter to:</a:t>
            </a:r>
          </a:p>
          <a:p>
            <a:pPr lvl="1"/>
            <a:r>
              <a:rPr lang="en-ZA" b="1" dirty="0">
                <a:solidFill>
                  <a:srgbClr val="C00000"/>
                </a:solidFill>
              </a:rPr>
              <a:t>Search for a Book </a:t>
            </a:r>
          </a:p>
          <a:p>
            <a:pPr lvl="2"/>
            <a:r>
              <a:rPr lang="en-US" b="1" i="1" dirty="0">
                <a:solidFill>
                  <a:srgbClr val="C00000"/>
                </a:solidFill>
              </a:rPr>
              <a:t>SELECT </a:t>
            </a:r>
            <a:r>
              <a:rPr lang="en-US" b="1" i="1" dirty="0" err="1">
                <a:solidFill>
                  <a:srgbClr val="C00000"/>
                </a:solidFill>
              </a:rPr>
              <a:t>BookTitle</a:t>
            </a:r>
            <a:r>
              <a:rPr lang="en-US" b="1" i="1" dirty="0">
                <a:solidFill>
                  <a:srgbClr val="C00000"/>
                </a:solidFill>
              </a:rPr>
              <a:t>, </a:t>
            </a:r>
            <a:r>
              <a:rPr lang="en-US" b="1" i="1" dirty="0" err="1">
                <a:solidFill>
                  <a:srgbClr val="C00000"/>
                </a:solidFill>
              </a:rPr>
              <a:t>BookCost</a:t>
            </a:r>
            <a:r>
              <a:rPr lang="en-US" b="1" i="1" dirty="0">
                <a:solidFill>
                  <a:srgbClr val="C00000"/>
                </a:solidFill>
              </a:rPr>
              <a:t>, QOH</a:t>
            </a:r>
          </a:p>
          <a:p>
            <a:pPr lvl="2"/>
            <a:r>
              <a:rPr lang="en-US" b="1" i="1" dirty="0">
                <a:solidFill>
                  <a:srgbClr val="C00000"/>
                </a:solidFill>
              </a:rPr>
              <a:t>FROM     Book</a:t>
            </a:r>
          </a:p>
          <a:p>
            <a:pPr lvl="2"/>
            <a:r>
              <a:rPr lang="en-US" b="1" i="1" dirty="0">
                <a:solidFill>
                  <a:srgbClr val="C00000"/>
                </a:solidFill>
              </a:rPr>
              <a:t>WHERE  (</a:t>
            </a:r>
            <a:r>
              <a:rPr lang="en-US" b="1" i="1" dirty="0" err="1">
                <a:solidFill>
                  <a:srgbClr val="C00000"/>
                </a:solidFill>
              </a:rPr>
              <a:t>BookTitle</a:t>
            </a:r>
            <a:r>
              <a:rPr lang="en-US" b="1" i="1" dirty="0">
                <a:solidFill>
                  <a:srgbClr val="C00000"/>
                </a:solidFill>
              </a:rPr>
              <a:t> LIKE + '%' + @title + '%')</a:t>
            </a:r>
            <a:endParaRPr lang="en-ZA" b="1" i="1" dirty="0">
              <a:solidFill>
                <a:srgbClr val="C00000"/>
              </a:solidFill>
            </a:endParaRPr>
          </a:p>
          <a:p>
            <a:pPr lvl="1"/>
            <a:r>
              <a:rPr lang="en-ZA" b="1" dirty="0">
                <a:solidFill>
                  <a:srgbClr val="C00000"/>
                </a:solidFill>
              </a:rPr>
              <a:t>Update the Stock of the book </a:t>
            </a:r>
          </a:p>
          <a:p>
            <a:pPr lvl="2"/>
            <a:r>
              <a:rPr lang="en-US" b="1" i="1" dirty="0">
                <a:solidFill>
                  <a:srgbClr val="C00000"/>
                </a:solidFill>
              </a:rPr>
              <a:t>UPDATE Book</a:t>
            </a:r>
          </a:p>
          <a:p>
            <a:pPr lvl="2"/>
            <a:r>
              <a:rPr lang="en-US" b="1" i="1" dirty="0">
                <a:solidFill>
                  <a:srgbClr val="C00000"/>
                </a:solidFill>
              </a:rPr>
              <a:t>SET          QOH = QOH + @QOH</a:t>
            </a:r>
          </a:p>
          <a:p>
            <a:pPr lvl="2"/>
            <a:r>
              <a:rPr lang="en-US" b="1" i="1" dirty="0">
                <a:solidFill>
                  <a:srgbClr val="C00000"/>
                </a:solidFill>
              </a:rPr>
              <a:t>WHERE  (</a:t>
            </a:r>
            <a:r>
              <a:rPr lang="en-US" b="1" i="1" dirty="0" err="1">
                <a:solidFill>
                  <a:srgbClr val="C00000"/>
                </a:solidFill>
              </a:rPr>
              <a:t>BookTitle</a:t>
            </a:r>
            <a:r>
              <a:rPr lang="en-US" b="1" i="1" dirty="0">
                <a:solidFill>
                  <a:srgbClr val="C00000"/>
                </a:solidFill>
              </a:rPr>
              <a:t> = @</a:t>
            </a:r>
            <a:r>
              <a:rPr lang="en-US" b="1" i="1" dirty="0" err="1">
                <a:solidFill>
                  <a:srgbClr val="C00000"/>
                </a:solidFill>
              </a:rPr>
              <a:t>Original_BookTitle</a:t>
            </a:r>
            <a:r>
              <a:rPr lang="en-US" b="1" i="1" dirty="0">
                <a:solidFill>
                  <a:srgbClr val="C00000"/>
                </a:solidFill>
              </a:rPr>
              <a:t>); </a:t>
            </a:r>
            <a:endParaRPr lang="en-ZA" b="1" i="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Search and Update</a:t>
            </a:r>
          </a:p>
        </p:txBody>
      </p:sp>
      <p:pic>
        <p:nvPicPr>
          <p:cNvPr id="4" name="Picture 3">
            <a:extLst>
              <a:ext uri="{FF2B5EF4-FFF2-40B4-BE49-F238E27FC236}">
                <a16:creationId xmlns:a16="http://schemas.microsoft.com/office/drawing/2014/main" id="{5FA1AFE8-28D9-4916-9B0D-22266284268A}"/>
              </a:ext>
            </a:extLst>
          </p:cNvPr>
          <p:cNvPicPr>
            <a:picLocks noChangeAspect="1"/>
          </p:cNvPicPr>
          <p:nvPr/>
        </p:nvPicPr>
        <p:blipFill>
          <a:blip r:embed="rId2"/>
          <a:stretch>
            <a:fillRect/>
          </a:stretch>
        </p:blipFill>
        <p:spPr>
          <a:xfrm>
            <a:off x="6971444" y="1762373"/>
            <a:ext cx="4709568" cy="2042337"/>
          </a:xfrm>
          <a:prstGeom prst="rect">
            <a:avLst/>
          </a:prstGeom>
        </p:spPr>
      </p:pic>
    </p:spTree>
    <p:extLst>
      <p:ext uri="{BB962C8B-B14F-4D97-AF65-F5344CB8AC3E}">
        <p14:creationId xmlns:p14="http://schemas.microsoft.com/office/powerpoint/2010/main" val="472078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98612" y="5386636"/>
            <a:ext cx="11250706" cy="591669"/>
          </a:xfrm>
        </p:spPr>
        <p:txBody>
          <a:bodyPr/>
          <a:lstStyle/>
          <a:p>
            <a:r>
              <a:rPr lang="en-ZA" b="1" dirty="0">
                <a:solidFill>
                  <a:srgbClr val="C00000"/>
                </a:solidFill>
              </a:rPr>
              <a:t>Add a </a:t>
            </a:r>
            <a:r>
              <a:rPr lang="en-ZA" b="1" dirty="0" err="1">
                <a:solidFill>
                  <a:srgbClr val="C00000"/>
                </a:solidFill>
              </a:rPr>
              <a:t>DataTable</a:t>
            </a:r>
            <a:r>
              <a:rPr lang="en-ZA" b="1" dirty="0">
                <a:solidFill>
                  <a:srgbClr val="C00000"/>
                </a:solidFill>
              </a:rPr>
              <a:t> to the </a:t>
            </a:r>
            <a:r>
              <a:rPr lang="en-ZA" b="1" dirty="0" err="1">
                <a:solidFill>
                  <a:srgbClr val="C00000"/>
                </a:solidFill>
              </a:rPr>
              <a:t>DataSet</a:t>
            </a:r>
            <a:r>
              <a:rPr lang="en-ZA" b="1" dirty="0">
                <a:solidFill>
                  <a:srgbClr val="C00000"/>
                </a:solidFill>
              </a:rPr>
              <a:t> and name it Invoice – add on 2 columns (string and decimal) - The </a:t>
            </a:r>
            <a:r>
              <a:rPr lang="en-ZA" b="1" dirty="0" err="1">
                <a:solidFill>
                  <a:srgbClr val="C00000"/>
                </a:solidFill>
              </a:rPr>
              <a:t>BookTitle</a:t>
            </a:r>
            <a:r>
              <a:rPr lang="en-ZA" b="1" dirty="0">
                <a:solidFill>
                  <a:srgbClr val="C00000"/>
                </a:solidFill>
              </a:rPr>
              <a:t> and </a:t>
            </a:r>
            <a:r>
              <a:rPr lang="en-ZA" b="1" dirty="0" err="1">
                <a:solidFill>
                  <a:srgbClr val="C00000"/>
                </a:solidFill>
              </a:rPr>
              <a:t>BookCost</a:t>
            </a:r>
            <a:r>
              <a:rPr lang="en-ZA" b="1" dirty="0">
                <a:solidFill>
                  <a:srgbClr val="C00000"/>
                </a:solidFill>
              </a:rPr>
              <a:t> data columns are added on – you need to ensure that the data types match those shown in the Book Table</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An Invoice </a:t>
            </a:r>
            <a:r>
              <a:rPr lang="en-ZA" b="1" u="sng" dirty="0" err="1"/>
              <a:t>DataTable</a:t>
            </a:r>
            <a:endParaRPr lang="en-ZA" b="1" u="sng" dirty="0"/>
          </a:p>
        </p:txBody>
      </p:sp>
      <p:grpSp>
        <p:nvGrpSpPr>
          <p:cNvPr id="7" name="Group 6">
            <a:extLst>
              <a:ext uri="{FF2B5EF4-FFF2-40B4-BE49-F238E27FC236}">
                <a16:creationId xmlns:a16="http://schemas.microsoft.com/office/drawing/2014/main" id="{D410F49D-7B94-41F7-9CF1-741347CBF472}"/>
              </a:ext>
            </a:extLst>
          </p:cNvPr>
          <p:cNvGrpSpPr/>
          <p:nvPr/>
        </p:nvGrpSpPr>
        <p:grpSpPr>
          <a:xfrm>
            <a:off x="1398494" y="1471364"/>
            <a:ext cx="8507506" cy="3915272"/>
            <a:chOff x="1398494" y="1471364"/>
            <a:chExt cx="8507506" cy="3915272"/>
          </a:xfrm>
        </p:grpSpPr>
        <p:pic>
          <p:nvPicPr>
            <p:cNvPr id="4" name="Picture 3">
              <a:extLst>
                <a:ext uri="{FF2B5EF4-FFF2-40B4-BE49-F238E27FC236}">
                  <a16:creationId xmlns:a16="http://schemas.microsoft.com/office/drawing/2014/main" id="{CE91CB2A-C305-4E2A-BEA1-4E991CB91156}"/>
                </a:ext>
              </a:extLst>
            </p:cNvPr>
            <p:cNvPicPr>
              <a:picLocks noChangeAspect="1"/>
            </p:cNvPicPr>
            <p:nvPr/>
          </p:nvPicPr>
          <p:blipFill>
            <a:blip r:embed="rId2"/>
            <a:stretch>
              <a:fillRect/>
            </a:stretch>
          </p:blipFill>
          <p:spPr>
            <a:xfrm>
              <a:off x="1398494" y="1471364"/>
              <a:ext cx="8507506" cy="3773909"/>
            </a:xfrm>
            <a:prstGeom prst="rect">
              <a:avLst/>
            </a:prstGeom>
          </p:spPr>
        </p:pic>
        <p:cxnSp>
          <p:nvCxnSpPr>
            <p:cNvPr id="6" name="Straight Arrow Connector 5">
              <a:extLst>
                <a:ext uri="{FF2B5EF4-FFF2-40B4-BE49-F238E27FC236}">
                  <a16:creationId xmlns:a16="http://schemas.microsoft.com/office/drawing/2014/main" id="{E1A58C98-B5F0-4B46-B310-C1716BA881D7}"/>
                </a:ext>
              </a:extLst>
            </p:cNvPr>
            <p:cNvCxnSpPr/>
            <p:nvPr/>
          </p:nvCxnSpPr>
          <p:spPr>
            <a:xfrm flipV="1">
              <a:off x="1901952" y="4453128"/>
              <a:ext cx="1591056" cy="933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72996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374249" y="4231342"/>
            <a:ext cx="11250706" cy="510987"/>
          </a:xfrm>
        </p:spPr>
        <p:txBody>
          <a:bodyPr/>
          <a:lstStyle/>
          <a:p>
            <a:r>
              <a:rPr lang="en-ZA" b="1" dirty="0">
                <a:solidFill>
                  <a:srgbClr val="C00000"/>
                </a:solidFill>
              </a:rPr>
              <a:t>Use the adapters to generate adapter object that can be linked to the </a:t>
            </a:r>
            <a:r>
              <a:rPr lang="en-ZA" b="1" dirty="0" err="1">
                <a:solidFill>
                  <a:srgbClr val="C00000"/>
                </a:solidFill>
              </a:rPr>
              <a:t>Gridview</a:t>
            </a:r>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Rebuild the Application to get the Data Adapters</a:t>
            </a:r>
          </a:p>
        </p:txBody>
      </p:sp>
      <p:pic>
        <p:nvPicPr>
          <p:cNvPr id="4" name="Picture 3">
            <a:extLst>
              <a:ext uri="{FF2B5EF4-FFF2-40B4-BE49-F238E27FC236}">
                <a16:creationId xmlns:a16="http://schemas.microsoft.com/office/drawing/2014/main" id="{0725FC32-8F5B-444A-B03E-A9D3DF3ED905}"/>
              </a:ext>
            </a:extLst>
          </p:cNvPr>
          <p:cNvPicPr>
            <a:picLocks noChangeAspect="1"/>
          </p:cNvPicPr>
          <p:nvPr/>
        </p:nvPicPr>
        <p:blipFill>
          <a:blip r:embed="rId2"/>
          <a:stretch>
            <a:fillRect/>
          </a:stretch>
        </p:blipFill>
        <p:spPr>
          <a:xfrm>
            <a:off x="161365" y="1095790"/>
            <a:ext cx="11949953" cy="2640698"/>
          </a:xfrm>
          <a:prstGeom prst="rect">
            <a:avLst/>
          </a:prstGeom>
        </p:spPr>
      </p:pic>
    </p:spTree>
    <p:extLst>
      <p:ext uri="{BB962C8B-B14F-4D97-AF65-F5344CB8AC3E}">
        <p14:creationId xmlns:p14="http://schemas.microsoft.com/office/powerpoint/2010/main" val="380406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761999"/>
          </a:xfrm>
        </p:spPr>
        <p:txBody>
          <a:bodyPr/>
          <a:lstStyle/>
          <a:p>
            <a:r>
              <a:rPr lang="en-ZA" b="1" dirty="0">
                <a:solidFill>
                  <a:srgbClr val="C00000"/>
                </a:solidFill>
              </a:rPr>
              <a:t>The code required here is to fill the </a:t>
            </a:r>
            <a:r>
              <a:rPr lang="en-ZA" b="1" dirty="0" err="1">
                <a:solidFill>
                  <a:srgbClr val="C00000"/>
                </a:solidFill>
              </a:rPr>
              <a:t>Gridview</a:t>
            </a:r>
            <a:r>
              <a:rPr lang="en-ZA" b="1" dirty="0">
                <a:solidFill>
                  <a:srgbClr val="C00000"/>
                </a:solidFill>
              </a:rPr>
              <a:t> with Book Data and to provide a dynamic search option. The code is quite trivial because the SQL functionality has been written on the </a:t>
            </a:r>
            <a:r>
              <a:rPr lang="en-ZA" b="1" dirty="0" err="1">
                <a:solidFill>
                  <a:srgbClr val="C00000"/>
                </a:solidFill>
              </a:rPr>
              <a:t>DataTable</a:t>
            </a:r>
            <a:r>
              <a:rPr lang="en-ZA" b="1" dirty="0">
                <a:solidFill>
                  <a:srgbClr val="C00000"/>
                </a:solidFill>
              </a:rPr>
              <a:t> inside the </a:t>
            </a:r>
            <a:r>
              <a:rPr lang="en-ZA" b="1" dirty="0" err="1">
                <a:solidFill>
                  <a:srgbClr val="C00000"/>
                </a:solidFill>
              </a:rPr>
              <a:t>DataSet</a:t>
            </a:r>
            <a:r>
              <a:rPr lang="en-ZA" b="1" dirty="0">
                <a:solidFill>
                  <a:srgbClr val="C00000"/>
                </a:solidFill>
              </a:rPr>
              <a:t>.</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Book Data and the Book Search</a:t>
            </a:r>
          </a:p>
        </p:txBody>
      </p:sp>
      <p:sp>
        <p:nvSpPr>
          <p:cNvPr id="4" name="Rectangle 3">
            <a:extLst>
              <a:ext uri="{FF2B5EF4-FFF2-40B4-BE49-F238E27FC236}">
                <a16:creationId xmlns:a16="http://schemas.microsoft.com/office/drawing/2014/main" id="{C61D805A-D1A1-4EA2-9266-FEE2312B55C1}"/>
              </a:ext>
            </a:extLst>
          </p:cNvPr>
          <p:cNvSpPr/>
          <p:nvPr/>
        </p:nvSpPr>
        <p:spPr>
          <a:xfrm>
            <a:off x="430306" y="1577405"/>
            <a:ext cx="8901953" cy="2585323"/>
          </a:xfrm>
          <a:prstGeom prst="rect">
            <a:avLst/>
          </a:prstGeom>
          <a:solidFill>
            <a:schemeClr val="accent2">
              <a:lumMod val="10000"/>
              <a:lumOff val="90000"/>
            </a:schemeClr>
          </a:solidFill>
        </p:spPr>
        <p:txBody>
          <a:bodyPr wrap="square">
            <a:spAutoFit/>
          </a:bodyPr>
          <a:lstStyle/>
          <a:p>
            <a:r>
              <a:rPr lang="en-ZA" dirty="0">
                <a:solidFill>
                  <a:srgbClr val="0000FF"/>
                </a:solidFill>
                <a:highlight>
                  <a:srgbClr val="FFFFFF"/>
                </a:highlight>
                <a:latin typeface="Cascadia Mono" panose="020B0609020000020004" pitchFamily="49" charset="0"/>
              </a:rPr>
              <a:t>private</a:t>
            </a:r>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void</a:t>
            </a:r>
            <a:r>
              <a:rPr lang="en-ZA" dirty="0">
                <a:solidFill>
                  <a:srgbClr val="000000"/>
                </a:solidFill>
                <a:highlight>
                  <a:srgbClr val="FFFFFF"/>
                </a:highlight>
                <a:latin typeface="Cascadia Mono" panose="020B0609020000020004" pitchFamily="49" charset="0"/>
              </a:rPr>
              <a:t> Form1_Load(</a:t>
            </a:r>
            <a:r>
              <a:rPr lang="en-ZA" dirty="0">
                <a:solidFill>
                  <a:srgbClr val="0000FF"/>
                </a:solidFill>
                <a:highlight>
                  <a:srgbClr val="FFFFFF"/>
                </a:highlight>
                <a:latin typeface="Cascadia Mono" panose="020B0609020000020004" pitchFamily="49" charset="0"/>
              </a:rPr>
              <a:t>object</a:t>
            </a:r>
            <a:r>
              <a:rPr lang="en-ZA" dirty="0">
                <a:solidFill>
                  <a:srgbClr val="000000"/>
                </a:solidFill>
                <a:highlight>
                  <a:srgbClr val="FFFFFF"/>
                </a:highlight>
                <a:latin typeface="Cascadia Mono" panose="020B0609020000020004" pitchFamily="49" charset="0"/>
              </a:rPr>
              <a:t> sender, </a:t>
            </a:r>
            <a:r>
              <a:rPr lang="en-ZA" dirty="0" err="1">
                <a:solidFill>
                  <a:srgbClr val="2B91AF"/>
                </a:solidFill>
                <a:highlight>
                  <a:srgbClr val="FFFFFF"/>
                </a:highlight>
                <a:latin typeface="Cascadia Mono" panose="020B0609020000020004" pitchFamily="49" charset="0"/>
              </a:rPr>
              <a:t>EventArgs</a:t>
            </a:r>
            <a:r>
              <a:rPr lang="en-ZA"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TABook1.Fill(dsBookApp1.Book);</a:t>
            </a:r>
          </a:p>
          <a:p>
            <a:r>
              <a:rPr lang="en-ZA" dirty="0">
                <a:solidFill>
                  <a:srgbClr val="000000"/>
                </a:solidFill>
                <a:highlight>
                  <a:srgbClr val="FFFFFF"/>
                </a:highlight>
                <a:latin typeface="Cascadia Mono" panose="020B0609020000020004" pitchFamily="49" charset="0"/>
              </a:rPr>
              <a:t>}</a:t>
            </a:r>
          </a:p>
          <a:p>
            <a:endParaRPr lang="en-ZA" dirty="0">
              <a:solidFill>
                <a:srgbClr val="000000"/>
              </a:solidFill>
              <a:highlight>
                <a:srgbClr val="FFFFFF"/>
              </a:highlight>
              <a:latin typeface="Cascadia Mono" panose="020B0609020000020004" pitchFamily="49" charset="0"/>
            </a:endParaRPr>
          </a:p>
          <a:p>
            <a:r>
              <a:rPr lang="en-US" dirty="0">
                <a:solidFill>
                  <a:srgbClr val="0000FF"/>
                </a:solidFill>
                <a:highlight>
                  <a:srgbClr val="FFFFFF"/>
                </a:highlight>
                <a:latin typeface="Cascadia Mono" panose="020B0609020000020004" pitchFamily="49" charset="0"/>
              </a:rPr>
              <a:t>private</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void</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txtBookName_TextChanged</a:t>
            </a:r>
            <a:r>
              <a:rPr lang="en-US" dirty="0">
                <a:solidFill>
                  <a:srgbClr val="000000"/>
                </a:solidFill>
                <a:highlight>
                  <a:srgbClr val="FFFFFF"/>
                </a:highlight>
                <a:latin typeface="Cascadia Mono" panose="020B0609020000020004" pitchFamily="49" charset="0"/>
              </a:rPr>
              <a:t>(</a:t>
            </a:r>
            <a:r>
              <a:rPr lang="en-US" dirty="0">
                <a:solidFill>
                  <a:srgbClr val="0000FF"/>
                </a:solidFill>
                <a:highlight>
                  <a:srgbClr val="FFFFFF"/>
                </a:highlight>
                <a:latin typeface="Cascadia Mono" panose="020B0609020000020004" pitchFamily="49" charset="0"/>
              </a:rPr>
              <a:t>object</a:t>
            </a:r>
            <a:r>
              <a:rPr lang="en-US" dirty="0">
                <a:solidFill>
                  <a:srgbClr val="000000"/>
                </a:solidFill>
                <a:highlight>
                  <a:srgbClr val="FFFFFF"/>
                </a:highlight>
                <a:latin typeface="Cascadia Mono" panose="020B0609020000020004" pitchFamily="49" charset="0"/>
              </a:rPr>
              <a:t> sender, </a:t>
            </a:r>
            <a:r>
              <a:rPr lang="en-US" dirty="0" err="1">
                <a:solidFill>
                  <a:srgbClr val="2B91AF"/>
                </a:solidFill>
                <a:highlight>
                  <a:srgbClr val="FFFFFF"/>
                </a:highlight>
                <a:latin typeface="Cascadia Mono" panose="020B0609020000020004" pitchFamily="49" charset="0"/>
              </a:rPr>
              <a:t>EventArgs</a:t>
            </a:r>
            <a:r>
              <a:rPr lang="en-US"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TABook1.FillByBookName(dsBookApp1.Book, </a:t>
            </a:r>
            <a:r>
              <a:rPr lang="en-ZA" dirty="0" err="1">
                <a:solidFill>
                  <a:srgbClr val="000000"/>
                </a:solidFill>
                <a:highlight>
                  <a:srgbClr val="FFFFFF"/>
                </a:highlight>
                <a:latin typeface="Cascadia Mono" panose="020B0609020000020004" pitchFamily="49" charset="0"/>
              </a:rPr>
              <a:t>txtBookName.Text</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a:t>
            </a:r>
            <a:endParaRPr lang="en-ZA" dirty="0"/>
          </a:p>
        </p:txBody>
      </p:sp>
    </p:spTree>
    <p:extLst>
      <p:ext uri="{BB962C8B-B14F-4D97-AF65-F5344CB8AC3E}">
        <p14:creationId xmlns:p14="http://schemas.microsoft.com/office/powerpoint/2010/main" val="150458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510987"/>
          </a:xfrm>
        </p:spPr>
        <p:txBody>
          <a:bodyPr/>
          <a:lstStyle/>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Display and Search</a:t>
            </a:r>
          </a:p>
        </p:txBody>
      </p:sp>
      <p:pic>
        <p:nvPicPr>
          <p:cNvPr id="4" name="Picture 3">
            <a:extLst>
              <a:ext uri="{FF2B5EF4-FFF2-40B4-BE49-F238E27FC236}">
                <a16:creationId xmlns:a16="http://schemas.microsoft.com/office/drawing/2014/main" id="{FF148161-A2ED-4D51-B326-C215568895EA}"/>
              </a:ext>
            </a:extLst>
          </p:cNvPr>
          <p:cNvPicPr>
            <a:picLocks noChangeAspect="1"/>
          </p:cNvPicPr>
          <p:nvPr/>
        </p:nvPicPr>
        <p:blipFill>
          <a:blip r:embed="rId2"/>
          <a:stretch>
            <a:fillRect/>
          </a:stretch>
        </p:blipFill>
        <p:spPr>
          <a:xfrm>
            <a:off x="200544" y="1030943"/>
            <a:ext cx="5694837" cy="5038165"/>
          </a:xfrm>
          <a:prstGeom prst="rect">
            <a:avLst/>
          </a:prstGeom>
        </p:spPr>
      </p:pic>
      <p:pic>
        <p:nvPicPr>
          <p:cNvPr id="5" name="Picture 4">
            <a:extLst>
              <a:ext uri="{FF2B5EF4-FFF2-40B4-BE49-F238E27FC236}">
                <a16:creationId xmlns:a16="http://schemas.microsoft.com/office/drawing/2014/main" id="{0DAF4159-9C70-46E1-BE51-910BC0DDF885}"/>
              </a:ext>
            </a:extLst>
          </p:cNvPr>
          <p:cNvPicPr>
            <a:picLocks noChangeAspect="1"/>
          </p:cNvPicPr>
          <p:nvPr/>
        </p:nvPicPr>
        <p:blipFill>
          <a:blip r:embed="rId3"/>
          <a:stretch>
            <a:fillRect/>
          </a:stretch>
        </p:blipFill>
        <p:spPr>
          <a:xfrm>
            <a:off x="6205825" y="1165410"/>
            <a:ext cx="5662244" cy="4141693"/>
          </a:xfrm>
          <a:prstGeom prst="rect">
            <a:avLst/>
          </a:prstGeom>
        </p:spPr>
      </p:pic>
    </p:spTree>
    <p:extLst>
      <p:ext uri="{BB962C8B-B14F-4D97-AF65-F5344CB8AC3E}">
        <p14:creationId xmlns:p14="http://schemas.microsoft.com/office/powerpoint/2010/main" val="307426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830997"/>
          </a:xfrm>
        </p:spPr>
        <p:txBody>
          <a:bodyPr/>
          <a:lstStyle/>
          <a:p>
            <a:r>
              <a:rPr lang="en-ZA" b="1" dirty="0">
                <a:solidFill>
                  <a:srgbClr val="C00000"/>
                </a:solidFill>
              </a:rPr>
              <a:t>The functionality has already been created on the </a:t>
            </a:r>
            <a:r>
              <a:rPr lang="en-ZA" b="1" dirty="0" err="1">
                <a:solidFill>
                  <a:srgbClr val="C00000"/>
                </a:solidFill>
              </a:rPr>
              <a:t>DataTable</a:t>
            </a:r>
            <a:r>
              <a:rPr lang="en-ZA" b="1" dirty="0">
                <a:solidFill>
                  <a:srgbClr val="C00000"/>
                </a:solidFill>
              </a:rPr>
              <a:t> (See slide 4) – we simply have to invoke the method and the update will take place</a:t>
            </a:r>
          </a:p>
          <a:p>
            <a:r>
              <a:rPr lang="en-ZA" b="1" dirty="0">
                <a:solidFill>
                  <a:srgbClr val="C00000"/>
                </a:solidFill>
              </a:rPr>
              <a:t>Also, once the update occurs, you have to refresh the </a:t>
            </a:r>
            <a:r>
              <a:rPr lang="en-ZA" b="1" dirty="0" err="1">
                <a:solidFill>
                  <a:srgbClr val="C00000"/>
                </a:solidFill>
              </a:rPr>
              <a:t>gridview</a:t>
            </a:r>
            <a:r>
              <a:rPr lang="en-ZA" b="1" dirty="0">
                <a:solidFill>
                  <a:srgbClr val="C00000"/>
                </a:solidFill>
              </a:rPr>
              <a:t> (by filling in all the rows again to see the updated effect)</a:t>
            </a:r>
          </a:p>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Let us also do the Update of Stock</a:t>
            </a:r>
          </a:p>
        </p:txBody>
      </p:sp>
      <p:sp>
        <p:nvSpPr>
          <p:cNvPr id="4" name="Rectangle 3">
            <a:extLst>
              <a:ext uri="{FF2B5EF4-FFF2-40B4-BE49-F238E27FC236}">
                <a16:creationId xmlns:a16="http://schemas.microsoft.com/office/drawing/2014/main" id="{B543C4A6-53B5-4003-8728-4F04B0AA5501}"/>
              </a:ext>
            </a:extLst>
          </p:cNvPr>
          <p:cNvSpPr/>
          <p:nvPr/>
        </p:nvSpPr>
        <p:spPr>
          <a:xfrm>
            <a:off x="259975" y="1859340"/>
            <a:ext cx="11797554" cy="1477328"/>
          </a:xfrm>
          <a:prstGeom prst="rect">
            <a:avLst/>
          </a:prstGeom>
          <a:solidFill>
            <a:schemeClr val="accent2">
              <a:lumMod val="10000"/>
              <a:lumOff val="90000"/>
            </a:schemeClr>
          </a:solidFill>
        </p:spPr>
        <p:txBody>
          <a:bodyPr wrap="square">
            <a:spAutoFit/>
          </a:bodyPr>
          <a:lstStyle/>
          <a:p>
            <a:r>
              <a:rPr lang="en-US" dirty="0">
                <a:solidFill>
                  <a:srgbClr val="0000FF"/>
                </a:solidFill>
                <a:highlight>
                  <a:srgbClr val="FFFFFF"/>
                </a:highlight>
                <a:latin typeface="Cascadia Mono" panose="020B0609020000020004" pitchFamily="49" charset="0"/>
              </a:rPr>
              <a:t>private</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void</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btnStock_Click</a:t>
            </a:r>
            <a:r>
              <a:rPr lang="en-US" dirty="0">
                <a:solidFill>
                  <a:srgbClr val="000000"/>
                </a:solidFill>
                <a:highlight>
                  <a:srgbClr val="FFFFFF"/>
                </a:highlight>
                <a:latin typeface="Cascadia Mono" panose="020B0609020000020004" pitchFamily="49" charset="0"/>
              </a:rPr>
              <a:t>(</a:t>
            </a:r>
            <a:r>
              <a:rPr lang="en-US" dirty="0">
                <a:solidFill>
                  <a:srgbClr val="0000FF"/>
                </a:solidFill>
                <a:highlight>
                  <a:srgbClr val="FFFFFF"/>
                </a:highlight>
                <a:latin typeface="Cascadia Mono" panose="020B0609020000020004" pitchFamily="49" charset="0"/>
              </a:rPr>
              <a:t>object</a:t>
            </a:r>
            <a:r>
              <a:rPr lang="en-US" dirty="0">
                <a:solidFill>
                  <a:srgbClr val="000000"/>
                </a:solidFill>
                <a:highlight>
                  <a:srgbClr val="FFFFFF"/>
                </a:highlight>
                <a:latin typeface="Cascadia Mono" panose="020B0609020000020004" pitchFamily="49" charset="0"/>
              </a:rPr>
              <a:t> sender, </a:t>
            </a:r>
            <a:r>
              <a:rPr lang="en-US" dirty="0" err="1">
                <a:solidFill>
                  <a:srgbClr val="2B91AF"/>
                </a:solidFill>
                <a:highlight>
                  <a:srgbClr val="FFFFFF"/>
                </a:highlight>
                <a:latin typeface="Cascadia Mono" panose="020B0609020000020004" pitchFamily="49" charset="0"/>
              </a:rPr>
              <a:t>EventArgs</a:t>
            </a:r>
            <a:r>
              <a:rPr lang="en-US"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r>
              <a:rPr lang="en-ZA" sz="1400" dirty="0">
                <a:solidFill>
                  <a:srgbClr val="000000"/>
                </a:solidFill>
                <a:highlight>
                  <a:srgbClr val="FFFFFF"/>
                </a:highlight>
                <a:latin typeface="Cascadia Mono" panose="020B0609020000020004" pitchFamily="49" charset="0"/>
              </a:rPr>
              <a:t>taBook1.UpDateBookStock(</a:t>
            </a:r>
            <a:r>
              <a:rPr lang="en-ZA" sz="1400" dirty="0">
                <a:solidFill>
                  <a:srgbClr val="2B91AF"/>
                </a:solidFill>
                <a:highlight>
                  <a:srgbClr val="FFFFFF"/>
                </a:highlight>
                <a:latin typeface="Cascadia Mono" panose="020B0609020000020004" pitchFamily="49" charset="0"/>
              </a:rPr>
              <a:t>Convert</a:t>
            </a:r>
            <a:r>
              <a:rPr lang="en-ZA" sz="1400" dirty="0">
                <a:solidFill>
                  <a:srgbClr val="000000"/>
                </a:solidFill>
                <a:highlight>
                  <a:srgbClr val="FFFFFF"/>
                </a:highlight>
                <a:latin typeface="Cascadia Mono" panose="020B0609020000020004" pitchFamily="49" charset="0"/>
              </a:rPr>
              <a:t>.ToInt32(</a:t>
            </a:r>
            <a:r>
              <a:rPr lang="en-ZA" sz="1400" dirty="0" err="1">
                <a:solidFill>
                  <a:srgbClr val="000000"/>
                </a:solidFill>
                <a:highlight>
                  <a:srgbClr val="FFFFFF"/>
                </a:highlight>
                <a:latin typeface="Cascadia Mono" panose="020B0609020000020004" pitchFamily="49" charset="0"/>
              </a:rPr>
              <a:t>txtStockAmt.Text</a:t>
            </a:r>
            <a:r>
              <a:rPr lang="en-ZA" sz="1400" dirty="0">
                <a:solidFill>
                  <a:srgbClr val="000000"/>
                </a:solidFill>
                <a:highlight>
                  <a:srgbClr val="FFFFFF"/>
                </a:highlight>
                <a:latin typeface="Cascadia Mono" panose="020B0609020000020004" pitchFamily="49" charset="0"/>
              </a:rPr>
              <a:t>), </a:t>
            </a:r>
            <a:r>
              <a:rPr lang="en-ZA" sz="1400" dirty="0" err="1">
                <a:solidFill>
                  <a:srgbClr val="000000"/>
                </a:solidFill>
                <a:highlight>
                  <a:srgbClr val="FFFFFF"/>
                </a:highlight>
                <a:latin typeface="Cascadia Mono" panose="020B0609020000020004" pitchFamily="49" charset="0"/>
              </a:rPr>
              <a:t>dgvBook.CurrentRow.Cells</a:t>
            </a:r>
            <a:r>
              <a:rPr lang="en-ZA" sz="1400" dirty="0">
                <a:solidFill>
                  <a:srgbClr val="000000"/>
                </a:solidFill>
                <a:highlight>
                  <a:srgbClr val="FFFFFF"/>
                </a:highlight>
                <a:latin typeface="Cascadia Mono" panose="020B0609020000020004" pitchFamily="49" charset="0"/>
              </a:rPr>
              <a:t>[0].</a:t>
            </a:r>
            <a:r>
              <a:rPr lang="en-ZA" sz="1400" dirty="0" err="1">
                <a:solidFill>
                  <a:srgbClr val="000000"/>
                </a:solidFill>
                <a:highlight>
                  <a:srgbClr val="FFFFFF"/>
                </a:highlight>
                <a:latin typeface="Cascadia Mono" panose="020B0609020000020004" pitchFamily="49" charset="0"/>
              </a:rPr>
              <a:t>Value.ToString</a:t>
            </a:r>
            <a:r>
              <a:rPr lang="en-ZA" sz="1400" dirty="0">
                <a:solidFill>
                  <a:srgbClr val="000000"/>
                </a:solidFill>
                <a:highlight>
                  <a:srgbClr val="FFFFFF"/>
                </a:highlight>
                <a:latin typeface="Cascadia Mono" panose="020B0609020000020004" pitchFamily="49" charset="0"/>
              </a:rPr>
              <a:t>());</a:t>
            </a:r>
            <a:endParaRPr lang="en-ZA" dirty="0">
              <a:solidFill>
                <a:srgbClr val="000000"/>
              </a:solidFill>
              <a:highlight>
                <a:srgbClr val="FFFFFF"/>
              </a:highlight>
              <a:latin typeface="Cascadia Mono" panose="020B0609020000020004" pitchFamily="49" charset="0"/>
            </a:endParaRPr>
          </a:p>
          <a:p>
            <a:r>
              <a:rPr lang="en-ZA" dirty="0">
                <a:solidFill>
                  <a:srgbClr val="000000"/>
                </a:solidFill>
                <a:highlight>
                  <a:srgbClr val="FFFFFF"/>
                </a:highlight>
                <a:latin typeface="Cascadia Mono" panose="020B0609020000020004" pitchFamily="49" charset="0"/>
              </a:rPr>
              <a:t>  taBook1.FillByBookName(dsBookApp1.Book, </a:t>
            </a:r>
            <a:r>
              <a:rPr lang="en-ZA" dirty="0" err="1">
                <a:solidFill>
                  <a:srgbClr val="000000"/>
                </a:solidFill>
                <a:highlight>
                  <a:srgbClr val="FFFFFF"/>
                </a:highlight>
                <a:latin typeface="Cascadia Mono" panose="020B0609020000020004" pitchFamily="49" charset="0"/>
              </a:rPr>
              <a:t>txtBookName.Text</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a:t>
            </a:r>
            <a:endParaRPr lang="en-ZA" dirty="0"/>
          </a:p>
        </p:txBody>
      </p:sp>
      <p:sp>
        <p:nvSpPr>
          <p:cNvPr id="5" name="Text Placeholder 1">
            <a:extLst>
              <a:ext uri="{FF2B5EF4-FFF2-40B4-BE49-F238E27FC236}">
                <a16:creationId xmlns:a16="http://schemas.microsoft.com/office/drawing/2014/main" id="{0B12E8A0-E75E-4D1D-9E8B-E7C2FB0D00F6}"/>
              </a:ext>
            </a:extLst>
          </p:cNvPr>
          <p:cNvSpPr txBox="1">
            <a:spLocks/>
          </p:cNvSpPr>
          <p:nvPr/>
        </p:nvSpPr>
        <p:spPr>
          <a:xfrm>
            <a:off x="470647" y="3370129"/>
            <a:ext cx="11250706" cy="394446"/>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solidFill>
                  <a:srgbClr val="C00000"/>
                </a:solidFill>
              </a:rPr>
              <a:t>The update logic is that for the current row, the QOH will be increased/decreased by the amount entered (-</a:t>
            </a:r>
            <a:r>
              <a:rPr lang="en-ZA" b="1" dirty="0" err="1">
                <a:solidFill>
                  <a:srgbClr val="C00000"/>
                </a:solidFill>
              </a:rPr>
              <a:t>ve</a:t>
            </a:r>
            <a:r>
              <a:rPr lang="en-ZA" b="1" dirty="0">
                <a:solidFill>
                  <a:srgbClr val="C00000"/>
                </a:solidFill>
              </a:rPr>
              <a:t> amount means decrease) – so if you enter 5 when the cursor is placed in the row for the book named “C# Journey”, then the QOH will change to 30 and the </a:t>
            </a:r>
            <a:r>
              <a:rPr lang="en-ZA" b="1" dirty="0" err="1">
                <a:solidFill>
                  <a:srgbClr val="C00000"/>
                </a:solidFill>
              </a:rPr>
              <a:t>Gridview</a:t>
            </a:r>
            <a:r>
              <a:rPr lang="en-ZA" b="1" dirty="0">
                <a:solidFill>
                  <a:srgbClr val="C00000"/>
                </a:solidFill>
              </a:rPr>
              <a:t> updates and shows the new value </a:t>
            </a:r>
          </a:p>
        </p:txBody>
      </p:sp>
      <p:pic>
        <p:nvPicPr>
          <p:cNvPr id="6" name="Picture 5">
            <a:extLst>
              <a:ext uri="{FF2B5EF4-FFF2-40B4-BE49-F238E27FC236}">
                <a16:creationId xmlns:a16="http://schemas.microsoft.com/office/drawing/2014/main" id="{771D7841-7919-4A19-85E8-5492D6D8D308}"/>
              </a:ext>
            </a:extLst>
          </p:cNvPr>
          <p:cNvPicPr>
            <a:picLocks noChangeAspect="1"/>
          </p:cNvPicPr>
          <p:nvPr/>
        </p:nvPicPr>
        <p:blipFill>
          <a:blip r:embed="rId2"/>
          <a:stretch>
            <a:fillRect/>
          </a:stretch>
        </p:blipFill>
        <p:spPr>
          <a:xfrm>
            <a:off x="510988" y="3764575"/>
            <a:ext cx="3283358" cy="2318984"/>
          </a:xfrm>
          <a:prstGeom prst="rect">
            <a:avLst/>
          </a:prstGeom>
        </p:spPr>
      </p:pic>
      <p:pic>
        <p:nvPicPr>
          <p:cNvPr id="7" name="Picture 6">
            <a:extLst>
              <a:ext uri="{FF2B5EF4-FFF2-40B4-BE49-F238E27FC236}">
                <a16:creationId xmlns:a16="http://schemas.microsoft.com/office/drawing/2014/main" id="{1C827C55-634F-4C76-8942-96A46BD59D16}"/>
              </a:ext>
            </a:extLst>
          </p:cNvPr>
          <p:cNvPicPr>
            <a:picLocks noChangeAspect="1"/>
          </p:cNvPicPr>
          <p:nvPr/>
        </p:nvPicPr>
        <p:blipFill>
          <a:blip r:embed="rId3"/>
          <a:stretch>
            <a:fillRect/>
          </a:stretch>
        </p:blipFill>
        <p:spPr>
          <a:xfrm>
            <a:off x="6481481" y="3764575"/>
            <a:ext cx="3646433" cy="2401979"/>
          </a:xfrm>
          <a:prstGeom prst="rect">
            <a:avLst/>
          </a:prstGeom>
        </p:spPr>
      </p:pic>
    </p:spTree>
    <p:extLst>
      <p:ext uri="{BB962C8B-B14F-4D97-AF65-F5344CB8AC3E}">
        <p14:creationId xmlns:p14="http://schemas.microsoft.com/office/powerpoint/2010/main" val="326731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1246093"/>
          </a:xfrm>
        </p:spPr>
        <p:txBody>
          <a:bodyPr/>
          <a:lstStyle/>
          <a:p>
            <a:r>
              <a:rPr lang="en-ZA" b="1" dirty="0">
                <a:solidFill>
                  <a:srgbClr val="C00000"/>
                </a:solidFill>
              </a:rPr>
              <a:t>Remember that an Invoice is simply a temporary table – once a transaction is recorded the Invoice Data Table must be cleared up completely</a:t>
            </a:r>
          </a:p>
          <a:p>
            <a:r>
              <a:rPr lang="en-ZA" b="1" dirty="0">
                <a:solidFill>
                  <a:srgbClr val="C00000"/>
                </a:solidFill>
              </a:rPr>
              <a:t>The idea is that the use selects a book (by </a:t>
            </a:r>
            <a:r>
              <a:rPr lang="en-ZA" b="1" dirty="0">
                <a:solidFill>
                  <a:srgbClr val="7030A0"/>
                </a:solidFill>
              </a:rPr>
              <a:t>double clicking the cell content </a:t>
            </a:r>
            <a:r>
              <a:rPr lang="en-ZA" b="1" dirty="0">
                <a:solidFill>
                  <a:srgbClr val="C00000"/>
                </a:solidFill>
              </a:rPr>
              <a:t>where the book is named – you could also use the row double click as well) and the book is added to the Invoice Table (for this app we will assume that the user can only select a book once only – i.e. the user can select many books but only 1 of each)</a:t>
            </a:r>
          </a:p>
          <a:p>
            <a:r>
              <a:rPr lang="en-ZA" b="1" dirty="0">
                <a:solidFill>
                  <a:srgbClr val="C00000"/>
                </a:solidFill>
              </a:rPr>
              <a:t>Also whenever a book is selected the amount owing will be updated</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Adding Books to an Invoice</a:t>
            </a:r>
          </a:p>
        </p:txBody>
      </p:sp>
      <p:sp>
        <p:nvSpPr>
          <p:cNvPr id="5" name="Rectangle 4">
            <a:extLst>
              <a:ext uri="{FF2B5EF4-FFF2-40B4-BE49-F238E27FC236}">
                <a16:creationId xmlns:a16="http://schemas.microsoft.com/office/drawing/2014/main" id="{C071D05F-D552-4CFE-BD4D-44ABBB43C9E4}"/>
              </a:ext>
            </a:extLst>
          </p:cNvPr>
          <p:cNvSpPr/>
          <p:nvPr/>
        </p:nvSpPr>
        <p:spPr>
          <a:xfrm>
            <a:off x="73197" y="2637213"/>
            <a:ext cx="8622568" cy="2585323"/>
          </a:xfrm>
          <a:prstGeom prst="rect">
            <a:avLst/>
          </a:prstGeom>
          <a:solidFill>
            <a:schemeClr val="accent2">
              <a:lumMod val="10000"/>
              <a:lumOff val="90000"/>
            </a:schemeClr>
          </a:solidFill>
        </p:spPr>
        <p:txBody>
          <a:bodyPr wrap="square">
            <a:spAutoFit/>
          </a:bodyPr>
          <a:lstStyle/>
          <a:p>
            <a:r>
              <a:rPr lang="en-ZA" dirty="0">
                <a:solidFill>
                  <a:srgbClr val="0000FF"/>
                </a:solidFill>
                <a:highlight>
                  <a:srgbClr val="FFFFFF"/>
                </a:highlight>
                <a:latin typeface="Cascadia Mono" panose="020B0609020000020004" pitchFamily="49" charset="0"/>
              </a:rPr>
              <a:t>private</a:t>
            </a:r>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double</a:t>
            </a:r>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getTotal</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double</a:t>
            </a:r>
            <a:r>
              <a:rPr lang="en-ZA" dirty="0">
                <a:solidFill>
                  <a:srgbClr val="000000"/>
                </a:solidFill>
                <a:highlight>
                  <a:srgbClr val="FFFFFF"/>
                </a:highlight>
                <a:latin typeface="Cascadia Mono" panose="020B0609020000020004" pitchFamily="49" charset="0"/>
              </a:rPr>
              <a:t> sum = 0;</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for</a:t>
            </a:r>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int</a:t>
            </a:r>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 = 0;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 &lt; dsBookApp1.Invoice.Rows.Count;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sum += </a:t>
            </a:r>
            <a:r>
              <a:rPr lang="en-ZA" dirty="0" err="1">
                <a:solidFill>
                  <a:srgbClr val="2B91AF"/>
                </a:solidFill>
                <a:highlight>
                  <a:srgbClr val="FFFFFF"/>
                </a:highlight>
                <a:latin typeface="Cascadia Mono" panose="020B0609020000020004" pitchFamily="49" charset="0"/>
              </a:rPr>
              <a:t>Convert</a:t>
            </a:r>
            <a:r>
              <a:rPr lang="en-ZA" dirty="0" err="1">
                <a:solidFill>
                  <a:srgbClr val="000000"/>
                </a:solidFill>
                <a:highlight>
                  <a:srgbClr val="FFFFFF"/>
                </a:highlight>
                <a:latin typeface="Cascadia Mono" panose="020B0609020000020004" pitchFamily="49" charset="0"/>
              </a:rPr>
              <a:t>.ToDouble</a:t>
            </a:r>
            <a:r>
              <a:rPr lang="en-ZA" dirty="0">
                <a:solidFill>
                  <a:srgbClr val="000000"/>
                </a:solidFill>
                <a:highlight>
                  <a:srgbClr val="FFFFFF"/>
                </a:highlight>
                <a:latin typeface="Cascadia Mono" panose="020B0609020000020004" pitchFamily="49" charset="0"/>
              </a:rPr>
              <a:t>(dsBookApp1.Invoice.Rows[</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][1]);</a:t>
            </a: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return</a:t>
            </a:r>
            <a:r>
              <a:rPr lang="en-ZA" dirty="0">
                <a:solidFill>
                  <a:srgbClr val="000000"/>
                </a:solidFill>
                <a:highlight>
                  <a:srgbClr val="FFFFFF"/>
                </a:highlight>
                <a:latin typeface="Cascadia Mono" panose="020B0609020000020004" pitchFamily="49" charset="0"/>
              </a:rPr>
              <a:t> sum;</a:t>
            </a:r>
          </a:p>
          <a:p>
            <a:r>
              <a:rPr lang="en-ZA" dirty="0">
                <a:solidFill>
                  <a:srgbClr val="000000"/>
                </a:solidFill>
                <a:highlight>
                  <a:srgbClr val="FFFFFF"/>
                </a:highlight>
                <a:latin typeface="Cascadia Mono" panose="020B0609020000020004" pitchFamily="49" charset="0"/>
              </a:rPr>
              <a:t>}</a:t>
            </a:r>
            <a:endParaRPr lang="en-ZA" dirty="0"/>
          </a:p>
        </p:txBody>
      </p:sp>
      <p:pic>
        <p:nvPicPr>
          <p:cNvPr id="6" name="Picture 5">
            <a:extLst>
              <a:ext uri="{FF2B5EF4-FFF2-40B4-BE49-F238E27FC236}">
                <a16:creationId xmlns:a16="http://schemas.microsoft.com/office/drawing/2014/main" id="{83B882B6-9A65-4DE2-BAC8-D0424C1A539D}"/>
              </a:ext>
            </a:extLst>
          </p:cNvPr>
          <p:cNvPicPr>
            <a:picLocks noChangeAspect="1"/>
          </p:cNvPicPr>
          <p:nvPr/>
        </p:nvPicPr>
        <p:blipFill>
          <a:blip r:embed="rId2"/>
          <a:stretch>
            <a:fillRect/>
          </a:stretch>
        </p:blipFill>
        <p:spPr>
          <a:xfrm>
            <a:off x="8736213" y="2187389"/>
            <a:ext cx="3455787" cy="4096278"/>
          </a:xfrm>
          <a:prstGeom prst="rect">
            <a:avLst/>
          </a:prstGeom>
        </p:spPr>
      </p:pic>
    </p:spTree>
    <p:extLst>
      <p:ext uri="{BB962C8B-B14F-4D97-AF65-F5344CB8AC3E}">
        <p14:creationId xmlns:p14="http://schemas.microsoft.com/office/powerpoint/2010/main" val="329557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573740"/>
          </a:xfrm>
        </p:spPr>
        <p:txBody>
          <a:bodyPr/>
          <a:lstStyle/>
          <a:p>
            <a:r>
              <a:rPr lang="en-ZA" b="1" dirty="0">
                <a:solidFill>
                  <a:srgbClr val="C00000"/>
                </a:solidFill>
              </a:rPr>
              <a:t>To clear the current Invoice Row….</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Clearing Rows from the Invoice</a:t>
            </a:r>
          </a:p>
        </p:txBody>
      </p:sp>
      <p:sp>
        <p:nvSpPr>
          <p:cNvPr id="4" name="Rectangle 3">
            <a:extLst>
              <a:ext uri="{FF2B5EF4-FFF2-40B4-BE49-F238E27FC236}">
                <a16:creationId xmlns:a16="http://schemas.microsoft.com/office/drawing/2014/main" id="{DF76DD23-B296-4708-81ED-D530DA8ABB54}"/>
              </a:ext>
            </a:extLst>
          </p:cNvPr>
          <p:cNvSpPr/>
          <p:nvPr/>
        </p:nvSpPr>
        <p:spPr>
          <a:xfrm>
            <a:off x="510988" y="1427235"/>
            <a:ext cx="10945906" cy="1477328"/>
          </a:xfrm>
          <a:prstGeom prst="rect">
            <a:avLst/>
          </a:prstGeom>
          <a:solidFill>
            <a:schemeClr val="accent2">
              <a:lumMod val="10000"/>
              <a:lumOff val="90000"/>
            </a:schemeClr>
          </a:solidFill>
        </p:spPr>
        <p:txBody>
          <a:bodyPr wrap="square">
            <a:spAutoFit/>
          </a:bodyPr>
          <a:lstStyle/>
          <a:p>
            <a:r>
              <a:rPr lang="en-US" dirty="0">
                <a:solidFill>
                  <a:srgbClr val="0000FF"/>
                </a:solidFill>
                <a:highlight>
                  <a:srgbClr val="FFFFFF"/>
                </a:highlight>
                <a:latin typeface="Cascadia Mono" panose="020B0609020000020004" pitchFamily="49" charset="0"/>
              </a:rPr>
              <a:t>private</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void</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btnClearCurrentRow_Click</a:t>
            </a:r>
            <a:r>
              <a:rPr lang="en-US" dirty="0">
                <a:solidFill>
                  <a:srgbClr val="000000"/>
                </a:solidFill>
                <a:highlight>
                  <a:srgbClr val="FFFFFF"/>
                </a:highlight>
                <a:latin typeface="Cascadia Mono" panose="020B0609020000020004" pitchFamily="49" charset="0"/>
              </a:rPr>
              <a:t>(</a:t>
            </a:r>
            <a:r>
              <a:rPr lang="en-US" dirty="0">
                <a:solidFill>
                  <a:srgbClr val="0000FF"/>
                </a:solidFill>
                <a:highlight>
                  <a:srgbClr val="FFFFFF"/>
                </a:highlight>
                <a:latin typeface="Cascadia Mono" panose="020B0609020000020004" pitchFamily="49" charset="0"/>
              </a:rPr>
              <a:t>object</a:t>
            </a:r>
            <a:r>
              <a:rPr lang="en-US" dirty="0">
                <a:solidFill>
                  <a:srgbClr val="000000"/>
                </a:solidFill>
                <a:highlight>
                  <a:srgbClr val="FFFFFF"/>
                </a:highlight>
                <a:latin typeface="Cascadia Mono" panose="020B0609020000020004" pitchFamily="49" charset="0"/>
              </a:rPr>
              <a:t> sender, </a:t>
            </a:r>
            <a:r>
              <a:rPr lang="en-US" dirty="0" err="1">
                <a:solidFill>
                  <a:srgbClr val="2B91AF"/>
                </a:solidFill>
                <a:highlight>
                  <a:srgbClr val="FFFFFF"/>
                </a:highlight>
                <a:latin typeface="Cascadia Mono" panose="020B0609020000020004" pitchFamily="49" charset="0"/>
              </a:rPr>
              <a:t>EventArgs</a:t>
            </a:r>
            <a:r>
              <a:rPr lang="en-US"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dsBookApp1.Invoice.Rows[</a:t>
            </a:r>
            <a:r>
              <a:rPr lang="en-ZA" dirty="0" err="1">
                <a:solidFill>
                  <a:srgbClr val="000000"/>
                </a:solidFill>
                <a:highlight>
                  <a:srgbClr val="FFFFFF"/>
                </a:highlight>
                <a:latin typeface="Cascadia Mono" panose="020B0609020000020004" pitchFamily="49" charset="0"/>
              </a:rPr>
              <a:t>dgvBookInvoice.CurrentRow.Index</a:t>
            </a:r>
            <a:r>
              <a:rPr lang="en-ZA" dirty="0">
                <a:solidFill>
                  <a:srgbClr val="000000"/>
                </a:solidFill>
                <a:highlight>
                  <a:srgbClr val="FFFFFF"/>
                </a:highlight>
                <a:latin typeface="Cascadia Mono" panose="020B0609020000020004" pitchFamily="49" charset="0"/>
              </a:rPr>
              <a:t>].Delete();</a:t>
            </a:r>
          </a:p>
          <a:p>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txtAmtOwing.Text</a:t>
            </a:r>
            <a:r>
              <a:rPr lang="en-ZA" dirty="0">
                <a:solidFill>
                  <a:srgbClr val="000000"/>
                </a:solidFill>
                <a:highlight>
                  <a:srgbClr val="FFFFFF"/>
                </a:highlight>
                <a:latin typeface="Cascadia Mono" panose="020B0609020000020004" pitchFamily="49" charset="0"/>
              </a:rPr>
              <a:t> = </a:t>
            </a:r>
            <a:r>
              <a:rPr lang="en-ZA" dirty="0" err="1">
                <a:solidFill>
                  <a:srgbClr val="000000"/>
                </a:solidFill>
                <a:highlight>
                  <a:srgbClr val="FFFFFF"/>
                </a:highlight>
                <a:latin typeface="Cascadia Mono" panose="020B0609020000020004" pitchFamily="49" charset="0"/>
              </a:rPr>
              <a:t>getTotal</a:t>
            </a:r>
            <a:r>
              <a:rPr lang="en-ZA" dirty="0">
                <a:solidFill>
                  <a:srgbClr val="000000"/>
                </a:solidFill>
                <a:highlight>
                  <a:srgbClr val="FFFFFF"/>
                </a:highlight>
                <a:latin typeface="Cascadia Mono" panose="020B0609020000020004" pitchFamily="49" charset="0"/>
              </a:rPr>
              <a:t>().</a:t>
            </a:r>
            <a:r>
              <a:rPr lang="en-ZA" dirty="0" err="1">
                <a:solidFill>
                  <a:srgbClr val="000000"/>
                </a:solidFill>
                <a:highlight>
                  <a:srgbClr val="FFFFFF"/>
                </a:highlight>
                <a:latin typeface="Cascadia Mono" panose="020B0609020000020004" pitchFamily="49" charset="0"/>
              </a:rPr>
              <a:t>ToString</a:t>
            </a:r>
            <a:r>
              <a:rPr lang="en-ZA" dirty="0">
                <a:solidFill>
                  <a:srgbClr val="000000"/>
                </a:solidFill>
                <a:highlight>
                  <a:srgbClr val="FFFFFF"/>
                </a:highlight>
                <a:latin typeface="Cascadia Mono" panose="020B0609020000020004" pitchFamily="49" charset="0"/>
              </a:rPr>
              <a:t>(</a:t>
            </a:r>
            <a:r>
              <a:rPr lang="en-ZA" dirty="0">
                <a:solidFill>
                  <a:srgbClr val="A31515"/>
                </a:solidFill>
                <a:highlight>
                  <a:srgbClr val="FFFFFF"/>
                </a:highlight>
                <a:latin typeface="Cascadia Mono" panose="020B0609020000020004" pitchFamily="49" charset="0"/>
              </a:rPr>
              <a:t>"C2"</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a:t>
            </a:r>
            <a:endParaRPr lang="en-ZA" dirty="0"/>
          </a:p>
        </p:txBody>
      </p:sp>
      <p:sp>
        <p:nvSpPr>
          <p:cNvPr id="5" name="Text Placeholder 1">
            <a:extLst>
              <a:ext uri="{FF2B5EF4-FFF2-40B4-BE49-F238E27FC236}">
                <a16:creationId xmlns:a16="http://schemas.microsoft.com/office/drawing/2014/main" id="{5BDEA296-2BB2-4D07-BF9E-E1C1A503DDCC}"/>
              </a:ext>
            </a:extLst>
          </p:cNvPr>
          <p:cNvSpPr txBox="1">
            <a:spLocks/>
          </p:cNvSpPr>
          <p:nvPr/>
        </p:nvSpPr>
        <p:spPr>
          <a:xfrm>
            <a:off x="470647" y="3142130"/>
            <a:ext cx="11250706" cy="573740"/>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solidFill>
                  <a:srgbClr val="C00000"/>
                </a:solidFill>
              </a:rPr>
              <a:t>To clear all the Invoice Rows….</a:t>
            </a:r>
          </a:p>
        </p:txBody>
      </p:sp>
      <p:sp>
        <p:nvSpPr>
          <p:cNvPr id="6" name="Rectangle 5">
            <a:extLst>
              <a:ext uri="{FF2B5EF4-FFF2-40B4-BE49-F238E27FC236}">
                <a16:creationId xmlns:a16="http://schemas.microsoft.com/office/drawing/2014/main" id="{92B2A767-E0E9-4D72-9ED0-950A4997632E}"/>
              </a:ext>
            </a:extLst>
          </p:cNvPr>
          <p:cNvSpPr/>
          <p:nvPr/>
        </p:nvSpPr>
        <p:spPr>
          <a:xfrm>
            <a:off x="510988" y="3685417"/>
            <a:ext cx="8879541" cy="1477328"/>
          </a:xfrm>
          <a:prstGeom prst="rect">
            <a:avLst/>
          </a:prstGeom>
          <a:solidFill>
            <a:schemeClr val="accent2">
              <a:lumMod val="10000"/>
              <a:lumOff val="90000"/>
            </a:schemeClr>
          </a:solidFill>
        </p:spPr>
        <p:txBody>
          <a:bodyPr wrap="square">
            <a:spAutoFit/>
          </a:bodyPr>
          <a:lstStyle/>
          <a:p>
            <a:r>
              <a:rPr lang="en-US" dirty="0">
                <a:solidFill>
                  <a:srgbClr val="0000FF"/>
                </a:solidFill>
                <a:highlight>
                  <a:srgbClr val="FFFFFF"/>
                </a:highlight>
                <a:latin typeface="Cascadia Mono" panose="020B0609020000020004" pitchFamily="49" charset="0"/>
              </a:rPr>
              <a:t>private</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void</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btnClearRow_Click</a:t>
            </a:r>
            <a:r>
              <a:rPr lang="en-US" dirty="0">
                <a:solidFill>
                  <a:srgbClr val="000000"/>
                </a:solidFill>
                <a:highlight>
                  <a:srgbClr val="FFFFFF"/>
                </a:highlight>
                <a:latin typeface="Cascadia Mono" panose="020B0609020000020004" pitchFamily="49" charset="0"/>
              </a:rPr>
              <a:t>(</a:t>
            </a:r>
            <a:r>
              <a:rPr lang="en-US" dirty="0">
                <a:solidFill>
                  <a:srgbClr val="0000FF"/>
                </a:solidFill>
                <a:highlight>
                  <a:srgbClr val="FFFFFF"/>
                </a:highlight>
                <a:latin typeface="Cascadia Mono" panose="020B0609020000020004" pitchFamily="49" charset="0"/>
              </a:rPr>
              <a:t>object</a:t>
            </a:r>
            <a:r>
              <a:rPr lang="en-US" dirty="0">
                <a:solidFill>
                  <a:srgbClr val="000000"/>
                </a:solidFill>
                <a:highlight>
                  <a:srgbClr val="FFFFFF"/>
                </a:highlight>
                <a:latin typeface="Cascadia Mono" panose="020B0609020000020004" pitchFamily="49" charset="0"/>
              </a:rPr>
              <a:t> sender, </a:t>
            </a:r>
            <a:r>
              <a:rPr lang="en-US" dirty="0" err="1">
                <a:solidFill>
                  <a:srgbClr val="2B91AF"/>
                </a:solidFill>
                <a:highlight>
                  <a:srgbClr val="FFFFFF"/>
                </a:highlight>
                <a:latin typeface="Cascadia Mono" panose="020B0609020000020004" pitchFamily="49" charset="0"/>
              </a:rPr>
              <a:t>EventArgs</a:t>
            </a:r>
            <a:r>
              <a:rPr lang="en-US"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dsBookApp1.Invoice.Rows.Clear();</a:t>
            </a:r>
          </a:p>
          <a:p>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txtAmtOwing.Text</a:t>
            </a:r>
            <a:r>
              <a:rPr lang="en-ZA" dirty="0">
                <a:solidFill>
                  <a:srgbClr val="000000"/>
                </a:solidFill>
                <a:highlight>
                  <a:srgbClr val="FFFFFF"/>
                </a:highlight>
                <a:latin typeface="Cascadia Mono" panose="020B0609020000020004" pitchFamily="49" charset="0"/>
              </a:rPr>
              <a:t> = </a:t>
            </a:r>
            <a:r>
              <a:rPr lang="en-ZA" dirty="0">
                <a:solidFill>
                  <a:srgbClr val="A31515"/>
                </a:solidFill>
                <a:highlight>
                  <a:srgbClr val="FFFFFF"/>
                </a:highlight>
                <a:latin typeface="Cascadia Mono" panose="020B0609020000020004" pitchFamily="49" charset="0"/>
              </a:rPr>
              <a:t>""</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a:t>
            </a:r>
            <a:endParaRPr lang="en-ZA" dirty="0"/>
          </a:p>
        </p:txBody>
      </p:sp>
    </p:spTree>
    <p:extLst>
      <p:ext uri="{BB962C8B-B14F-4D97-AF65-F5344CB8AC3E}">
        <p14:creationId xmlns:p14="http://schemas.microsoft.com/office/powerpoint/2010/main" val="91454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2187387"/>
          </a:xfrm>
        </p:spPr>
        <p:txBody>
          <a:bodyPr/>
          <a:lstStyle/>
          <a:p>
            <a:r>
              <a:rPr lang="en-ZA" sz="1800" b="1" dirty="0">
                <a:solidFill>
                  <a:srgbClr val="C00000"/>
                </a:solidFill>
              </a:rPr>
              <a:t>There are 2 parts</a:t>
            </a:r>
          </a:p>
          <a:p>
            <a:r>
              <a:rPr lang="en-ZA" b="1" dirty="0">
                <a:solidFill>
                  <a:srgbClr val="C00000"/>
                </a:solidFill>
              </a:rPr>
              <a:t>Part One is easy – this simply entail recording a Sale into the Order table with the overall Amount, Date and the Order ID that will be system generated</a:t>
            </a:r>
          </a:p>
          <a:p>
            <a:pPr lvl="1"/>
            <a:r>
              <a:rPr lang="en-ZA" b="1" dirty="0">
                <a:solidFill>
                  <a:srgbClr val="C00000"/>
                </a:solidFill>
              </a:rPr>
              <a:t>Once this is done the newly inserted </a:t>
            </a:r>
            <a:r>
              <a:rPr lang="en-ZA" b="1" dirty="0" err="1">
                <a:solidFill>
                  <a:srgbClr val="C00000"/>
                </a:solidFill>
              </a:rPr>
              <a:t>OrderID</a:t>
            </a:r>
            <a:r>
              <a:rPr lang="en-ZA" b="1" dirty="0">
                <a:solidFill>
                  <a:srgbClr val="C00000"/>
                </a:solidFill>
              </a:rPr>
              <a:t> must be returned so that you can record the Order details using this ID</a:t>
            </a:r>
          </a:p>
          <a:p>
            <a:pPr lvl="1"/>
            <a:r>
              <a:rPr lang="en-ZA" b="1" dirty="0">
                <a:solidFill>
                  <a:srgbClr val="C00000"/>
                </a:solidFill>
              </a:rPr>
              <a:t>If you right click look at the Order Table adapter, you can add a </a:t>
            </a:r>
            <a:r>
              <a:rPr lang="en-ZA" b="1" dirty="0" err="1">
                <a:solidFill>
                  <a:srgbClr val="C00000"/>
                </a:solidFill>
              </a:rPr>
              <a:t>Sql</a:t>
            </a:r>
            <a:r>
              <a:rPr lang="en-ZA" b="1" dirty="0">
                <a:solidFill>
                  <a:srgbClr val="C00000"/>
                </a:solidFill>
              </a:rPr>
              <a:t> Insert query; it has an Insert </a:t>
            </a:r>
            <a:r>
              <a:rPr lang="en-ZA" b="1" dirty="0" err="1">
                <a:solidFill>
                  <a:srgbClr val="C00000"/>
                </a:solidFill>
              </a:rPr>
              <a:t>Sql</a:t>
            </a:r>
            <a:r>
              <a:rPr lang="en-ZA" b="1" dirty="0">
                <a:solidFill>
                  <a:srgbClr val="C00000"/>
                </a:solidFill>
              </a:rPr>
              <a:t> statement that looks like</a:t>
            </a:r>
          </a:p>
          <a:p>
            <a:pPr lvl="1"/>
            <a:endParaRPr lang="en-ZA" b="1" dirty="0">
              <a:solidFill>
                <a:srgbClr val="C00000"/>
              </a:solidFill>
            </a:endParaRPr>
          </a:p>
          <a:p>
            <a:pPr lvl="1"/>
            <a:endParaRPr lang="en-ZA" b="1" dirty="0">
              <a:solidFill>
                <a:srgbClr val="C00000"/>
              </a:solidFill>
            </a:endParaRPr>
          </a:p>
          <a:p>
            <a:pPr lvl="1"/>
            <a:r>
              <a:rPr lang="en-ZA" b="1" dirty="0">
                <a:solidFill>
                  <a:srgbClr val="C00000"/>
                </a:solidFill>
              </a:rPr>
              <a:t>This statement does one of 2 things – it inserts a new Order into the </a:t>
            </a:r>
            <a:r>
              <a:rPr lang="en-ZA" b="1" dirty="0" err="1">
                <a:solidFill>
                  <a:srgbClr val="C00000"/>
                </a:solidFill>
              </a:rPr>
              <a:t>BookOrder</a:t>
            </a:r>
            <a:r>
              <a:rPr lang="en-ZA" b="1" dirty="0">
                <a:solidFill>
                  <a:srgbClr val="C00000"/>
                </a:solidFill>
              </a:rPr>
              <a:t> table; OR it inserts a new Order into the </a:t>
            </a:r>
            <a:r>
              <a:rPr lang="en-ZA" b="1" dirty="0" err="1">
                <a:solidFill>
                  <a:srgbClr val="C00000"/>
                </a:solidFill>
              </a:rPr>
              <a:t>BookOrder</a:t>
            </a:r>
            <a:r>
              <a:rPr lang="en-ZA" b="1" dirty="0">
                <a:solidFill>
                  <a:srgbClr val="C00000"/>
                </a:solidFill>
              </a:rPr>
              <a:t> table and returns the PK (</a:t>
            </a:r>
            <a:r>
              <a:rPr lang="en-ZA" b="1" dirty="0" err="1">
                <a:solidFill>
                  <a:srgbClr val="C00000"/>
                </a:solidFill>
              </a:rPr>
              <a:t>OrderNo</a:t>
            </a:r>
            <a:r>
              <a:rPr lang="en-ZA" b="1" dirty="0">
                <a:solidFill>
                  <a:srgbClr val="C00000"/>
                </a:solidFill>
              </a:rPr>
              <a:t>) of the newly inserted record. This is done via the </a:t>
            </a:r>
            <a:r>
              <a:rPr lang="en-ZA" b="1" dirty="0" err="1">
                <a:solidFill>
                  <a:srgbClr val="C00000"/>
                </a:solidFill>
              </a:rPr>
              <a:t>Scope_Identity</a:t>
            </a:r>
            <a:r>
              <a:rPr lang="en-ZA" b="1" dirty="0">
                <a:solidFill>
                  <a:srgbClr val="C00000"/>
                </a:solidFill>
              </a:rPr>
              <a:t>() function that you see in the </a:t>
            </a:r>
            <a:r>
              <a:rPr lang="en-ZA" b="1" dirty="0" err="1">
                <a:solidFill>
                  <a:srgbClr val="C00000"/>
                </a:solidFill>
              </a:rPr>
              <a:t>Sql</a:t>
            </a:r>
            <a:r>
              <a:rPr lang="en-ZA" b="1" dirty="0">
                <a:solidFill>
                  <a:srgbClr val="C00000"/>
                </a:solidFill>
              </a:rPr>
              <a:t> statement</a:t>
            </a:r>
          </a:p>
          <a:p>
            <a:pPr lvl="1"/>
            <a:r>
              <a:rPr lang="en-ZA" b="1" dirty="0">
                <a:solidFill>
                  <a:srgbClr val="C00000"/>
                </a:solidFill>
              </a:rPr>
              <a:t>We will use the 2</a:t>
            </a:r>
            <a:r>
              <a:rPr lang="en-ZA" b="1" baseline="30000" dirty="0">
                <a:solidFill>
                  <a:srgbClr val="C00000"/>
                </a:solidFill>
              </a:rPr>
              <a:t>nd</a:t>
            </a:r>
            <a:r>
              <a:rPr lang="en-ZA" b="1" dirty="0">
                <a:solidFill>
                  <a:srgbClr val="C00000"/>
                </a:solidFill>
              </a:rPr>
              <a:t> option where the Insertion takes place and the PK of the newly inserted record is returned</a:t>
            </a:r>
          </a:p>
          <a:p>
            <a:pPr lvl="1"/>
            <a:endParaRPr lang="en-ZA" b="1" dirty="0">
              <a:solidFill>
                <a:srgbClr val="C00000"/>
              </a:solidFill>
            </a:endParaRPr>
          </a:p>
          <a:p>
            <a:pPr lvl="1"/>
            <a:endParaRPr lang="en-ZA" b="1" dirty="0">
              <a:solidFill>
                <a:srgbClr val="C00000"/>
              </a:solidFill>
            </a:endParaRPr>
          </a:p>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Recording a Sale Transaction</a:t>
            </a:r>
          </a:p>
        </p:txBody>
      </p:sp>
      <p:sp>
        <p:nvSpPr>
          <p:cNvPr id="4" name="Rectangle 3">
            <a:extLst>
              <a:ext uri="{FF2B5EF4-FFF2-40B4-BE49-F238E27FC236}">
                <a16:creationId xmlns:a16="http://schemas.microsoft.com/office/drawing/2014/main" id="{606FCEDB-ED05-4107-8DA0-D963EF3814A9}"/>
              </a:ext>
            </a:extLst>
          </p:cNvPr>
          <p:cNvSpPr/>
          <p:nvPr/>
        </p:nvSpPr>
        <p:spPr>
          <a:xfrm>
            <a:off x="842682" y="3081796"/>
            <a:ext cx="10838330" cy="646331"/>
          </a:xfrm>
          <a:prstGeom prst="rect">
            <a:avLst/>
          </a:prstGeom>
          <a:solidFill>
            <a:schemeClr val="accent6">
              <a:lumMod val="40000"/>
              <a:lumOff val="60000"/>
            </a:schemeClr>
          </a:solidFill>
        </p:spPr>
        <p:txBody>
          <a:bodyPr wrap="square">
            <a:spAutoFit/>
          </a:bodyPr>
          <a:lstStyle/>
          <a:p>
            <a:r>
              <a:rPr lang="en-ZA" dirty="0"/>
              <a:t>INSERT INTO [</a:t>
            </a:r>
            <a:r>
              <a:rPr lang="en-ZA" dirty="0" err="1"/>
              <a:t>dbo</a:t>
            </a:r>
            <a:r>
              <a:rPr lang="en-ZA" dirty="0"/>
              <a:t>].[</a:t>
            </a:r>
            <a:r>
              <a:rPr lang="en-ZA" dirty="0" err="1"/>
              <a:t>BookOrder</a:t>
            </a:r>
            <a:r>
              <a:rPr lang="en-ZA" dirty="0"/>
              <a:t>] ([</a:t>
            </a:r>
            <a:r>
              <a:rPr lang="en-ZA" dirty="0" err="1"/>
              <a:t>OrderDate</a:t>
            </a:r>
            <a:r>
              <a:rPr lang="en-ZA" dirty="0"/>
              <a:t>], [</a:t>
            </a:r>
            <a:r>
              <a:rPr lang="en-ZA" dirty="0" err="1"/>
              <a:t>OrderAmt</a:t>
            </a:r>
            <a:r>
              <a:rPr lang="en-ZA" dirty="0"/>
              <a:t>]) VALUES (@</a:t>
            </a:r>
            <a:r>
              <a:rPr lang="en-ZA" dirty="0" err="1"/>
              <a:t>OrderDate</a:t>
            </a:r>
            <a:r>
              <a:rPr lang="en-ZA" dirty="0"/>
              <a:t>, @</a:t>
            </a:r>
            <a:r>
              <a:rPr lang="en-ZA" dirty="0" err="1"/>
              <a:t>OrderAmt</a:t>
            </a:r>
            <a:r>
              <a:rPr lang="en-ZA" b="1" dirty="0"/>
              <a:t>);</a:t>
            </a:r>
          </a:p>
          <a:p>
            <a:r>
              <a:rPr lang="en-ZA" dirty="0"/>
              <a:t>SELECT </a:t>
            </a:r>
            <a:r>
              <a:rPr lang="en-ZA" dirty="0" err="1"/>
              <a:t>OrderNo</a:t>
            </a:r>
            <a:r>
              <a:rPr lang="en-ZA" dirty="0"/>
              <a:t>, </a:t>
            </a:r>
            <a:r>
              <a:rPr lang="en-ZA" dirty="0" err="1"/>
              <a:t>OrderDate</a:t>
            </a:r>
            <a:r>
              <a:rPr lang="en-ZA" dirty="0"/>
              <a:t>, </a:t>
            </a:r>
            <a:r>
              <a:rPr lang="en-ZA" dirty="0" err="1"/>
              <a:t>OrderAmt</a:t>
            </a:r>
            <a:r>
              <a:rPr lang="en-ZA" dirty="0"/>
              <a:t> FROM </a:t>
            </a:r>
            <a:r>
              <a:rPr lang="en-ZA" dirty="0" err="1"/>
              <a:t>BookOrder</a:t>
            </a:r>
            <a:r>
              <a:rPr lang="en-ZA" dirty="0"/>
              <a:t> WHERE (</a:t>
            </a:r>
            <a:r>
              <a:rPr lang="en-ZA" dirty="0" err="1"/>
              <a:t>OrderNo</a:t>
            </a:r>
            <a:r>
              <a:rPr lang="en-ZA" dirty="0"/>
              <a:t> = </a:t>
            </a:r>
            <a:r>
              <a:rPr lang="en-ZA" b="1" dirty="0"/>
              <a:t>SCOPE_IDENTITY()</a:t>
            </a:r>
            <a:r>
              <a:rPr lang="en-ZA" dirty="0"/>
              <a:t>)</a:t>
            </a:r>
          </a:p>
        </p:txBody>
      </p:sp>
      <p:grpSp>
        <p:nvGrpSpPr>
          <p:cNvPr id="8" name="Group 7">
            <a:extLst>
              <a:ext uri="{FF2B5EF4-FFF2-40B4-BE49-F238E27FC236}">
                <a16:creationId xmlns:a16="http://schemas.microsoft.com/office/drawing/2014/main" id="{725410B6-A750-4CDB-AB42-1DE7C04F12B0}"/>
              </a:ext>
            </a:extLst>
          </p:cNvPr>
          <p:cNvGrpSpPr/>
          <p:nvPr/>
        </p:nvGrpSpPr>
        <p:grpSpPr>
          <a:xfrm>
            <a:off x="3164541" y="0"/>
            <a:ext cx="9027459" cy="2474259"/>
            <a:chOff x="3164541" y="0"/>
            <a:chExt cx="9027459" cy="2474259"/>
          </a:xfrm>
        </p:grpSpPr>
        <p:pic>
          <p:nvPicPr>
            <p:cNvPr id="5" name="Picture 4">
              <a:extLst>
                <a:ext uri="{FF2B5EF4-FFF2-40B4-BE49-F238E27FC236}">
                  <a16:creationId xmlns:a16="http://schemas.microsoft.com/office/drawing/2014/main" id="{5F06BEB3-40AF-47CA-87FD-E251FF83FB98}"/>
                </a:ext>
              </a:extLst>
            </p:cNvPr>
            <p:cNvPicPr>
              <a:picLocks noChangeAspect="1"/>
            </p:cNvPicPr>
            <p:nvPr/>
          </p:nvPicPr>
          <p:blipFill>
            <a:blip r:embed="rId2"/>
            <a:stretch>
              <a:fillRect/>
            </a:stretch>
          </p:blipFill>
          <p:spPr>
            <a:xfrm>
              <a:off x="10623176" y="0"/>
              <a:ext cx="1568824" cy="1331979"/>
            </a:xfrm>
            <a:prstGeom prst="rect">
              <a:avLst/>
            </a:prstGeom>
          </p:spPr>
        </p:pic>
        <p:cxnSp>
          <p:nvCxnSpPr>
            <p:cNvPr id="7" name="Straight Arrow Connector 6">
              <a:extLst>
                <a:ext uri="{FF2B5EF4-FFF2-40B4-BE49-F238E27FC236}">
                  <a16:creationId xmlns:a16="http://schemas.microsoft.com/office/drawing/2014/main" id="{50CC994D-EE32-468C-9F24-08B1D04C384E}"/>
                </a:ext>
              </a:extLst>
            </p:cNvPr>
            <p:cNvCxnSpPr/>
            <p:nvPr/>
          </p:nvCxnSpPr>
          <p:spPr>
            <a:xfrm flipV="1">
              <a:off x="3164541" y="806824"/>
              <a:ext cx="7458635" cy="1667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6771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830997"/>
          </a:xfrm>
        </p:spPr>
        <p:txBody>
          <a:bodyPr/>
          <a:lstStyle/>
          <a:p>
            <a:r>
              <a:rPr lang="en-ZA" b="1" dirty="0">
                <a:solidFill>
                  <a:srgbClr val="C00000"/>
                </a:solidFill>
              </a:rPr>
              <a:t>On the </a:t>
            </a:r>
            <a:r>
              <a:rPr lang="en-ZA" b="1" dirty="0" err="1">
                <a:solidFill>
                  <a:srgbClr val="C00000"/>
                </a:solidFill>
              </a:rPr>
              <a:t>InsertQuery</a:t>
            </a:r>
            <a:r>
              <a:rPr lang="en-ZA" b="1" dirty="0">
                <a:solidFill>
                  <a:srgbClr val="C00000"/>
                </a:solidFill>
              </a:rPr>
              <a:t> of the Order Table Adapter you have to make a few changes:</a:t>
            </a:r>
          </a:p>
          <a:p>
            <a:pPr lvl="1"/>
            <a:r>
              <a:rPr lang="en-ZA" b="1" dirty="0">
                <a:solidFill>
                  <a:srgbClr val="C00000"/>
                </a:solidFill>
              </a:rPr>
              <a:t>Change the Execute mode to Scalar</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Configuration</a:t>
            </a:r>
          </a:p>
        </p:txBody>
      </p:sp>
      <p:grpSp>
        <p:nvGrpSpPr>
          <p:cNvPr id="7" name="Group 6">
            <a:extLst>
              <a:ext uri="{FF2B5EF4-FFF2-40B4-BE49-F238E27FC236}">
                <a16:creationId xmlns:a16="http://schemas.microsoft.com/office/drawing/2014/main" id="{F6AED271-41CF-4DAF-B760-B024FDA59932}"/>
              </a:ext>
            </a:extLst>
          </p:cNvPr>
          <p:cNvGrpSpPr/>
          <p:nvPr/>
        </p:nvGrpSpPr>
        <p:grpSpPr>
          <a:xfrm>
            <a:off x="1317812" y="1833584"/>
            <a:ext cx="6627442" cy="3190831"/>
            <a:chOff x="1317812" y="1833584"/>
            <a:chExt cx="6627442" cy="3190831"/>
          </a:xfrm>
        </p:grpSpPr>
        <p:pic>
          <p:nvPicPr>
            <p:cNvPr id="4" name="Picture 3">
              <a:extLst>
                <a:ext uri="{FF2B5EF4-FFF2-40B4-BE49-F238E27FC236}">
                  <a16:creationId xmlns:a16="http://schemas.microsoft.com/office/drawing/2014/main" id="{0818C39E-6D3B-497B-9805-436B60419A8D}"/>
                </a:ext>
              </a:extLst>
            </p:cNvPr>
            <p:cNvPicPr>
              <a:picLocks noChangeAspect="1"/>
            </p:cNvPicPr>
            <p:nvPr/>
          </p:nvPicPr>
          <p:blipFill>
            <a:blip r:embed="rId2"/>
            <a:stretch>
              <a:fillRect/>
            </a:stretch>
          </p:blipFill>
          <p:spPr>
            <a:xfrm>
              <a:off x="1317812" y="1833584"/>
              <a:ext cx="6627442" cy="3190831"/>
            </a:xfrm>
            <a:prstGeom prst="rect">
              <a:avLst/>
            </a:prstGeom>
          </p:spPr>
        </p:pic>
        <p:cxnSp>
          <p:nvCxnSpPr>
            <p:cNvPr id="6" name="Straight Arrow Connector 5">
              <a:extLst>
                <a:ext uri="{FF2B5EF4-FFF2-40B4-BE49-F238E27FC236}">
                  <a16:creationId xmlns:a16="http://schemas.microsoft.com/office/drawing/2014/main" id="{0A1A3091-2487-4D51-BDFF-5D8EE263BEFD}"/>
                </a:ext>
              </a:extLst>
            </p:cNvPr>
            <p:cNvCxnSpPr/>
            <p:nvPr/>
          </p:nvCxnSpPr>
          <p:spPr>
            <a:xfrm>
              <a:off x="3576918" y="2814918"/>
              <a:ext cx="3200400" cy="1721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 name="Text Placeholder 1">
            <a:extLst>
              <a:ext uri="{FF2B5EF4-FFF2-40B4-BE49-F238E27FC236}">
                <a16:creationId xmlns:a16="http://schemas.microsoft.com/office/drawing/2014/main" id="{B2724434-2EF1-40F5-88C0-2F1BBB03F79A}"/>
              </a:ext>
            </a:extLst>
          </p:cNvPr>
          <p:cNvSpPr txBox="1">
            <a:spLocks/>
          </p:cNvSpPr>
          <p:nvPr/>
        </p:nvSpPr>
        <p:spPr>
          <a:xfrm>
            <a:off x="470647" y="5393628"/>
            <a:ext cx="11250706" cy="830997"/>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solidFill>
                  <a:srgbClr val="C00000"/>
                </a:solidFill>
              </a:rPr>
              <a:t>This will ensure that the </a:t>
            </a:r>
            <a:r>
              <a:rPr lang="en-ZA" b="1" dirty="0" err="1">
                <a:solidFill>
                  <a:srgbClr val="C00000"/>
                </a:solidFill>
              </a:rPr>
              <a:t>Scope_Identity</a:t>
            </a:r>
            <a:r>
              <a:rPr lang="en-ZA" b="1" dirty="0">
                <a:solidFill>
                  <a:srgbClr val="C00000"/>
                </a:solidFill>
              </a:rPr>
              <a:t> () function kicks in and returns the PK of the newly inserted record; in the code, you will need to cast (convert) this value to an integer</a:t>
            </a:r>
          </a:p>
        </p:txBody>
      </p:sp>
    </p:spTree>
    <p:extLst>
      <p:ext uri="{BB962C8B-B14F-4D97-AF65-F5344CB8AC3E}">
        <p14:creationId xmlns:p14="http://schemas.microsoft.com/office/powerpoint/2010/main" val="370454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4948516"/>
          </a:xfrm>
        </p:spPr>
        <p:txBody>
          <a:bodyPr/>
          <a:lstStyle/>
          <a:p>
            <a:r>
              <a:rPr lang="en-ZA" b="1" dirty="0">
                <a:solidFill>
                  <a:srgbClr val="C00000"/>
                </a:solidFill>
              </a:rPr>
              <a:t>The logic goes like this:</a:t>
            </a:r>
          </a:p>
          <a:p>
            <a:pPr lvl="1"/>
            <a:r>
              <a:rPr lang="en-ZA" b="1" dirty="0">
                <a:solidFill>
                  <a:srgbClr val="C00000"/>
                </a:solidFill>
              </a:rPr>
              <a:t>The Sale Order consists of many books</a:t>
            </a:r>
          </a:p>
          <a:p>
            <a:pPr lvl="1"/>
            <a:r>
              <a:rPr lang="en-ZA" b="1" dirty="0">
                <a:solidFill>
                  <a:srgbClr val="C00000"/>
                </a:solidFill>
              </a:rPr>
              <a:t>First Record the Overall Order</a:t>
            </a:r>
          </a:p>
          <a:p>
            <a:pPr lvl="1"/>
            <a:r>
              <a:rPr lang="en-ZA" b="1" dirty="0">
                <a:solidFill>
                  <a:srgbClr val="C00000"/>
                </a:solidFill>
              </a:rPr>
              <a:t>Return the PK of the newly Recorded/inserted order from the </a:t>
            </a:r>
            <a:r>
              <a:rPr lang="en-ZA" b="1" dirty="0" err="1">
                <a:solidFill>
                  <a:srgbClr val="C00000"/>
                </a:solidFill>
              </a:rPr>
              <a:t>BookOrder</a:t>
            </a:r>
            <a:r>
              <a:rPr lang="en-ZA" b="1" dirty="0">
                <a:solidFill>
                  <a:srgbClr val="C00000"/>
                </a:solidFill>
              </a:rPr>
              <a:t> table</a:t>
            </a:r>
          </a:p>
          <a:p>
            <a:pPr lvl="1"/>
            <a:r>
              <a:rPr lang="en-ZA" b="1" dirty="0">
                <a:solidFill>
                  <a:srgbClr val="C00000"/>
                </a:solidFill>
              </a:rPr>
              <a:t>Use this PK to record the details of all the books that formed part of the </a:t>
            </a:r>
            <a:r>
              <a:rPr lang="en-ZA" b="1" dirty="0" err="1">
                <a:solidFill>
                  <a:srgbClr val="C00000"/>
                </a:solidFill>
              </a:rPr>
              <a:t>BookOrder</a:t>
            </a:r>
            <a:r>
              <a:rPr lang="en-ZA" b="1" dirty="0">
                <a:solidFill>
                  <a:srgbClr val="C00000"/>
                </a:solidFill>
              </a:rPr>
              <a:t>; these details are recorded in the </a:t>
            </a:r>
            <a:r>
              <a:rPr lang="en-ZA" b="1" dirty="0" err="1">
                <a:solidFill>
                  <a:srgbClr val="C00000"/>
                </a:solidFill>
              </a:rPr>
              <a:t>BookOrderDetails</a:t>
            </a:r>
            <a:r>
              <a:rPr lang="en-ZA" b="1" dirty="0">
                <a:solidFill>
                  <a:srgbClr val="C00000"/>
                </a:solidFill>
              </a:rPr>
              <a:t> table; the PK for each row is a composite PK consisting of a combination of the PK of the overall Order and </a:t>
            </a:r>
            <a:r>
              <a:rPr lang="en-ZA" b="1" dirty="0" err="1">
                <a:solidFill>
                  <a:srgbClr val="C00000"/>
                </a:solidFill>
              </a:rPr>
              <a:t>BookNo</a:t>
            </a:r>
            <a:r>
              <a:rPr lang="en-ZA" b="1" dirty="0">
                <a:solidFill>
                  <a:srgbClr val="C00000"/>
                </a:solidFill>
              </a:rPr>
              <a:t> of each book that is part of the Order</a:t>
            </a:r>
          </a:p>
          <a:p>
            <a:pPr lvl="1"/>
            <a:r>
              <a:rPr lang="en-ZA" b="1" dirty="0">
                <a:solidFill>
                  <a:srgbClr val="C00000"/>
                </a:solidFill>
              </a:rPr>
              <a:t>Since there is usually more than one book in the Order, the recording of each book is done via a looping structure (such as a for loop)</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Code to Record the Details - Explanation</a:t>
            </a:r>
          </a:p>
        </p:txBody>
      </p:sp>
    </p:spTree>
    <p:extLst>
      <p:ext uri="{BB962C8B-B14F-4D97-AF65-F5344CB8AC3E}">
        <p14:creationId xmlns:p14="http://schemas.microsoft.com/office/powerpoint/2010/main" val="3567074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553685"/>
          </a:xfrm>
        </p:spPr>
        <p:txBody>
          <a:bodyPr/>
          <a:lstStyle/>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50346"/>
          </a:xfrm>
          <a:solidFill>
            <a:schemeClr val="accent2">
              <a:lumMod val="10000"/>
              <a:lumOff val="90000"/>
            </a:schemeClr>
          </a:solidFill>
        </p:spPr>
        <p:txBody>
          <a:bodyPr/>
          <a:lstStyle/>
          <a:p>
            <a:pPr algn="ctr"/>
            <a:r>
              <a:rPr lang="en-ZA" sz="2000" b="1" u="sng" dirty="0"/>
              <a:t>The Code to Record a Sale and return the PK of the New Sale/Order record</a:t>
            </a:r>
            <a:br>
              <a:rPr lang="en-ZA" sz="2000" b="1" u="sng" dirty="0"/>
            </a:br>
            <a:r>
              <a:rPr lang="en-ZA" sz="2000" b="1" u="sng" dirty="0"/>
              <a:t>…and a for loop to record the Inner Detail of the Order</a:t>
            </a:r>
          </a:p>
        </p:txBody>
      </p:sp>
      <p:sp>
        <p:nvSpPr>
          <p:cNvPr id="4" name="Rectangle 3">
            <a:extLst>
              <a:ext uri="{FF2B5EF4-FFF2-40B4-BE49-F238E27FC236}">
                <a16:creationId xmlns:a16="http://schemas.microsoft.com/office/drawing/2014/main" id="{6B41DFB4-BEDB-44B3-8BE7-B17C228E9135}"/>
              </a:ext>
            </a:extLst>
          </p:cNvPr>
          <p:cNvSpPr/>
          <p:nvPr/>
        </p:nvSpPr>
        <p:spPr>
          <a:xfrm>
            <a:off x="0" y="899518"/>
            <a:ext cx="12122870" cy="4801314"/>
          </a:xfrm>
          <a:prstGeom prst="rect">
            <a:avLst/>
          </a:prstGeom>
          <a:solidFill>
            <a:schemeClr val="accent6">
              <a:lumMod val="40000"/>
              <a:lumOff val="60000"/>
            </a:schemeClr>
          </a:solidFill>
        </p:spPr>
        <p:txBody>
          <a:bodyPr wrap="square">
            <a:spAutoFit/>
          </a:bodyPr>
          <a:lstStyle/>
          <a:p>
            <a:r>
              <a:rPr lang="en-US" dirty="0">
                <a:solidFill>
                  <a:srgbClr val="0000FF"/>
                </a:solidFill>
                <a:highlight>
                  <a:srgbClr val="FFFFFF"/>
                </a:highlight>
                <a:latin typeface="Cascadia Mono" panose="020B0609020000020004" pitchFamily="49" charset="0"/>
              </a:rPr>
              <a:t>private</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void</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btnRecordSale_Click</a:t>
            </a:r>
            <a:r>
              <a:rPr lang="en-US" dirty="0">
                <a:solidFill>
                  <a:srgbClr val="000000"/>
                </a:solidFill>
                <a:highlight>
                  <a:srgbClr val="FFFFFF"/>
                </a:highlight>
                <a:latin typeface="Cascadia Mono" panose="020B0609020000020004" pitchFamily="49" charset="0"/>
              </a:rPr>
              <a:t>(</a:t>
            </a:r>
            <a:r>
              <a:rPr lang="en-US" dirty="0">
                <a:solidFill>
                  <a:srgbClr val="0000FF"/>
                </a:solidFill>
                <a:highlight>
                  <a:srgbClr val="FFFFFF"/>
                </a:highlight>
                <a:latin typeface="Cascadia Mono" panose="020B0609020000020004" pitchFamily="49" charset="0"/>
              </a:rPr>
              <a:t>object</a:t>
            </a:r>
            <a:r>
              <a:rPr lang="en-US" dirty="0">
                <a:solidFill>
                  <a:srgbClr val="000000"/>
                </a:solidFill>
                <a:highlight>
                  <a:srgbClr val="FFFFFF"/>
                </a:highlight>
                <a:latin typeface="Cascadia Mono" panose="020B0609020000020004" pitchFamily="49" charset="0"/>
              </a:rPr>
              <a:t> sender, </a:t>
            </a:r>
            <a:r>
              <a:rPr lang="en-US" dirty="0" err="1">
                <a:solidFill>
                  <a:srgbClr val="2B91AF"/>
                </a:solidFill>
                <a:highlight>
                  <a:srgbClr val="FFFFFF"/>
                </a:highlight>
                <a:latin typeface="Cascadia Mono" panose="020B0609020000020004" pitchFamily="49" charset="0"/>
              </a:rPr>
              <a:t>EventArgs</a:t>
            </a:r>
            <a:r>
              <a:rPr lang="en-US"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int</a:t>
            </a:r>
            <a:r>
              <a:rPr lang="en-ZA" dirty="0">
                <a:solidFill>
                  <a:srgbClr val="000000"/>
                </a:solidFill>
                <a:highlight>
                  <a:srgbClr val="FFFFFF"/>
                </a:highlight>
                <a:latin typeface="Cascadia Mono" panose="020B0609020000020004" pitchFamily="49" charset="0"/>
              </a:rPr>
              <a:t> pk;</a:t>
            </a:r>
          </a:p>
          <a:p>
            <a:r>
              <a:rPr lang="en-ZA"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DialogResult</a:t>
            </a:r>
            <a:r>
              <a:rPr lang="en-ZA" sz="1400" dirty="0">
                <a:solidFill>
                  <a:srgbClr val="000000"/>
                </a:solidFill>
                <a:highlight>
                  <a:srgbClr val="FFFFFF"/>
                </a:highlight>
                <a:latin typeface="Cascadia Mono" panose="020B0609020000020004" pitchFamily="49" charset="0"/>
              </a:rPr>
              <a:t> result = </a:t>
            </a:r>
            <a:r>
              <a:rPr lang="en-ZA" sz="1400" dirty="0" err="1">
                <a:solidFill>
                  <a:srgbClr val="2B91AF"/>
                </a:solidFill>
                <a:highlight>
                  <a:srgbClr val="FFFFFF"/>
                </a:highlight>
                <a:latin typeface="Cascadia Mono" panose="020B0609020000020004" pitchFamily="49" charset="0"/>
              </a:rPr>
              <a:t>MessageBox</a:t>
            </a:r>
            <a:r>
              <a:rPr lang="en-ZA" sz="1400" dirty="0" err="1">
                <a:solidFill>
                  <a:srgbClr val="000000"/>
                </a:solidFill>
                <a:highlight>
                  <a:srgbClr val="FFFFFF"/>
                </a:highlight>
                <a:latin typeface="Cascadia Mono" panose="020B0609020000020004" pitchFamily="49" charset="0"/>
              </a:rPr>
              <a:t>.Show</a:t>
            </a:r>
            <a:r>
              <a:rPr lang="en-ZA" sz="1400" dirty="0">
                <a:solidFill>
                  <a:srgbClr val="000000"/>
                </a:solidFill>
                <a:highlight>
                  <a:srgbClr val="FFFFFF"/>
                </a:highlight>
                <a:latin typeface="Cascadia Mono" panose="020B0609020000020004" pitchFamily="49" charset="0"/>
              </a:rPr>
              <a:t>(</a:t>
            </a:r>
            <a:r>
              <a:rPr lang="en-ZA" sz="1400" dirty="0">
                <a:solidFill>
                  <a:srgbClr val="A31515"/>
                </a:solidFill>
                <a:highlight>
                  <a:srgbClr val="FFFFFF"/>
                </a:highlight>
                <a:latin typeface="Cascadia Mono" panose="020B0609020000020004" pitchFamily="49" charset="0"/>
              </a:rPr>
              <a:t>"Do you want to Confirm?"</a:t>
            </a:r>
            <a:r>
              <a:rPr lang="en-ZA" sz="1400" dirty="0">
                <a:solidFill>
                  <a:srgbClr val="000000"/>
                </a:solidFill>
                <a:highlight>
                  <a:srgbClr val="FFFFFF"/>
                </a:highlight>
                <a:latin typeface="Cascadia Mono" panose="020B0609020000020004" pitchFamily="49" charset="0"/>
              </a:rPr>
              <a:t>, </a:t>
            </a:r>
            <a:r>
              <a:rPr lang="en-ZA" sz="1400" dirty="0">
                <a:solidFill>
                  <a:srgbClr val="A31515"/>
                </a:solidFill>
                <a:highlight>
                  <a:srgbClr val="FFFFFF"/>
                </a:highlight>
                <a:latin typeface="Cascadia Mono" panose="020B0609020000020004" pitchFamily="49" charset="0"/>
              </a:rPr>
              <a:t>"Confirmation"</a:t>
            </a:r>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MessageBoxButtons</a:t>
            </a:r>
            <a:r>
              <a:rPr lang="en-ZA" sz="1400" dirty="0" err="1">
                <a:solidFill>
                  <a:srgbClr val="000000"/>
                </a:solidFill>
                <a:highlight>
                  <a:srgbClr val="FFFFFF"/>
                </a:highlight>
                <a:latin typeface="Cascadia Mono" panose="020B0609020000020004" pitchFamily="49" charset="0"/>
              </a:rPr>
              <a:t>.YesNoCancel</a:t>
            </a:r>
            <a:r>
              <a:rPr lang="en-ZA" sz="1400" dirty="0">
                <a:solidFill>
                  <a:srgbClr val="000000"/>
                </a:solidFill>
                <a:highlight>
                  <a:srgbClr val="FFFFFF"/>
                </a:highlight>
                <a:latin typeface="Cascadia Mono" panose="020B0609020000020004" pitchFamily="49" charset="0"/>
              </a:rPr>
              <a:t>);</a:t>
            </a:r>
            <a:endParaRPr lang="en-ZA" dirty="0">
              <a:solidFill>
                <a:srgbClr val="000000"/>
              </a:solidFill>
              <a:highlight>
                <a:srgbClr val="FFFFFF"/>
              </a:highlight>
              <a:latin typeface="Cascadia Mono" panose="020B0609020000020004" pitchFamily="49" charset="0"/>
            </a:endParaRPr>
          </a:p>
          <a:p>
            <a:r>
              <a:rPr lang="en-ZA" dirty="0">
                <a:solidFill>
                  <a:srgbClr val="000000"/>
                </a:solidFill>
                <a:highlight>
                  <a:srgbClr val="FFFFFF"/>
                </a:highlight>
                <a:latin typeface="Cascadia Mono" panose="020B0609020000020004" pitchFamily="49" charset="0"/>
              </a:rPr>
              <a:t> i</a:t>
            </a:r>
            <a:r>
              <a:rPr lang="en-ZA" dirty="0">
                <a:solidFill>
                  <a:srgbClr val="0000FF"/>
                </a:solidFill>
                <a:highlight>
                  <a:srgbClr val="FFFFFF"/>
                </a:highlight>
                <a:latin typeface="Cascadia Mono" panose="020B0609020000020004" pitchFamily="49" charset="0"/>
              </a:rPr>
              <a:t>f</a:t>
            </a:r>
            <a:r>
              <a:rPr lang="en-ZA" dirty="0">
                <a:solidFill>
                  <a:srgbClr val="000000"/>
                </a:solidFill>
                <a:highlight>
                  <a:srgbClr val="FFFFFF"/>
                </a:highlight>
                <a:latin typeface="Cascadia Mono" panose="020B0609020000020004" pitchFamily="49" charset="0"/>
              </a:rPr>
              <a:t> (result == </a:t>
            </a:r>
            <a:r>
              <a:rPr lang="en-ZA" dirty="0" err="1">
                <a:solidFill>
                  <a:srgbClr val="2B91AF"/>
                </a:solidFill>
                <a:highlight>
                  <a:srgbClr val="FFFFFF"/>
                </a:highlight>
                <a:latin typeface="Cascadia Mono" panose="020B0609020000020004" pitchFamily="49" charset="0"/>
              </a:rPr>
              <a:t>DialogResult</a:t>
            </a:r>
            <a:r>
              <a:rPr lang="en-ZA" dirty="0" err="1">
                <a:solidFill>
                  <a:srgbClr val="000000"/>
                </a:solidFill>
                <a:highlight>
                  <a:srgbClr val="FFFFFF"/>
                </a:highlight>
                <a:latin typeface="Cascadia Mono" panose="020B0609020000020004" pitchFamily="49" charset="0"/>
              </a:rPr>
              <a:t>.Yes</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a:t>
            </a:r>
            <a:r>
              <a:rPr lang="en-ZA" sz="1400" dirty="0">
                <a:solidFill>
                  <a:srgbClr val="000000"/>
                </a:solidFill>
                <a:highlight>
                  <a:srgbClr val="FFFFFF"/>
                </a:highlight>
                <a:latin typeface="Cascadia Mono" panose="020B0609020000020004" pitchFamily="49" charset="0"/>
              </a:rPr>
              <a:t>pk = (</a:t>
            </a:r>
            <a:r>
              <a:rPr lang="en-ZA" sz="1400" dirty="0">
                <a:solidFill>
                  <a:srgbClr val="0000FF"/>
                </a:solidFill>
                <a:highlight>
                  <a:srgbClr val="FFFFFF"/>
                </a:highlight>
                <a:latin typeface="Cascadia Mono" panose="020B0609020000020004" pitchFamily="49" charset="0"/>
              </a:rPr>
              <a:t>int</a:t>
            </a:r>
            <a:r>
              <a:rPr lang="en-ZA" sz="1400" dirty="0">
                <a:solidFill>
                  <a:srgbClr val="000000"/>
                </a:solidFill>
                <a:highlight>
                  <a:srgbClr val="FFFFFF"/>
                </a:highlight>
                <a:latin typeface="Cascadia Mono" panose="020B0609020000020004" pitchFamily="49" charset="0"/>
              </a:rPr>
              <a:t>)taBookOrder1.InsertQueryPK(</a:t>
            </a:r>
            <a:r>
              <a:rPr lang="en-ZA" sz="1400" dirty="0" err="1">
                <a:solidFill>
                  <a:srgbClr val="2B91AF"/>
                </a:solidFill>
                <a:highlight>
                  <a:srgbClr val="FFFFFF"/>
                </a:highlight>
                <a:latin typeface="Cascadia Mono" panose="020B0609020000020004" pitchFamily="49" charset="0"/>
              </a:rPr>
              <a:t>DateTime</a:t>
            </a:r>
            <a:r>
              <a:rPr lang="en-ZA" sz="1400" dirty="0" err="1">
                <a:solidFill>
                  <a:srgbClr val="000000"/>
                </a:solidFill>
                <a:highlight>
                  <a:srgbClr val="FFFFFF"/>
                </a:highlight>
                <a:latin typeface="Cascadia Mono" panose="020B0609020000020004" pitchFamily="49" charset="0"/>
              </a:rPr>
              <a:t>.Now</a:t>
            </a:r>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Decimal</a:t>
            </a:r>
            <a:r>
              <a:rPr lang="en-ZA" sz="1400" dirty="0" err="1">
                <a:solidFill>
                  <a:srgbClr val="000000"/>
                </a:solidFill>
                <a:highlight>
                  <a:srgbClr val="FFFFFF"/>
                </a:highlight>
                <a:latin typeface="Cascadia Mono" panose="020B0609020000020004" pitchFamily="49" charset="0"/>
              </a:rPr>
              <a:t>.Parse</a:t>
            </a:r>
            <a:r>
              <a:rPr lang="en-ZA" sz="1400" dirty="0">
                <a:solidFill>
                  <a:srgbClr val="000000"/>
                </a:solidFill>
                <a:highlight>
                  <a:srgbClr val="FFFFFF"/>
                </a:highlight>
                <a:latin typeface="Cascadia Mono" panose="020B0609020000020004" pitchFamily="49" charset="0"/>
              </a:rPr>
              <a:t>(</a:t>
            </a:r>
            <a:r>
              <a:rPr lang="en-ZA" sz="1400" dirty="0" err="1">
                <a:solidFill>
                  <a:srgbClr val="000000"/>
                </a:solidFill>
                <a:highlight>
                  <a:srgbClr val="FFFFFF"/>
                </a:highlight>
                <a:latin typeface="Cascadia Mono" panose="020B0609020000020004" pitchFamily="49" charset="0"/>
              </a:rPr>
              <a:t>txtAmtOwing.Text</a:t>
            </a:r>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NumberStyles</a:t>
            </a:r>
            <a:r>
              <a:rPr lang="en-ZA" sz="1400" dirty="0" err="1">
                <a:solidFill>
                  <a:srgbClr val="000000"/>
                </a:solidFill>
                <a:highlight>
                  <a:srgbClr val="FFFFFF"/>
                </a:highlight>
                <a:latin typeface="Cascadia Mono" panose="020B0609020000020004" pitchFamily="49" charset="0"/>
              </a:rPr>
              <a:t>.Currency</a:t>
            </a:r>
            <a:r>
              <a:rPr lang="en-ZA" sz="1400" dirty="0">
                <a:solidFill>
                  <a:srgbClr val="000000"/>
                </a:solidFill>
                <a:highlight>
                  <a:srgbClr val="FFFFFF"/>
                </a:highlight>
                <a:latin typeface="Cascadia Mono" panose="020B0609020000020004" pitchFamily="49" charset="0"/>
              </a:rPr>
              <a:t>));</a:t>
            </a:r>
          </a:p>
          <a:p>
            <a:r>
              <a:rPr lang="en-US"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MessageBox</a:t>
            </a:r>
            <a:r>
              <a:rPr lang="en-US" sz="1200" dirty="0" err="1">
                <a:solidFill>
                  <a:srgbClr val="000000"/>
                </a:solidFill>
                <a:highlight>
                  <a:srgbClr val="FFFFFF"/>
                </a:highlight>
                <a:latin typeface="Cascadia Mono" panose="020B0609020000020004" pitchFamily="49" charset="0"/>
              </a:rPr>
              <a:t>.Show</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"The Order for a Total Amount of "</a:t>
            </a:r>
            <a:r>
              <a:rPr lang="en-US" sz="1200" dirty="0">
                <a:solidFill>
                  <a:srgbClr val="000000"/>
                </a:solidFill>
                <a:highlight>
                  <a:srgbClr val="FFFFFF"/>
                </a:highlight>
                <a:latin typeface="Cascadia Mono" panose="020B0609020000020004" pitchFamily="49" charset="0"/>
              </a:rPr>
              <a:t> + </a:t>
            </a:r>
            <a:r>
              <a:rPr lang="en-US" sz="1200" dirty="0" err="1">
                <a:solidFill>
                  <a:srgbClr val="000000"/>
                </a:solidFill>
                <a:highlight>
                  <a:srgbClr val="FFFFFF"/>
                </a:highlight>
                <a:latin typeface="Cascadia Mono" panose="020B0609020000020004" pitchFamily="49" charset="0"/>
              </a:rPr>
              <a:t>txtAmtOwing.Text</a:t>
            </a:r>
            <a:r>
              <a:rPr lang="en-US" sz="1200" dirty="0">
                <a:solidFill>
                  <a:srgbClr val="000000"/>
                </a:solidFill>
                <a:highlight>
                  <a:srgbClr val="FFFFFF"/>
                </a:highlight>
                <a:latin typeface="Cascadia Mono" panose="020B0609020000020004" pitchFamily="49" charset="0"/>
              </a:rPr>
              <a:t> + </a:t>
            </a:r>
            <a:r>
              <a:rPr lang="en-US" sz="1200" dirty="0">
                <a:solidFill>
                  <a:srgbClr val="A31515"/>
                </a:solidFill>
                <a:highlight>
                  <a:srgbClr val="FFFFFF"/>
                </a:highlight>
                <a:latin typeface="Cascadia Mono" panose="020B0609020000020004" pitchFamily="49" charset="0"/>
              </a:rPr>
              <a:t>"has been Confirmed and the PK is "</a:t>
            </a:r>
            <a:r>
              <a:rPr lang="en-US" sz="1200" dirty="0">
                <a:solidFill>
                  <a:srgbClr val="000000"/>
                </a:solidFill>
                <a:highlight>
                  <a:srgbClr val="FFFFFF"/>
                </a:highlight>
                <a:latin typeface="Cascadia Mono" panose="020B0609020000020004" pitchFamily="49" charset="0"/>
              </a:rPr>
              <a:t> + pk);</a:t>
            </a:r>
            <a:endParaRPr lang="en-US" dirty="0">
              <a:solidFill>
                <a:srgbClr val="000000"/>
              </a:solidFill>
              <a:highlight>
                <a:srgbClr val="FFFFFF"/>
              </a:highlight>
              <a:latin typeface="Cascadia Mono" panose="020B0609020000020004" pitchFamily="49" charset="0"/>
            </a:endParaRPr>
          </a:p>
          <a:p>
            <a:r>
              <a:rPr lang="en-US" dirty="0">
                <a:solidFill>
                  <a:srgbClr val="000000"/>
                </a:solidFill>
                <a:highlight>
                  <a:srgbClr val="FFFFFF"/>
                </a:highlight>
                <a:latin typeface="Cascadia Mono" panose="020B0609020000020004" pitchFamily="49" charset="0"/>
              </a:rPr>
              <a:t>   taBookOrder1.Fill(dsBookApp1.BookOrder); </a:t>
            </a:r>
            <a:r>
              <a:rPr lang="en-US" sz="1050" dirty="0">
                <a:solidFill>
                  <a:srgbClr val="008000"/>
                </a:solidFill>
                <a:highlight>
                  <a:srgbClr val="FFFFFF"/>
                </a:highlight>
                <a:latin typeface="Cascadia Mono" panose="020B0609020000020004" pitchFamily="49" charset="0"/>
              </a:rPr>
              <a:t>//to fill the </a:t>
            </a:r>
            <a:r>
              <a:rPr lang="en-US" sz="1050" dirty="0" err="1">
                <a:solidFill>
                  <a:srgbClr val="008000"/>
                </a:solidFill>
                <a:highlight>
                  <a:srgbClr val="FFFFFF"/>
                </a:highlight>
                <a:latin typeface="Cascadia Mono" panose="020B0609020000020004" pitchFamily="49" charset="0"/>
              </a:rPr>
              <a:t>gridview</a:t>
            </a:r>
            <a:r>
              <a:rPr lang="en-US" sz="1050" dirty="0">
                <a:solidFill>
                  <a:srgbClr val="008000"/>
                </a:solidFill>
                <a:highlight>
                  <a:srgbClr val="FFFFFF"/>
                </a:highlight>
                <a:latin typeface="Cascadia Mono" panose="020B0609020000020004" pitchFamily="49" charset="0"/>
              </a:rPr>
              <a:t> with the newly recorded order so that it can be viewed</a:t>
            </a:r>
            <a:endParaRPr lang="en-US" dirty="0">
              <a:solidFill>
                <a:srgbClr val="008000"/>
              </a:solidFill>
              <a:highlight>
                <a:srgbClr val="FFFFFF"/>
              </a:highlight>
              <a:latin typeface="Cascadia Mono" panose="020B0609020000020004" pitchFamily="49" charset="0"/>
            </a:endParaRP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for</a:t>
            </a:r>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int</a:t>
            </a:r>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 = 0;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 &lt; </a:t>
            </a:r>
            <a:r>
              <a:rPr lang="en-ZA" dirty="0" err="1">
                <a:solidFill>
                  <a:srgbClr val="000000"/>
                </a:solidFill>
                <a:highlight>
                  <a:srgbClr val="FFFFFF"/>
                </a:highlight>
                <a:latin typeface="Cascadia Mono" panose="020B0609020000020004" pitchFamily="49" charset="0"/>
              </a:rPr>
              <a:t>dgvBookInvoice.Rows.Count</a:t>
            </a:r>
            <a:r>
              <a:rPr lang="en-ZA" dirty="0">
                <a:solidFill>
                  <a:srgbClr val="000000"/>
                </a:solidFill>
                <a:highlight>
                  <a:srgbClr val="FFFFFF"/>
                </a:highlight>
                <a:latin typeface="Cascadia Mono" panose="020B0609020000020004" pitchFamily="49" charset="0"/>
              </a:rPr>
              <a:t> - 1;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a:t>
            </a:r>
            <a:r>
              <a:rPr lang="en-US" dirty="0">
                <a:highlight>
                  <a:srgbClr val="FFFFFF"/>
                </a:highlight>
              </a:rPr>
              <a:t> //record the inner detail of the Order</a:t>
            </a:r>
            <a:endParaRPr lang="en-ZA" dirty="0">
              <a:solidFill>
                <a:srgbClr val="000000"/>
              </a:solidFill>
              <a:highlight>
                <a:srgbClr val="FFFFFF"/>
              </a:highlight>
              <a:latin typeface="Cascadia Mono" panose="020B0609020000020004" pitchFamily="49" charset="0"/>
            </a:endParaRP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string</a:t>
            </a:r>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bkID</a:t>
            </a:r>
            <a:r>
              <a:rPr lang="en-ZA" dirty="0">
                <a:solidFill>
                  <a:srgbClr val="000000"/>
                </a:solidFill>
                <a:highlight>
                  <a:srgbClr val="FFFFFF"/>
                </a:highlight>
                <a:latin typeface="Cascadia Mono" panose="020B0609020000020004" pitchFamily="49" charset="0"/>
              </a:rPr>
              <a:t> = </a:t>
            </a:r>
            <a:r>
              <a:rPr lang="en-ZA" dirty="0" err="1">
                <a:solidFill>
                  <a:srgbClr val="000000"/>
                </a:solidFill>
                <a:highlight>
                  <a:srgbClr val="FFFFFF"/>
                </a:highlight>
                <a:latin typeface="Cascadia Mono" panose="020B0609020000020004" pitchFamily="49" charset="0"/>
              </a:rPr>
              <a:t>dgvBookInvoice.Rows</a:t>
            </a:r>
            <a:r>
              <a:rPr lang="en-ZA" dirty="0">
                <a:solidFill>
                  <a:srgbClr val="000000"/>
                </a:solidFill>
                <a:highlight>
                  <a:srgbClr val="FFFFFF"/>
                </a:highlight>
                <a:latin typeface="Cascadia Mono" panose="020B0609020000020004" pitchFamily="49" charset="0"/>
              </a:rPr>
              <a:t>[</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].Cells[0].</a:t>
            </a:r>
            <a:r>
              <a:rPr lang="en-ZA" dirty="0" err="1">
                <a:solidFill>
                  <a:srgbClr val="000000"/>
                </a:solidFill>
                <a:highlight>
                  <a:srgbClr val="FFFFFF"/>
                </a:highlight>
                <a:latin typeface="Cascadia Mono" panose="020B0609020000020004" pitchFamily="49" charset="0"/>
              </a:rPr>
              <a:t>Value.ToString</a:t>
            </a:r>
            <a:r>
              <a:rPr lang="en-ZA" dirty="0">
                <a:solidFill>
                  <a:srgbClr val="000000"/>
                </a:solidFill>
                <a:highlight>
                  <a:srgbClr val="FFFFFF"/>
                </a:highlight>
                <a:latin typeface="Cascadia Mono" panose="020B0609020000020004" pitchFamily="49" charset="0"/>
              </a:rPr>
              <a:t>();</a:t>
            </a:r>
          </a:p>
          <a:p>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decimal</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bkPrice</a:t>
            </a:r>
            <a:r>
              <a:rPr lang="en-US" dirty="0">
                <a:solidFill>
                  <a:srgbClr val="000000"/>
                </a:solidFill>
                <a:highlight>
                  <a:srgbClr val="FFFFFF"/>
                </a:highlight>
                <a:latin typeface="Cascadia Mono" panose="020B0609020000020004" pitchFamily="49" charset="0"/>
              </a:rPr>
              <a:t> = (</a:t>
            </a:r>
            <a:r>
              <a:rPr lang="en-US" dirty="0">
                <a:solidFill>
                  <a:srgbClr val="0000FF"/>
                </a:solidFill>
                <a:highlight>
                  <a:srgbClr val="FFFFFF"/>
                </a:highlight>
                <a:latin typeface="Cascadia Mono" panose="020B0609020000020004" pitchFamily="49" charset="0"/>
              </a:rPr>
              <a:t>decimal</a:t>
            </a:r>
            <a:r>
              <a:rPr lang="en-US" dirty="0">
                <a:solidFill>
                  <a:srgbClr val="000000"/>
                </a:solidFill>
                <a:highlight>
                  <a:srgbClr val="FFFFFF"/>
                </a:highlight>
                <a:latin typeface="Cascadia Mono" panose="020B0609020000020004" pitchFamily="49" charset="0"/>
              </a:rPr>
              <a:t>)</a:t>
            </a:r>
            <a:r>
              <a:rPr lang="en-US" dirty="0" err="1">
                <a:solidFill>
                  <a:srgbClr val="000000"/>
                </a:solidFill>
                <a:highlight>
                  <a:srgbClr val="FFFFFF"/>
                </a:highlight>
                <a:latin typeface="Cascadia Mono" panose="020B0609020000020004" pitchFamily="49" charset="0"/>
              </a:rPr>
              <a:t>dgvBookInvoice.Rows</a:t>
            </a:r>
            <a:r>
              <a:rPr lang="en-US" dirty="0">
                <a:solidFill>
                  <a:srgbClr val="000000"/>
                </a:solidFill>
                <a:highlight>
                  <a:srgbClr val="FFFFFF"/>
                </a:highlight>
                <a:latin typeface="Cascadia Mono" panose="020B0609020000020004" pitchFamily="49" charset="0"/>
              </a:rPr>
              <a:t>[</a:t>
            </a:r>
            <a:r>
              <a:rPr lang="en-US" dirty="0" err="1">
                <a:solidFill>
                  <a:srgbClr val="000000"/>
                </a:solidFill>
                <a:highlight>
                  <a:srgbClr val="FFFFFF"/>
                </a:highlight>
                <a:latin typeface="Cascadia Mono" panose="020B0609020000020004" pitchFamily="49" charset="0"/>
              </a:rPr>
              <a:t>i</a:t>
            </a:r>
            <a:r>
              <a:rPr lang="en-US" dirty="0">
                <a:solidFill>
                  <a:srgbClr val="000000"/>
                </a:solidFill>
                <a:highlight>
                  <a:srgbClr val="FFFFFF"/>
                </a:highlight>
                <a:latin typeface="Cascadia Mono" panose="020B0609020000020004" pitchFamily="49" charset="0"/>
              </a:rPr>
              <a:t>].Cells[1].Value;</a:t>
            </a:r>
          </a:p>
          <a:p>
            <a:r>
              <a:rPr lang="en-ZA" dirty="0">
                <a:solidFill>
                  <a:srgbClr val="000000"/>
                </a:solidFill>
                <a:highlight>
                  <a:srgbClr val="FFFFFF"/>
                </a:highlight>
                <a:latin typeface="Cascadia Mono" panose="020B0609020000020004" pitchFamily="49" charset="0"/>
              </a:rPr>
              <a:t>     taBookOrderDetail1.Insert(pk, </a:t>
            </a:r>
            <a:r>
              <a:rPr lang="en-ZA" dirty="0" err="1">
                <a:solidFill>
                  <a:srgbClr val="000000"/>
                </a:solidFill>
                <a:highlight>
                  <a:srgbClr val="FFFFFF"/>
                </a:highlight>
                <a:latin typeface="Cascadia Mono" panose="020B0609020000020004" pitchFamily="49" charset="0"/>
              </a:rPr>
              <a:t>bkID</a:t>
            </a:r>
            <a:r>
              <a:rPr lang="en-ZA" dirty="0">
                <a:solidFill>
                  <a:srgbClr val="000000"/>
                </a:solidFill>
                <a:highlight>
                  <a:srgbClr val="FFFFFF"/>
                </a:highlight>
                <a:latin typeface="Cascadia Mono" panose="020B0609020000020004" pitchFamily="49" charset="0"/>
              </a:rPr>
              <a:t>, 1, </a:t>
            </a:r>
            <a:r>
              <a:rPr lang="en-ZA" dirty="0" err="1">
                <a:solidFill>
                  <a:srgbClr val="000000"/>
                </a:solidFill>
                <a:highlight>
                  <a:srgbClr val="FFFFFF"/>
                </a:highlight>
                <a:latin typeface="Cascadia Mono" panose="020B0609020000020004" pitchFamily="49" charset="0"/>
              </a:rPr>
              <a:t>bkPrice</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a:t>
            </a:r>
            <a:endParaRPr lang="en-ZA" dirty="0"/>
          </a:p>
        </p:txBody>
      </p:sp>
    </p:spTree>
    <p:extLst>
      <p:ext uri="{BB962C8B-B14F-4D97-AF65-F5344CB8AC3E}">
        <p14:creationId xmlns:p14="http://schemas.microsoft.com/office/powerpoint/2010/main" val="429947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4948516"/>
          </a:xfrm>
        </p:spPr>
        <p:txBody>
          <a:bodyPr/>
          <a:lstStyle/>
          <a:p>
            <a:r>
              <a:rPr lang="en-ZA" sz="1800" b="1" dirty="0">
                <a:solidFill>
                  <a:srgbClr val="C00000"/>
                </a:solidFill>
              </a:rPr>
              <a:t>When a Sale is recorded – the PK is returned…An </a:t>
            </a:r>
            <a:r>
              <a:rPr lang="en-ZA" sz="1800" b="1" dirty="0" err="1">
                <a:solidFill>
                  <a:srgbClr val="C00000"/>
                </a:solidFill>
              </a:rPr>
              <a:t>InsertQuery</a:t>
            </a:r>
            <a:r>
              <a:rPr lang="en-ZA" sz="1800" b="1" dirty="0">
                <a:solidFill>
                  <a:srgbClr val="C00000"/>
                </a:solidFill>
              </a:rPr>
              <a:t> is executed where the Insert Parameters are the date and the Amount owing – note that </a:t>
            </a:r>
            <a:r>
              <a:rPr lang="en-ZA" sz="1800" b="1" dirty="0" err="1">
                <a:solidFill>
                  <a:srgbClr val="C00000"/>
                </a:solidFill>
              </a:rPr>
              <a:t>Decimal.Parse</a:t>
            </a:r>
            <a:r>
              <a:rPr lang="en-ZA" sz="1800" b="1" dirty="0">
                <a:solidFill>
                  <a:srgbClr val="C00000"/>
                </a:solidFill>
              </a:rPr>
              <a:t>(</a:t>
            </a:r>
            <a:r>
              <a:rPr lang="en-ZA" sz="1800" b="1" dirty="0" err="1">
                <a:solidFill>
                  <a:srgbClr val="C00000"/>
                </a:solidFill>
              </a:rPr>
              <a:t>txtAmtOwing.text,NumberStyle.Currency</a:t>
            </a:r>
            <a:r>
              <a:rPr lang="en-ZA" sz="1800" b="1" dirty="0">
                <a:solidFill>
                  <a:srgbClr val="C00000"/>
                </a:solidFill>
              </a:rPr>
              <a:t>) statement is used to extract/remove the currency symbol before the insertion into the </a:t>
            </a:r>
            <a:r>
              <a:rPr lang="en-ZA" sz="1800" b="1" dirty="0" err="1">
                <a:solidFill>
                  <a:srgbClr val="C00000"/>
                </a:solidFill>
              </a:rPr>
              <a:t>databse</a:t>
            </a:r>
            <a:r>
              <a:rPr lang="en-ZA" sz="1800" b="1" dirty="0">
                <a:solidFill>
                  <a:srgbClr val="C00000"/>
                </a:solidFill>
              </a:rPr>
              <a:t> is made – that is because the </a:t>
            </a:r>
            <a:r>
              <a:rPr lang="en-ZA" sz="1800" b="1" dirty="0" err="1">
                <a:solidFill>
                  <a:srgbClr val="C00000"/>
                </a:solidFill>
              </a:rPr>
              <a:t>AmountOwing</a:t>
            </a:r>
            <a:r>
              <a:rPr lang="en-ZA" sz="1800" b="1" dirty="0">
                <a:solidFill>
                  <a:srgbClr val="C00000"/>
                </a:solidFill>
              </a:rPr>
              <a:t> field is a Decimal – not a String</a:t>
            </a:r>
          </a:p>
          <a:p>
            <a:r>
              <a:rPr lang="en-ZA" sz="1800" dirty="0">
                <a:solidFill>
                  <a:srgbClr val="000000"/>
                </a:solidFill>
                <a:highlight>
                  <a:srgbClr val="FFFFFF"/>
                </a:highlight>
                <a:latin typeface="Cascadia Mono" panose="020B0609020000020004" pitchFamily="49" charset="0"/>
              </a:rPr>
              <a:t>pk = (</a:t>
            </a:r>
            <a:r>
              <a:rPr lang="en-ZA" sz="1800" dirty="0">
                <a:solidFill>
                  <a:srgbClr val="0000FF"/>
                </a:solidFill>
                <a:highlight>
                  <a:srgbClr val="FFFFFF"/>
                </a:highlight>
                <a:latin typeface="Cascadia Mono" panose="020B0609020000020004" pitchFamily="49" charset="0"/>
              </a:rPr>
              <a:t>int</a:t>
            </a:r>
            <a:r>
              <a:rPr lang="en-ZA" sz="1800" dirty="0">
                <a:solidFill>
                  <a:srgbClr val="000000"/>
                </a:solidFill>
                <a:highlight>
                  <a:srgbClr val="FFFFFF"/>
                </a:highlight>
                <a:latin typeface="Cascadia Mono" panose="020B0609020000020004" pitchFamily="49" charset="0"/>
              </a:rPr>
              <a:t>)taBookOrder1.InsertQueryPK(</a:t>
            </a:r>
            <a:r>
              <a:rPr lang="en-ZA" sz="1800" dirty="0" err="1">
                <a:solidFill>
                  <a:srgbClr val="2B91AF"/>
                </a:solidFill>
                <a:highlight>
                  <a:srgbClr val="FFFFFF"/>
                </a:highlight>
                <a:latin typeface="Cascadia Mono" panose="020B0609020000020004" pitchFamily="49" charset="0"/>
              </a:rPr>
              <a:t>DateTime</a:t>
            </a:r>
            <a:r>
              <a:rPr lang="en-ZA" sz="1800" dirty="0" err="1">
                <a:solidFill>
                  <a:srgbClr val="000000"/>
                </a:solidFill>
                <a:highlight>
                  <a:srgbClr val="FFFFFF"/>
                </a:highlight>
                <a:latin typeface="Cascadia Mono" panose="020B0609020000020004" pitchFamily="49" charset="0"/>
              </a:rPr>
              <a:t>.Now</a:t>
            </a:r>
            <a:r>
              <a:rPr lang="en-ZA" sz="1800" dirty="0">
                <a:solidFill>
                  <a:srgbClr val="000000"/>
                </a:solidFill>
                <a:highlight>
                  <a:srgbClr val="FFFFFF"/>
                </a:highlight>
                <a:latin typeface="Cascadia Mono" panose="020B0609020000020004" pitchFamily="49" charset="0"/>
              </a:rPr>
              <a:t>, </a:t>
            </a:r>
            <a:r>
              <a:rPr lang="en-ZA" sz="1800" dirty="0" err="1">
                <a:solidFill>
                  <a:srgbClr val="2B91AF"/>
                </a:solidFill>
                <a:highlight>
                  <a:srgbClr val="FFFFFF"/>
                </a:highlight>
                <a:latin typeface="Cascadia Mono" panose="020B0609020000020004" pitchFamily="49" charset="0"/>
              </a:rPr>
              <a:t>Decimal</a:t>
            </a:r>
            <a:r>
              <a:rPr lang="en-ZA" sz="1800" dirty="0" err="1">
                <a:solidFill>
                  <a:srgbClr val="000000"/>
                </a:solidFill>
                <a:highlight>
                  <a:srgbClr val="FFFFFF"/>
                </a:highlight>
                <a:latin typeface="Cascadia Mono" panose="020B0609020000020004" pitchFamily="49" charset="0"/>
              </a:rPr>
              <a:t>.Parse</a:t>
            </a:r>
            <a:r>
              <a:rPr lang="en-ZA" sz="1800" dirty="0">
                <a:solidFill>
                  <a:srgbClr val="000000"/>
                </a:solidFill>
                <a:highlight>
                  <a:srgbClr val="FFFFFF"/>
                </a:highlight>
                <a:latin typeface="Cascadia Mono" panose="020B0609020000020004" pitchFamily="49" charset="0"/>
              </a:rPr>
              <a:t>(</a:t>
            </a:r>
            <a:r>
              <a:rPr lang="en-ZA" sz="1800" dirty="0" err="1">
                <a:solidFill>
                  <a:srgbClr val="000000"/>
                </a:solidFill>
                <a:highlight>
                  <a:srgbClr val="FFFFFF"/>
                </a:highlight>
                <a:latin typeface="Cascadia Mono" panose="020B0609020000020004" pitchFamily="49" charset="0"/>
              </a:rPr>
              <a:t>txtAmtOwing.Text</a:t>
            </a:r>
            <a:r>
              <a:rPr lang="en-ZA" sz="1800" dirty="0">
                <a:solidFill>
                  <a:srgbClr val="000000"/>
                </a:solidFill>
                <a:highlight>
                  <a:srgbClr val="FFFFFF"/>
                </a:highlight>
                <a:latin typeface="Cascadia Mono" panose="020B0609020000020004" pitchFamily="49" charset="0"/>
              </a:rPr>
              <a:t>, </a:t>
            </a:r>
            <a:r>
              <a:rPr lang="en-ZA" sz="1800" dirty="0" err="1">
                <a:solidFill>
                  <a:srgbClr val="2B91AF"/>
                </a:solidFill>
                <a:highlight>
                  <a:srgbClr val="FFFFFF"/>
                </a:highlight>
                <a:latin typeface="Cascadia Mono" panose="020B0609020000020004" pitchFamily="49" charset="0"/>
              </a:rPr>
              <a:t>NumberStyles</a:t>
            </a:r>
            <a:r>
              <a:rPr lang="en-ZA" sz="1800" dirty="0" err="1">
                <a:solidFill>
                  <a:srgbClr val="000000"/>
                </a:solidFill>
                <a:highlight>
                  <a:srgbClr val="FFFFFF"/>
                </a:highlight>
                <a:latin typeface="Cascadia Mono" panose="020B0609020000020004" pitchFamily="49" charset="0"/>
              </a:rPr>
              <a:t>.Currency</a:t>
            </a:r>
            <a:r>
              <a:rPr lang="en-ZA" sz="1800" dirty="0">
                <a:solidFill>
                  <a:srgbClr val="000000"/>
                </a:solidFill>
                <a:highlight>
                  <a:srgbClr val="FFFFFF"/>
                </a:highlight>
                <a:latin typeface="Cascadia Mono" panose="020B0609020000020004" pitchFamily="49" charset="0"/>
              </a:rPr>
              <a:t>));</a:t>
            </a:r>
          </a:p>
          <a:p>
            <a:r>
              <a:rPr lang="en-ZA" sz="1800" b="1" dirty="0">
                <a:solidFill>
                  <a:srgbClr val="C00000"/>
                </a:solidFill>
              </a:rPr>
              <a:t>This PK is used to record the inner detail of the Order – </a:t>
            </a:r>
            <a:r>
              <a:rPr lang="en-ZA" sz="1800" b="1" dirty="0" err="1">
                <a:solidFill>
                  <a:srgbClr val="C00000"/>
                </a:solidFill>
              </a:rPr>
              <a:t>i.e.the</a:t>
            </a:r>
            <a:r>
              <a:rPr lang="en-ZA" sz="1800" b="1" dirty="0">
                <a:solidFill>
                  <a:srgbClr val="C00000"/>
                </a:solidFill>
              </a:rPr>
              <a:t> details of each book is recorded together with the PK of the Order…</a:t>
            </a:r>
          </a:p>
          <a:p>
            <a:r>
              <a:rPr lang="en-ZA" sz="1800" b="1" dirty="0">
                <a:solidFill>
                  <a:srgbClr val="C00000"/>
                </a:solidFill>
              </a:rPr>
              <a:t>Since there is one or more items to record as part of the inner details, a for loop is required…</a:t>
            </a:r>
          </a:p>
          <a:p>
            <a:r>
              <a:rPr lang="en-ZA" sz="1800" dirty="0">
                <a:solidFill>
                  <a:srgbClr val="0000FF"/>
                </a:solidFill>
                <a:highlight>
                  <a:srgbClr val="FFFFFF"/>
                </a:highlight>
                <a:latin typeface="Cascadia Mono" panose="020B0609020000020004" pitchFamily="49" charset="0"/>
              </a:rPr>
              <a:t>for</a:t>
            </a:r>
            <a:r>
              <a:rPr lang="en-ZA" sz="1800" dirty="0">
                <a:solidFill>
                  <a:srgbClr val="000000"/>
                </a:solidFill>
                <a:highlight>
                  <a:srgbClr val="FFFFFF"/>
                </a:highlight>
                <a:latin typeface="Cascadia Mono" panose="020B0609020000020004" pitchFamily="49" charset="0"/>
              </a:rPr>
              <a:t> (</a:t>
            </a:r>
            <a:r>
              <a:rPr lang="en-ZA" sz="1800" dirty="0">
                <a:solidFill>
                  <a:srgbClr val="0000FF"/>
                </a:solidFill>
                <a:highlight>
                  <a:srgbClr val="FFFFFF"/>
                </a:highlight>
                <a:latin typeface="Cascadia Mono" panose="020B0609020000020004" pitchFamily="49" charset="0"/>
              </a:rPr>
              <a:t>int</a:t>
            </a:r>
            <a:r>
              <a:rPr lang="en-ZA" sz="1800" dirty="0">
                <a:solidFill>
                  <a:srgbClr val="000000"/>
                </a:solidFill>
                <a:highlight>
                  <a:srgbClr val="FFFFFF"/>
                </a:highlight>
                <a:latin typeface="Cascadia Mono" panose="020B0609020000020004" pitchFamily="49" charset="0"/>
              </a:rPr>
              <a:t> </a:t>
            </a:r>
            <a:r>
              <a:rPr lang="en-ZA" sz="1800" dirty="0" err="1">
                <a:solidFill>
                  <a:srgbClr val="000000"/>
                </a:solidFill>
                <a:highlight>
                  <a:srgbClr val="FFFFFF"/>
                </a:highlight>
                <a:latin typeface="Cascadia Mono" panose="020B0609020000020004" pitchFamily="49" charset="0"/>
              </a:rPr>
              <a:t>i</a:t>
            </a:r>
            <a:r>
              <a:rPr lang="en-ZA" sz="1800" dirty="0">
                <a:solidFill>
                  <a:srgbClr val="000000"/>
                </a:solidFill>
                <a:highlight>
                  <a:srgbClr val="FFFFFF"/>
                </a:highlight>
                <a:latin typeface="Cascadia Mono" panose="020B0609020000020004" pitchFamily="49" charset="0"/>
              </a:rPr>
              <a:t> = 0; </a:t>
            </a:r>
            <a:r>
              <a:rPr lang="en-ZA" sz="1800" dirty="0" err="1">
                <a:solidFill>
                  <a:srgbClr val="000000"/>
                </a:solidFill>
                <a:highlight>
                  <a:srgbClr val="FFFFFF"/>
                </a:highlight>
                <a:latin typeface="Cascadia Mono" panose="020B0609020000020004" pitchFamily="49" charset="0"/>
              </a:rPr>
              <a:t>i</a:t>
            </a:r>
            <a:r>
              <a:rPr lang="en-ZA" sz="1800" dirty="0">
                <a:solidFill>
                  <a:srgbClr val="000000"/>
                </a:solidFill>
                <a:highlight>
                  <a:srgbClr val="FFFFFF"/>
                </a:highlight>
                <a:latin typeface="Cascadia Mono" panose="020B0609020000020004" pitchFamily="49" charset="0"/>
              </a:rPr>
              <a:t> &lt; </a:t>
            </a:r>
            <a:r>
              <a:rPr lang="en-ZA" sz="1800" dirty="0" err="1">
                <a:solidFill>
                  <a:srgbClr val="000000"/>
                </a:solidFill>
                <a:highlight>
                  <a:srgbClr val="FFFFFF"/>
                </a:highlight>
                <a:latin typeface="Cascadia Mono" panose="020B0609020000020004" pitchFamily="49" charset="0"/>
              </a:rPr>
              <a:t>dgvBookInvoice.Rows.Count</a:t>
            </a:r>
            <a:r>
              <a:rPr lang="en-ZA" sz="1800" dirty="0">
                <a:solidFill>
                  <a:srgbClr val="000000"/>
                </a:solidFill>
                <a:highlight>
                  <a:srgbClr val="FFFFFF"/>
                </a:highlight>
                <a:latin typeface="Cascadia Mono" panose="020B0609020000020004" pitchFamily="49" charset="0"/>
              </a:rPr>
              <a:t> - 1; </a:t>
            </a:r>
            <a:r>
              <a:rPr lang="en-ZA" sz="1800" dirty="0" err="1">
                <a:solidFill>
                  <a:srgbClr val="000000"/>
                </a:solidFill>
                <a:highlight>
                  <a:srgbClr val="FFFFFF"/>
                </a:highlight>
                <a:latin typeface="Cascadia Mono" panose="020B0609020000020004" pitchFamily="49" charset="0"/>
              </a:rPr>
              <a:t>i</a:t>
            </a:r>
            <a:r>
              <a:rPr lang="en-ZA" sz="1800" dirty="0">
                <a:solidFill>
                  <a:srgbClr val="000000"/>
                </a:solidFill>
                <a:highlight>
                  <a:srgbClr val="FFFFFF"/>
                </a:highlight>
                <a:latin typeface="Cascadia Mono" panose="020B0609020000020004" pitchFamily="49" charset="0"/>
              </a:rPr>
              <a:t>++)</a:t>
            </a:r>
          </a:p>
          <a:p>
            <a:r>
              <a:rPr lang="en-ZA" sz="1800" b="1" dirty="0">
                <a:solidFill>
                  <a:srgbClr val="000000"/>
                </a:solidFill>
                <a:highlight>
                  <a:srgbClr val="FFFFFF"/>
                </a:highlight>
                <a:latin typeface="Cascadia Mono" panose="020B0609020000020004" pitchFamily="49" charset="0"/>
              </a:rPr>
              <a:t>The for loop iterates through all the rows of the Invoice </a:t>
            </a:r>
            <a:r>
              <a:rPr lang="en-ZA" sz="1800" b="1" dirty="0" err="1">
                <a:solidFill>
                  <a:srgbClr val="000000"/>
                </a:solidFill>
                <a:highlight>
                  <a:srgbClr val="FFFFFF"/>
                </a:highlight>
                <a:latin typeface="Cascadia Mono" panose="020B0609020000020004" pitchFamily="49" charset="0"/>
              </a:rPr>
              <a:t>Grdiview</a:t>
            </a:r>
            <a:r>
              <a:rPr lang="en-ZA" sz="1800" b="1" dirty="0">
                <a:solidFill>
                  <a:srgbClr val="000000"/>
                </a:solidFill>
                <a:highlight>
                  <a:srgbClr val="FFFFFF"/>
                </a:highlight>
                <a:latin typeface="Cascadia Mono" panose="020B0609020000020004" pitchFamily="49" charset="0"/>
              </a:rPr>
              <a:t>/</a:t>
            </a:r>
            <a:r>
              <a:rPr lang="en-ZA" sz="1800" b="1" dirty="0" err="1">
                <a:solidFill>
                  <a:srgbClr val="000000"/>
                </a:solidFill>
                <a:highlight>
                  <a:srgbClr val="FFFFFF"/>
                </a:highlight>
                <a:latin typeface="Cascadia Mono" panose="020B0609020000020004" pitchFamily="49" charset="0"/>
              </a:rPr>
              <a:t>DataTable</a:t>
            </a:r>
            <a:r>
              <a:rPr lang="en-ZA" sz="1800" b="1" dirty="0">
                <a:solidFill>
                  <a:srgbClr val="000000"/>
                </a:solidFill>
                <a:highlight>
                  <a:srgbClr val="FFFFFF"/>
                </a:highlight>
                <a:latin typeface="Cascadia Mono" panose="020B0609020000020004" pitchFamily="49" charset="0"/>
              </a:rPr>
              <a:t> and inserts each row into the Database…</a:t>
            </a:r>
            <a:endParaRPr lang="en-ZA" sz="1800" b="1" dirty="0">
              <a:solidFill>
                <a:srgbClr val="C00000"/>
              </a:solidFill>
            </a:endParaRPr>
          </a:p>
          <a:p>
            <a:r>
              <a:rPr lang="en-US" sz="1800" b="1" dirty="0"/>
              <a:t>taBookOrderDetail1.Insert(pk, bkID, 1, </a:t>
            </a:r>
            <a:r>
              <a:rPr lang="en-US" sz="1800" b="1" dirty="0" err="1"/>
              <a:t>bkPrice</a:t>
            </a:r>
            <a:r>
              <a:rPr lang="en-US" sz="1800" b="1" dirty="0"/>
              <a:t>); </a:t>
            </a:r>
            <a:r>
              <a:rPr lang="en-US" sz="1800" dirty="0"/>
              <a:t>//the assumption is made that the quantity for the purchase is 1 – we can always change this at a later stage…</a:t>
            </a:r>
          </a:p>
          <a:p>
            <a:endParaRPr lang="en-ZA" sz="1800"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Things to Take Note of</a:t>
            </a:r>
          </a:p>
        </p:txBody>
      </p:sp>
    </p:spTree>
    <p:extLst>
      <p:ext uri="{BB962C8B-B14F-4D97-AF65-F5344CB8AC3E}">
        <p14:creationId xmlns:p14="http://schemas.microsoft.com/office/powerpoint/2010/main" val="2381473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412375"/>
          </a:xfrm>
        </p:spPr>
        <p:txBody>
          <a:bodyPr/>
          <a:lstStyle/>
          <a:p>
            <a:r>
              <a:rPr lang="en-ZA" b="1" dirty="0">
                <a:solidFill>
                  <a:srgbClr val="C00000"/>
                </a:solidFill>
              </a:rPr>
              <a:t>Double click book rows for selection </a:t>
            </a:r>
            <a:r>
              <a:rPr lang="en-ZA" b="1" dirty="0">
                <a:solidFill>
                  <a:srgbClr val="C00000"/>
                </a:solidFill>
                <a:sym typeface="Wingdings" panose="05000000000000000000" pitchFamily="2" charset="2"/>
              </a:rPr>
              <a:t> Fill up the Invoice Get the Confirmation  A message to show Sale details appear The </a:t>
            </a:r>
            <a:r>
              <a:rPr lang="en-ZA" b="1" dirty="0" err="1">
                <a:solidFill>
                  <a:srgbClr val="C00000"/>
                </a:solidFill>
                <a:sym typeface="Wingdings" panose="05000000000000000000" pitchFamily="2" charset="2"/>
              </a:rPr>
              <a:t>BookOrder</a:t>
            </a:r>
            <a:r>
              <a:rPr lang="en-ZA" b="1" dirty="0">
                <a:solidFill>
                  <a:srgbClr val="C00000"/>
                </a:solidFill>
                <a:sym typeface="Wingdings" panose="05000000000000000000" pitchFamily="2" charset="2"/>
              </a:rPr>
              <a:t> shows details of the New Order Click on the Row of the Order  and the INNER DETAILS ARE SHOWN IN THE GRIDVIEW BELOW!!</a:t>
            </a:r>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Visual Sequence</a:t>
            </a:r>
          </a:p>
        </p:txBody>
      </p:sp>
      <p:pic>
        <p:nvPicPr>
          <p:cNvPr id="4" name="Picture 3">
            <a:extLst>
              <a:ext uri="{FF2B5EF4-FFF2-40B4-BE49-F238E27FC236}">
                <a16:creationId xmlns:a16="http://schemas.microsoft.com/office/drawing/2014/main" id="{C2589900-776F-4493-A112-5D88D7D6F0BA}"/>
              </a:ext>
            </a:extLst>
          </p:cNvPr>
          <p:cNvPicPr>
            <a:picLocks noChangeAspect="1"/>
          </p:cNvPicPr>
          <p:nvPr/>
        </p:nvPicPr>
        <p:blipFill>
          <a:blip r:embed="rId2"/>
          <a:stretch>
            <a:fillRect/>
          </a:stretch>
        </p:blipFill>
        <p:spPr>
          <a:xfrm>
            <a:off x="430306" y="1461247"/>
            <a:ext cx="4050484" cy="4847777"/>
          </a:xfrm>
          <a:prstGeom prst="rect">
            <a:avLst/>
          </a:prstGeom>
        </p:spPr>
      </p:pic>
      <p:pic>
        <p:nvPicPr>
          <p:cNvPr id="5" name="Picture 4">
            <a:extLst>
              <a:ext uri="{FF2B5EF4-FFF2-40B4-BE49-F238E27FC236}">
                <a16:creationId xmlns:a16="http://schemas.microsoft.com/office/drawing/2014/main" id="{2BBDF9BD-7CE8-4C7C-9CD5-0B4647BAC0B2}"/>
              </a:ext>
            </a:extLst>
          </p:cNvPr>
          <p:cNvPicPr>
            <a:picLocks noChangeAspect="1"/>
          </p:cNvPicPr>
          <p:nvPr/>
        </p:nvPicPr>
        <p:blipFill>
          <a:blip r:embed="rId3"/>
          <a:stretch>
            <a:fillRect/>
          </a:stretch>
        </p:blipFill>
        <p:spPr>
          <a:xfrm>
            <a:off x="3661070" y="2792675"/>
            <a:ext cx="2682472" cy="1272650"/>
          </a:xfrm>
          <a:prstGeom prst="rect">
            <a:avLst/>
          </a:prstGeom>
        </p:spPr>
      </p:pic>
      <p:pic>
        <p:nvPicPr>
          <p:cNvPr id="6" name="Picture 5">
            <a:extLst>
              <a:ext uri="{FF2B5EF4-FFF2-40B4-BE49-F238E27FC236}">
                <a16:creationId xmlns:a16="http://schemas.microsoft.com/office/drawing/2014/main" id="{C1C79211-5A2E-46DF-BB55-1BD270B91E7A}"/>
              </a:ext>
            </a:extLst>
          </p:cNvPr>
          <p:cNvPicPr>
            <a:picLocks noChangeAspect="1"/>
          </p:cNvPicPr>
          <p:nvPr/>
        </p:nvPicPr>
        <p:blipFill>
          <a:blip r:embed="rId4"/>
          <a:stretch>
            <a:fillRect/>
          </a:stretch>
        </p:blipFill>
        <p:spPr>
          <a:xfrm>
            <a:off x="3661070" y="4140662"/>
            <a:ext cx="3901778" cy="1333616"/>
          </a:xfrm>
          <a:prstGeom prst="rect">
            <a:avLst/>
          </a:prstGeom>
        </p:spPr>
      </p:pic>
      <p:pic>
        <p:nvPicPr>
          <p:cNvPr id="8" name="Picture 7">
            <a:extLst>
              <a:ext uri="{FF2B5EF4-FFF2-40B4-BE49-F238E27FC236}">
                <a16:creationId xmlns:a16="http://schemas.microsoft.com/office/drawing/2014/main" id="{C1458974-2FF9-43A4-8F0B-FD3F6534843D}"/>
              </a:ext>
            </a:extLst>
          </p:cNvPr>
          <p:cNvPicPr>
            <a:picLocks noChangeAspect="1"/>
          </p:cNvPicPr>
          <p:nvPr/>
        </p:nvPicPr>
        <p:blipFill>
          <a:blip r:embed="rId5"/>
          <a:stretch>
            <a:fillRect/>
          </a:stretch>
        </p:blipFill>
        <p:spPr>
          <a:xfrm>
            <a:off x="6811843" y="1715445"/>
            <a:ext cx="4732430" cy="2095682"/>
          </a:xfrm>
          <a:prstGeom prst="rect">
            <a:avLst/>
          </a:prstGeom>
        </p:spPr>
      </p:pic>
      <p:pic>
        <p:nvPicPr>
          <p:cNvPr id="9" name="Picture 8">
            <a:extLst>
              <a:ext uri="{FF2B5EF4-FFF2-40B4-BE49-F238E27FC236}">
                <a16:creationId xmlns:a16="http://schemas.microsoft.com/office/drawing/2014/main" id="{17239D65-ED0A-45F8-A92A-22298B7179D8}"/>
              </a:ext>
            </a:extLst>
          </p:cNvPr>
          <p:cNvPicPr>
            <a:picLocks noChangeAspect="1"/>
          </p:cNvPicPr>
          <p:nvPr/>
        </p:nvPicPr>
        <p:blipFill>
          <a:blip r:embed="rId6"/>
          <a:stretch>
            <a:fillRect/>
          </a:stretch>
        </p:blipFill>
        <p:spPr>
          <a:xfrm>
            <a:off x="8337176" y="3773266"/>
            <a:ext cx="2922494" cy="2535758"/>
          </a:xfrm>
          <a:prstGeom prst="rect">
            <a:avLst/>
          </a:prstGeom>
        </p:spPr>
      </p:pic>
    </p:spTree>
    <p:extLst>
      <p:ext uri="{BB962C8B-B14F-4D97-AF65-F5344CB8AC3E}">
        <p14:creationId xmlns:p14="http://schemas.microsoft.com/office/powerpoint/2010/main" val="892863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arn(inVertic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1048872"/>
            <a:ext cx="11250706" cy="830997"/>
          </a:xfrm>
        </p:spPr>
        <p:txBody>
          <a:bodyPr/>
          <a:lstStyle/>
          <a:p>
            <a:r>
              <a:rPr lang="en-ZA" b="1" dirty="0">
                <a:solidFill>
                  <a:srgbClr val="C00000"/>
                </a:solidFill>
              </a:rPr>
              <a:t>This is simply a matter of configuration</a:t>
            </a:r>
          </a:p>
          <a:p>
            <a:r>
              <a:rPr lang="en-ZA" b="1" dirty="0">
                <a:solidFill>
                  <a:srgbClr val="C00000"/>
                </a:solidFill>
              </a:rPr>
              <a:t>The 1</a:t>
            </a:r>
            <a:r>
              <a:rPr lang="en-ZA" b="1" baseline="30000" dirty="0">
                <a:solidFill>
                  <a:srgbClr val="C00000"/>
                </a:solidFill>
              </a:rPr>
              <a:t>st</a:t>
            </a:r>
            <a:r>
              <a:rPr lang="en-ZA" b="1" dirty="0">
                <a:solidFill>
                  <a:srgbClr val="C00000"/>
                </a:solidFill>
              </a:rPr>
              <a:t> </a:t>
            </a:r>
            <a:r>
              <a:rPr lang="en-ZA" b="1" dirty="0" err="1">
                <a:solidFill>
                  <a:srgbClr val="C00000"/>
                </a:solidFill>
              </a:rPr>
              <a:t>Gridview</a:t>
            </a:r>
            <a:r>
              <a:rPr lang="en-ZA" b="1" dirty="0">
                <a:solidFill>
                  <a:srgbClr val="C00000"/>
                </a:solidFill>
              </a:rPr>
              <a:t> is linked to the Order Table and filled when the form loads…..</a:t>
            </a:r>
            <a:r>
              <a:rPr lang="en-ZA" dirty="0"/>
              <a:t> taBookOrder1.Fill(dsBookApp1.BookOrder); </a:t>
            </a:r>
            <a:endParaRPr lang="en-ZA" b="1" dirty="0">
              <a:solidFill>
                <a:srgbClr val="C00000"/>
              </a:solidFill>
            </a:endParaRPr>
          </a:p>
          <a:p>
            <a:r>
              <a:rPr lang="en-ZA" b="1" dirty="0">
                <a:solidFill>
                  <a:srgbClr val="C00000"/>
                </a:solidFill>
              </a:rPr>
              <a:t>The 2</a:t>
            </a:r>
            <a:r>
              <a:rPr lang="en-ZA" b="1" baseline="30000" dirty="0">
                <a:solidFill>
                  <a:srgbClr val="C00000"/>
                </a:solidFill>
              </a:rPr>
              <a:t>nd</a:t>
            </a:r>
            <a:r>
              <a:rPr lang="en-ZA" b="1" dirty="0">
                <a:solidFill>
                  <a:srgbClr val="C00000"/>
                </a:solidFill>
              </a:rPr>
              <a:t> </a:t>
            </a:r>
            <a:r>
              <a:rPr lang="en-ZA" b="1" dirty="0" err="1">
                <a:solidFill>
                  <a:srgbClr val="C00000"/>
                </a:solidFill>
              </a:rPr>
              <a:t>Gridview</a:t>
            </a:r>
            <a:r>
              <a:rPr lang="en-ZA" b="1" dirty="0">
                <a:solidFill>
                  <a:srgbClr val="C00000"/>
                </a:solidFill>
              </a:rPr>
              <a:t> is linked to the </a:t>
            </a:r>
            <a:r>
              <a:rPr lang="en-ZA" b="1" dirty="0" err="1">
                <a:solidFill>
                  <a:srgbClr val="C00000"/>
                </a:solidFill>
              </a:rPr>
              <a:t>OrderDetail</a:t>
            </a:r>
            <a:r>
              <a:rPr lang="en-ZA" b="1" dirty="0">
                <a:solidFill>
                  <a:srgbClr val="C00000"/>
                </a:solidFill>
              </a:rPr>
              <a:t> Table and only gets filled when the user clicks on a row in the 1</a:t>
            </a:r>
            <a:r>
              <a:rPr lang="en-ZA" b="1" baseline="30000" dirty="0">
                <a:solidFill>
                  <a:srgbClr val="C00000"/>
                </a:solidFill>
              </a:rPr>
              <a:t>st</a:t>
            </a:r>
            <a:r>
              <a:rPr lang="en-ZA" b="1" dirty="0">
                <a:solidFill>
                  <a:srgbClr val="C00000"/>
                </a:solidFill>
              </a:rPr>
              <a:t> </a:t>
            </a:r>
            <a:r>
              <a:rPr lang="en-ZA" b="1" dirty="0" err="1">
                <a:solidFill>
                  <a:srgbClr val="C00000"/>
                </a:solidFill>
              </a:rPr>
              <a:t>Gridview</a:t>
            </a:r>
            <a:endParaRPr lang="en-ZA" b="1" dirty="0">
              <a:solidFill>
                <a:srgbClr val="C00000"/>
              </a:solidFill>
            </a:endParaRPr>
          </a:p>
          <a:p>
            <a:endParaRPr lang="en-ZA" b="1" dirty="0">
              <a:solidFill>
                <a:srgbClr val="C00000"/>
              </a:solidFill>
            </a:endParaRP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Showing the Inner Details of the Order</a:t>
            </a:r>
          </a:p>
        </p:txBody>
      </p:sp>
      <p:pic>
        <p:nvPicPr>
          <p:cNvPr id="4" name="Picture 3">
            <a:extLst>
              <a:ext uri="{FF2B5EF4-FFF2-40B4-BE49-F238E27FC236}">
                <a16:creationId xmlns:a16="http://schemas.microsoft.com/office/drawing/2014/main" id="{4F0C5C8E-38BF-4020-A25C-581A95E116E1}"/>
              </a:ext>
            </a:extLst>
          </p:cNvPr>
          <p:cNvPicPr>
            <a:picLocks noChangeAspect="1"/>
          </p:cNvPicPr>
          <p:nvPr/>
        </p:nvPicPr>
        <p:blipFill rotWithShape="1">
          <a:blip r:embed="rId2"/>
          <a:srcRect r="34332"/>
          <a:stretch/>
        </p:blipFill>
        <p:spPr>
          <a:xfrm>
            <a:off x="0" y="2048572"/>
            <a:ext cx="4150659" cy="3634556"/>
          </a:xfrm>
          <a:prstGeom prst="rect">
            <a:avLst/>
          </a:prstGeom>
        </p:spPr>
      </p:pic>
      <p:sp>
        <p:nvSpPr>
          <p:cNvPr id="5" name="Rectangle 4">
            <a:extLst>
              <a:ext uri="{FF2B5EF4-FFF2-40B4-BE49-F238E27FC236}">
                <a16:creationId xmlns:a16="http://schemas.microsoft.com/office/drawing/2014/main" id="{FEE0422D-F6B2-431E-B629-8CB34558D262}"/>
              </a:ext>
            </a:extLst>
          </p:cNvPr>
          <p:cNvSpPr/>
          <p:nvPr/>
        </p:nvSpPr>
        <p:spPr>
          <a:xfrm>
            <a:off x="4025154" y="2711688"/>
            <a:ext cx="8207188" cy="1000274"/>
          </a:xfrm>
          <a:prstGeom prst="rect">
            <a:avLst/>
          </a:prstGeom>
          <a:solidFill>
            <a:schemeClr val="accent6">
              <a:lumMod val="40000"/>
              <a:lumOff val="60000"/>
            </a:schemeClr>
          </a:solidFill>
        </p:spPr>
        <p:txBody>
          <a:bodyPr wrap="square">
            <a:spAutoFit/>
          </a:bodyPr>
          <a:lstStyle/>
          <a:p>
            <a:r>
              <a:rPr lang="en-ZA" sz="1200" dirty="0">
                <a:solidFill>
                  <a:srgbClr val="0000FF"/>
                </a:solidFill>
                <a:highlight>
                  <a:srgbClr val="FFFFFF"/>
                </a:highlight>
                <a:latin typeface="Cascadia Mono" panose="020B0609020000020004" pitchFamily="49" charset="0"/>
              </a:rPr>
              <a:t>private</a:t>
            </a:r>
            <a:r>
              <a:rPr lang="en-ZA" sz="1200" dirty="0">
                <a:solidFill>
                  <a:srgbClr val="000000"/>
                </a:solidFill>
                <a:highlight>
                  <a:srgbClr val="FFFFFF"/>
                </a:highlight>
                <a:latin typeface="Cascadia Mono" panose="020B0609020000020004" pitchFamily="49" charset="0"/>
              </a:rPr>
              <a:t> </a:t>
            </a:r>
            <a:r>
              <a:rPr lang="en-ZA" sz="1200" dirty="0">
                <a:solidFill>
                  <a:srgbClr val="0000FF"/>
                </a:solidFill>
                <a:highlight>
                  <a:srgbClr val="FFFFFF"/>
                </a:highlight>
                <a:latin typeface="Cascadia Mono" panose="020B0609020000020004" pitchFamily="49" charset="0"/>
              </a:rPr>
              <a:t>void</a:t>
            </a:r>
            <a:r>
              <a:rPr lang="en-ZA" sz="1200" dirty="0">
                <a:solidFill>
                  <a:srgbClr val="000000"/>
                </a:solidFill>
                <a:highlight>
                  <a:srgbClr val="FFFFFF"/>
                </a:highlight>
                <a:latin typeface="Cascadia Mono" panose="020B0609020000020004" pitchFamily="49" charset="0"/>
              </a:rPr>
              <a:t> </a:t>
            </a:r>
            <a:r>
              <a:rPr lang="en-ZA" sz="1200" dirty="0" err="1">
                <a:solidFill>
                  <a:srgbClr val="000000"/>
                </a:solidFill>
                <a:highlight>
                  <a:srgbClr val="FFFFFF"/>
                </a:highlight>
                <a:latin typeface="Cascadia Mono" panose="020B0609020000020004" pitchFamily="49" charset="0"/>
              </a:rPr>
              <a:t>dgvOrder_CellClick</a:t>
            </a:r>
            <a:r>
              <a:rPr lang="en-ZA" sz="1200" dirty="0">
                <a:solidFill>
                  <a:srgbClr val="000000"/>
                </a:solidFill>
                <a:highlight>
                  <a:srgbClr val="FFFFFF"/>
                </a:highlight>
                <a:latin typeface="Cascadia Mono" panose="020B0609020000020004" pitchFamily="49" charset="0"/>
              </a:rPr>
              <a:t>(</a:t>
            </a:r>
            <a:r>
              <a:rPr lang="en-ZA" sz="1200" dirty="0">
                <a:solidFill>
                  <a:srgbClr val="0000FF"/>
                </a:solidFill>
                <a:highlight>
                  <a:srgbClr val="FFFFFF"/>
                </a:highlight>
                <a:latin typeface="Cascadia Mono" panose="020B0609020000020004" pitchFamily="49" charset="0"/>
              </a:rPr>
              <a:t>object</a:t>
            </a:r>
            <a:r>
              <a:rPr lang="en-ZA" sz="1200" dirty="0">
                <a:solidFill>
                  <a:srgbClr val="000000"/>
                </a:solidFill>
                <a:highlight>
                  <a:srgbClr val="FFFFFF"/>
                </a:highlight>
                <a:latin typeface="Cascadia Mono" panose="020B0609020000020004" pitchFamily="49" charset="0"/>
              </a:rPr>
              <a:t> sender, </a:t>
            </a:r>
            <a:r>
              <a:rPr lang="en-ZA" sz="1200" dirty="0" err="1">
                <a:solidFill>
                  <a:srgbClr val="2B91AF"/>
                </a:solidFill>
                <a:highlight>
                  <a:srgbClr val="FFFFFF"/>
                </a:highlight>
                <a:latin typeface="Cascadia Mono" panose="020B0609020000020004" pitchFamily="49" charset="0"/>
              </a:rPr>
              <a:t>DataGridViewCellEventArgs</a:t>
            </a:r>
            <a:r>
              <a:rPr lang="en-ZA" sz="1200" dirty="0">
                <a:solidFill>
                  <a:srgbClr val="000000"/>
                </a:solidFill>
                <a:highlight>
                  <a:srgbClr val="FFFFFF"/>
                </a:highlight>
                <a:latin typeface="Cascadia Mono" panose="020B0609020000020004" pitchFamily="49" charset="0"/>
              </a:rPr>
              <a:t> e)</a:t>
            </a:r>
          </a:p>
          <a:p>
            <a:r>
              <a:rPr lang="en-ZA" dirty="0">
                <a:solidFill>
                  <a:srgbClr val="000000"/>
                </a:solidFill>
                <a:highlight>
                  <a:srgbClr val="FFFFFF"/>
                </a:highlight>
                <a:latin typeface="Cascadia Mono" panose="020B0609020000020004" pitchFamily="49" charset="0"/>
              </a:rPr>
              <a:t>{</a:t>
            </a:r>
          </a:p>
          <a:p>
            <a:r>
              <a:rPr lang="en-ZA" sz="1100" dirty="0">
                <a:solidFill>
                  <a:srgbClr val="000000"/>
                </a:solidFill>
                <a:highlight>
                  <a:srgbClr val="FFFFFF"/>
                </a:highlight>
                <a:latin typeface="Cascadia Mono" panose="020B0609020000020004" pitchFamily="49" charset="0"/>
              </a:rPr>
              <a:t>taBookOrderDetail1.FillByOrderNo(dsBookApp1.OrderDetail,(</a:t>
            </a:r>
            <a:r>
              <a:rPr lang="en-ZA" sz="1100" dirty="0">
                <a:solidFill>
                  <a:srgbClr val="0000FF"/>
                </a:solidFill>
                <a:highlight>
                  <a:srgbClr val="FFFFFF"/>
                </a:highlight>
                <a:latin typeface="Cascadia Mono" panose="020B0609020000020004" pitchFamily="49" charset="0"/>
              </a:rPr>
              <a:t>int</a:t>
            </a:r>
            <a:r>
              <a:rPr lang="en-ZA" sz="1100" dirty="0">
                <a:solidFill>
                  <a:srgbClr val="000000"/>
                </a:solidFill>
                <a:highlight>
                  <a:srgbClr val="FFFFFF"/>
                </a:highlight>
                <a:latin typeface="Cascadia Mono" panose="020B0609020000020004" pitchFamily="49" charset="0"/>
              </a:rPr>
              <a:t>)</a:t>
            </a:r>
            <a:r>
              <a:rPr lang="en-ZA" sz="1100" dirty="0" err="1">
                <a:solidFill>
                  <a:srgbClr val="000000"/>
                </a:solidFill>
                <a:highlight>
                  <a:srgbClr val="FFFFFF"/>
                </a:highlight>
                <a:latin typeface="Cascadia Mono" panose="020B0609020000020004" pitchFamily="49" charset="0"/>
              </a:rPr>
              <a:t>dgvOrder.CurrentRow.Cells</a:t>
            </a:r>
            <a:r>
              <a:rPr lang="en-ZA" sz="1100" dirty="0">
                <a:solidFill>
                  <a:srgbClr val="000000"/>
                </a:solidFill>
                <a:highlight>
                  <a:srgbClr val="FFFFFF"/>
                </a:highlight>
                <a:latin typeface="Cascadia Mono" panose="020B0609020000020004" pitchFamily="49" charset="0"/>
              </a:rPr>
              <a:t>[0].Value);</a:t>
            </a:r>
            <a:endParaRPr lang="en-ZA" dirty="0">
              <a:solidFill>
                <a:srgbClr val="000000"/>
              </a:solidFill>
              <a:highlight>
                <a:srgbClr val="FFFFFF"/>
              </a:highlight>
              <a:latin typeface="Cascadia Mono" panose="020B0609020000020004" pitchFamily="49" charset="0"/>
            </a:endParaRPr>
          </a:p>
          <a:p>
            <a:r>
              <a:rPr lang="en-ZA" dirty="0">
                <a:solidFill>
                  <a:srgbClr val="000000"/>
                </a:solidFill>
                <a:highlight>
                  <a:srgbClr val="FFFFFF"/>
                </a:highlight>
                <a:latin typeface="Cascadia Mono" panose="020B0609020000020004" pitchFamily="49" charset="0"/>
              </a:rPr>
              <a:t>}</a:t>
            </a:r>
            <a:endParaRPr lang="en-ZA" dirty="0"/>
          </a:p>
        </p:txBody>
      </p:sp>
    </p:spTree>
    <p:extLst>
      <p:ext uri="{BB962C8B-B14F-4D97-AF65-F5344CB8AC3E}">
        <p14:creationId xmlns:p14="http://schemas.microsoft.com/office/powerpoint/2010/main" val="3471085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470647" y="2393578"/>
            <a:ext cx="11250706" cy="421340"/>
          </a:xfrm>
        </p:spPr>
        <p:txBody>
          <a:bodyPr/>
          <a:lstStyle/>
          <a:p>
            <a:r>
              <a:rPr lang="en-ZA" b="1" dirty="0">
                <a:solidFill>
                  <a:srgbClr val="C00000"/>
                </a:solidFill>
              </a:rPr>
              <a:t>The old Invoice table …and the new one</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Record of Inner Details is Complete</a:t>
            </a:r>
          </a:p>
        </p:txBody>
      </p:sp>
      <p:pic>
        <p:nvPicPr>
          <p:cNvPr id="4" name="Picture 3">
            <a:extLst>
              <a:ext uri="{FF2B5EF4-FFF2-40B4-BE49-F238E27FC236}">
                <a16:creationId xmlns:a16="http://schemas.microsoft.com/office/drawing/2014/main" id="{488F090A-82CF-491E-9C31-6F0DCB676612}"/>
              </a:ext>
            </a:extLst>
          </p:cNvPr>
          <p:cNvPicPr>
            <a:picLocks noChangeAspect="1"/>
          </p:cNvPicPr>
          <p:nvPr/>
        </p:nvPicPr>
        <p:blipFill>
          <a:blip r:embed="rId2"/>
          <a:stretch>
            <a:fillRect/>
          </a:stretch>
        </p:blipFill>
        <p:spPr>
          <a:xfrm>
            <a:off x="10020112" y="1048872"/>
            <a:ext cx="2171888" cy="1120237"/>
          </a:xfrm>
          <a:prstGeom prst="rect">
            <a:avLst/>
          </a:prstGeom>
        </p:spPr>
      </p:pic>
      <p:pic>
        <p:nvPicPr>
          <p:cNvPr id="5" name="Picture 4">
            <a:extLst>
              <a:ext uri="{FF2B5EF4-FFF2-40B4-BE49-F238E27FC236}">
                <a16:creationId xmlns:a16="http://schemas.microsoft.com/office/drawing/2014/main" id="{1B59F7BC-1F04-4773-8B7C-6E93B2878F20}"/>
              </a:ext>
            </a:extLst>
          </p:cNvPr>
          <p:cNvPicPr>
            <a:picLocks noChangeAspect="1"/>
          </p:cNvPicPr>
          <p:nvPr/>
        </p:nvPicPr>
        <p:blipFill>
          <a:blip r:embed="rId3"/>
          <a:stretch>
            <a:fillRect/>
          </a:stretch>
        </p:blipFill>
        <p:spPr>
          <a:xfrm>
            <a:off x="10077267" y="2090739"/>
            <a:ext cx="2057578" cy="1242168"/>
          </a:xfrm>
          <a:prstGeom prst="rect">
            <a:avLst/>
          </a:prstGeom>
        </p:spPr>
      </p:pic>
      <p:sp>
        <p:nvSpPr>
          <p:cNvPr id="6" name="Text Placeholder 1">
            <a:extLst>
              <a:ext uri="{FF2B5EF4-FFF2-40B4-BE49-F238E27FC236}">
                <a16:creationId xmlns:a16="http://schemas.microsoft.com/office/drawing/2014/main" id="{596DDD4A-F8E3-41D2-82FB-CE4FF57B07DC}"/>
              </a:ext>
            </a:extLst>
          </p:cNvPr>
          <p:cNvSpPr txBox="1">
            <a:spLocks/>
          </p:cNvSpPr>
          <p:nvPr/>
        </p:nvSpPr>
        <p:spPr>
          <a:xfrm>
            <a:off x="470647" y="941120"/>
            <a:ext cx="11250706" cy="1335740"/>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solidFill>
                  <a:srgbClr val="C00000"/>
                </a:solidFill>
              </a:rPr>
              <a:t>What if you wanted to enable the user to purchase a quantity greater than one</a:t>
            </a:r>
          </a:p>
          <a:p>
            <a:r>
              <a:rPr lang="en-ZA" b="1" dirty="0">
                <a:solidFill>
                  <a:srgbClr val="C00000"/>
                </a:solidFill>
              </a:rPr>
              <a:t>You can change the Invoice table by adding in a Quantity column</a:t>
            </a:r>
          </a:p>
          <a:p>
            <a:r>
              <a:rPr lang="en-ZA" b="1" dirty="0">
                <a:solidFill>
                  <a:srgbClr val="C00000"/>
                </a:solidFill>
              </a:rPr>
              <a:t>The old Invoice table …and the new one</a:t>
            </a:r>
          </a:p>
        </p:txBody>
      </p:sp>
      <p:sp>
        <p:nvSpPr>
          <p:cNvPr id="7" name="Text Placeholder 1">
            <a:extLst>
              <a:ext uri="{FF2B5EF4-FFF2-40B4-BE49-F238E27FC236}">
                <a16:creationId xmlns:a16="http://schemas.microsoft.com/office/drawing/2014/main" id="{B2EF189D-9E60-4BCC-B11E-C9EF1F5D04CC}"/>
              </a:ext>
            </a:extLst>
          </p:cNvPr>
          <p:cNvSpPr txBox="1">
            <a:spLocks/>
          </p:cNvSpPr>
          <p:nvPr/>
        </p:nvSpPr>
        <p:spPr>
          <a:xfrm>
            <a:off x="228600" y="3379254"/>
            <a:ext cx="11250706" cy="421340"/>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solidFill>
                  <a:srgbClr val="C00000"/>
                </a:solidFill>
              </a:rPr>
              <a:t>Rebuild the application…Reset the data source for the Invoice </a:t>
            </a:r>
            <a:r>
              <a:rPr lang="en-ZA" b="1" dirty="0" err="1">
                <a:solidFill>
                  <a:srgbClr val="C00000"/>
                </a:solidFill>
              </a:rPr>
              <a:t>Gridview</a:t>
            </a:r>
            <a:r>
              <a:rPr lang="en-ZA" b="1" dirty="0">
                <a:solidFill>
                  <a:srgbClr val="C00000"/>
                </a:solidFill>
              </a:rPr>
              <a:t> and the Invoice </a:t>
            </a:r>
            <a:r>
              <a:rPr lang="en-ZA" b="1" dirty="0" err="1">
                <a:solidFill>
                  <a:srgbClr val="C00000"/>
                </a:solidFill>
              </a:rPr>
              <a:t>Gridview</a:t>
            </a:r>
            <a:r>
              <a:rPr lang="en-ZA" b="1" dirty="0">
                <a:solidFill>
                  <a:srgbClr val="C00000"/>
                </a:solidFill>
              </a:rPr>
              <a:t> changes from </a:t>
            </a:r>
          </a:p>
        </p:txBody>
      </p:sp>
      <p:pic>
        <p:nvPicPr>
          <p:cNvPr id="8" name="Picture 7">
            <a:extLst>
              <a:ext uri="{FF2B5EF4-FFF2-40B4-BE49-F238E27FC236}">
                <a16:creationId xmlns:a16="http://schemas.microsoft.com/office/drawing/2014/main" id="{09BC1E97-7715-4F22-8844-FDA9BF612E89}"/>
              </a:ext>
            </a:extLst>
          </p:cNvPr>
          <p:cNvPicPr>
            <a:picLocks noChangeAspect="1"/>
          </p:cNvPicPr>
          <p:nvPr/>
        </p:nvPicPr>
        <p:blipFill>
          <a:blip r:embed="rId4"/>
          <a:stretch>
            <a:fillRect/>
          </a:stretch>
        </p:blipFill>
        <p:spPr>
          <a:xfrm>
            <a:off x="10027318" y="3569554"/>
            <a:ext cx="1463167" cy="655377"/>
          </a:xfrm>
          <a:prstGeom prst="rect">
            <a:avLst/>
          </a:prstGeom>
        </p:spPr>
      </p:pic>
      <p:sp>
        <p:nvSpPr>
          <p:cNvPr id="9" name="Text Placeholder 1">
            <a:extLst>
              <a:ext uri="{FF2B5EF4-FFF2-40B4-BE49-F238E27FC236}">
                <a16:creationId xmlns:a16="http://schemas.microsoft.com/office/drawing/2014/main" id="{50C53214-4A45-4797-912C-888E5E31B7D0}"/>
              </a:ext>
            </a:extLst>
          </p:cNvPr>
          <p:cNvSpPr txBox="1">
            <a:spLocks/>
          </p:cNvSpPr>
          <p:nvPr/>
        </p:nvSpPr>
        <p:spPr>
          <a:xfrm>
            <a:off x="228600" y="4481648"/>
            <a:ext cx="11250706" cy="421340"/>
          </a:xfrm>
          <a:prstGeom prst="rect">
            <a:avLst/>
          </a:prstGeom>
        </p:spPr>
        <p:txBody>
          <a:bodyPr vert="horz" wrap="square" lIns="0" tIns="45720" rIns="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kern="1200" dirty="0" smtClean="0">
                <a:solidFill>
                  <a:schemeClr val="tx1"/>
                </a:solidFill>
                <a:latin typeface="+mn-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b="1" dirty="0">
                <a:solidFill>
                  <a:srgbClr val="C00000"/>
                </a:solidFill>
              </a:rPr>
              <a:t>To a </a:t>
            </a:r>
            <a:r>
              <a:rPr lang="en-ZA" b="1" dirty="0" err="1">
                <a:solidFill>
                  <a:srgbClr val="C00000"/>
                </a:solidFill>
              </a:rPr>
              <a:t>Gridview</a:t>
            </a:r>
            <a:r>
              <a:rPr lang="en-ZA" b="1" dirty="0">
                <a:solidFill>
                  <a:srgbClr val="C00000"/>
                </a:solidFill>
              </a:rPr>
              <a:t> with a Quantity column</a:t>
            </a:r>
          </a:p>
        </p:txBody>
      </p:sp>
      <p:pic>
        <p:nvPicPr>
          <p:cNvPr id="10" name="Picture 9">
            <a:extLst>
              <a:ext uri="{FF2B5EF4-FFF2-40B4-BE49-F238E27FC236}">
                <a16:creationId xmlns:a16="http://schemas.microsoft.com/office/drawing/2014/main" id="{2806C7DD-3AB5-4CB8-993A-817F40286DB7}"/>
              </a:ext>
            </a:extLst>
          </p:cNvPr>
          <p:cNvPicPr>
            <a:picLocks noChangeAspect="1"/>
          </p:cNvPicPr>
          <p:nvPr/>
        </p:nvPicPr>
        <p:blipFill>
          <a:blip r:embed="rId5"/>
          <a:stretch>
            <a:fillRect/>
          </a:stretch>
        </p:blipFill>
        <p:spPr>
          <a:xfrm>
            <a:off x="8087642" y="4649197"/>
            <a:ext cx="3642676" cy="1348857"/>
          </a:xfrm>
          <a:prstGeom prst="rect">
            <a:avLst/>
          </a:prstGeom>
        </p:spPr>
      </p:pic>
    </p:spTree>
    <p:extLst>
      <p:ext uri="{BB962C8B-B14F-4D97-AF65-F5344CB8AC3E}">
        <p14:creationId xmlns:p14="http://schemas.microsoft.com/office/powerpoint/2010/main" val="114253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P spid="7"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AC22F8-D289-4B48-B350-D37A45838DF9}"/>
              </a:ext>
            </a:extLst>
          </p:cNvPr>
          <p:cNvSpPr>
            <a:spLocks noGrp="1"/>
          </p:cNvSpPr>
          <p:nvPr>
            <p:ph type="body" sz="quarter" idx="11"/>
          </p:nvPr>
        </p:nvSpPr>
        <p:spPr>
          <a:xfrm>
            <a:off x="510988" y="576073"/>
            <a:ext cx="11250706" cy="1273704"/>
          </a:xfrm>
        </p:spPr>
        <p:txBody>
          <a:bodyPr/>
          <a:lstStyle/>
          <a:p>
            <a:r>
              <a:rPr lang="en-ZA" b="1" dirty="0">
                <a:solidFill>
                  <a:srgbClr val="C00000"/>
                </a:solidFill>
              </a:rPr>
              <a:t>When a Book is chosen, the Book Row is added to the Invoice and the Quantity is set to 1</a:t>
            </a:r>
          </a:p>
          <a:p>
            <a:r>
              <a:rPr lang="en-ZA" b="1" dirty="0">
                <a:solidFill>
                  <a:srgbClr val="C00000"/>
                </a:solidFill>
              </a:rPr>
              <a:t>This value can be edited and changed to any quantity value that is preferred…also you need to update the Total calculation by including the Quantity field</a:t>
            </a:r>
          </a:p>
          <a:p>
            <a:r>
              <a:rPr lang="en-ZA" b="1" dirty="0">
                <a:solidFill>
                  <a:srgbClr val="C00000"/>
                </a:solidFill>
              </a:rPr>
              <a:t>Adjustments are required for the code record the sale as well because the quantity value has to be included</a:t>
            </a:r>
          </a:p>
        </p:txBody>
      </p:sp>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3"/>
            <a:ext cx="10815864" cy="526900"/>
          </a:xfrm>
          <a:solidFill>
            <a:schemeClr val="accent2">
              <a:lumMod val="10000"/>
              <a:lumOff val="90000"/>
            </a:schemeClr>
          </a:solidFill>
        </p:spPr>
        <p:txBody>
          <a:bodyPr/>
          <a:lstStyle/>
          <a:p>
            <a:pPr algn="ctr"/>
            <a:r>
              <a:rPr lang="en-ZA" b="1" u="sng" dirty="0"/>
              <a:t>Adding rows to Invoice </a:t>
            </a:r>
            <a:r>
              <a:rPr lang="en-ZA" b="1" u="sng" dirty="0" err="1"/>
              <a:t>Gridview</a:t>
            </a:r>
            <a:r>
              <a:rPr lang="en-ZA" b="1" u="sng" dirty="0"/>
              <a:t> with </a:t>
            </a:r>
            <a:r>
              <a:rPr lang="en-ZA" b="1" u="sng" dirty="0">
                <a:solidFill>
                  <a:srgbClr val="FF0000"/>
                </a:solidFill>
              </a:rPr>
              <a:t>Quantity</a:t>
            </a:r>
          </a:p>
        </p:txBody>
      </p:sp>
      <p:grpSp>
        <p:nvGrpSpPr>
          <p:cNvPr id="7" name="Group 6">
            <a:extLst>
              <a:ext uri="{FF2B5EF4-FFF2-40B4-BE49-F238E27FC236}">
                <a16:creationId xmlns:a16="http://schemas.microsoft.com/office/drawing/2014/main" id="{82F8DE7C-D728-40DB-9B4A-C0F4629744DB}"/>
              </a:ext>
            </a:extLst>
          </p:cNvPr>
          <p:cNvGrpSpPr/>
          <p:nvPr/>
        </p:nvGrpSpPr>
        <p:grpSpPr>
          <a:xfrm>
            <a:off x="598905" y="1161288"/>
            <a:ext cx="10945368" cy="3560373"/>
            <a:chOff x="598905" y="1161288"/>
            <a:chExt cx="10945368" cy="3560373"/>
          </a:xfrm>
        </p:grpSpPr>
        <p:sp>
          <p:nvSpPr>
            <p:cNvPr id="4" name="Rectangle 3">
              <a:extLst>
                <a:ext uri="{FF2B5EF4-FFF2-40B4-BE49-F238E27FC236}">
                  <a16:creationId xmlns:a16="http://schemas.microsoft.com/office/drawing/2014/main" id="{71553AA1-5336-4823-9199-570AF6AB1543}"/>
                </a:ext>
              </a:extLst>
            </p:cNvPr>
            <p:cNvSpPr/>
            <p:nvPr/>
          </p:nvSpPr>
          <p:spPr>
            <a:xfrm>
              <a:off x="598905" y="2136338"/>
              <a:ext cx="10945368" cy="2585323"/>
            </a:xfrm>
            <a:prstGeom prst="rect">
              <a:avLst/>
            </a:prstGeom>
          </p:spPr>
          <p:txBody>
            <a:bodyPr wrap="square">
              <a:spAutoFit/>
            </a:bodyPr>
            <a:lstStyle/>
            <a:p>
              <a:r>
                <a:rPr lang="en-ZA" dirty="0">
                  <a:solidFill>
                    <a:srgbClr val="0000FF"/>
                  </a:solidFill>
                  <a:highlight>
                    <a:srgbClr val="FFFFFF"/>
                  </a:highlight>
                  <a:latin typeface="Cascadia Mono" panose="020B0609020000020004" pitchFamily="49" charset="0"/>
                </a:rPr>
                <a:t>private</a:t>
              </a:r>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double</a:t>
              </a:r>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getTotal</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double</a:t>
              </a:r>
              <a:r>
                <a:rPr lang="en-ZA" dirty="0">
                  <a:solidFill>
                    <a:srgbClr val="000000"/>
                  </a:solidFill>
                  <a:highlight>
                    <a:srgbClr val="FFFFFF"/>
                  </a:highlight>
                  <a:latin typeface="Cascadia Mono" panose="020B0609020000020004" pitchFamily="49" charset="0"/>
                </a:rPr>
                <a:t> sum = 0;</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for</a:t>
              </a:r>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int</a:t>
              </a:r>
              <a:r>
                <a:rPr lang="en-ZA" dirty="0">
                  <a:solidFill>
                    <a:srgbClr val="000000"/>
                  </a:solidFill>
                  <a:highlight>
                    <a:srgbClr val="FFFFFF"/>
                  </a:highlight>
                  <a:latin typeface="Cascadia Mono" panose="020B0609020000020004" pitchFamily="49" charset="0"/>
                </a:rPr>
                <a:t>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 = 0;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 &lt; dsBookApp1.Invoice.Rows.Count; </a:t>
              </a:r>
              <a:r>
                <a:rPr lang="en-ZA" dirty="0" err="1">
                  <a:solidFill>
                    <a:srgbClr val="000000"/>
                  </a:solidFill>
                  <a:highlight>
                    <a:srgbClr val="FFFFFF"/>
                  </a:highlight>
                  <a:latin typeface="Cascadia Mono" panose="020B0609020000020004" pitchFamily="49" charset="0"/>
                </a:rPr>
                <a:t>i</a:t>
              </a:r>
              <a:r>
                <a:rPr lang="en-ZA" dirty="0">
                  <a:solidFill>
                    <a:srgbClr val="000000"/>
                  </a:solidFill>
                  <a:highlight>
                    <a:srgbClr val="FFFFFF"/>
                  </a:highlight>
                  <a:latin typeface="Cascadia Mono" panose="020B0609020000020004" pitchFamily="49" charset="0"/>
                </a:rPr>
                <a:t>++)</a:t>
              </a: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a:t>
              </a:r>
              <a:r>
                <a:rPr lang="en-ZA" sz="1200" dirty="0">
                  <a:solidFill>
                    <a:srgbClr val="000000"/>
                  </a:solidFill>
                  <a:highlight>
                    <a:srgbClr val="FFFFFF"/>
                  </a:highlight>
                  <a:latin typeface="Cascadia Mono" panose="020B0609020000020004" pitchFamily="49" charset="0"/>
                </a:rPr>
                <a:t>sum += </a:t>
              </a:r>
              <a:r>
                <a:rPr lang="en-ZA" sz="1200" dirty="0" err="1">
                  <a:solidFill>
                    <a:srgbClr val="2B91AF"/>
                  </a:solidFill>
                  <a:highlight>
                    <a:srgbClr val="FFFFFF"/>
                  </a:highlight>
                  <a:latin typeface="Cascadia Mono" panose="020B0609020000020004" pitchFamily="49" charset="0"/>
                </a:rPr>
                <a:t>Convert</a:t>
              </a:r>
              <a:r>
                <a:rPr lang="en-ZA" sz="1200" dirty="0" err="1">
                  <a:solidFill>
                    <a:srgbClr val="000000"/>
                  </a:solidFill>
                  <a:highlight>
                    <a:srgbClr val="FFFFFF"/>
                  </a:highlight>
                  <a:latin typeface="Cascadia Mono" panose="020B0609020000020004" pitchFamily="49" charset="0"/>
                </a:rPr>
                <a:t>.ToDouble</a:t>
              </a:r>
              <a:r>
                <a:rPr lang="en-ZA" sz="1200" dirty="0">
                  <a:solidFill>
                    <a:srgbClr val="000000"/>
                  </a:solidFill>
                  <a:highlight>
                    <a:srgbClr val="FFFFFF"/>
                  </a:highlight>
                  <a:latin typeface="Cascadia Mono" panose="020B0609020000020004" pitchFamily="49" charset="0"/>
                </a:rPr>
                <a:t>(dsBookApp1.Invoice.Rows[</a:t>
              </a:r>
              <a:r>
                <a:rPr lang="en-ZA" sz="1200" dirty="0" err="1">
                  <a:solidFill>
                    <a:srgbClr val="000000"/>
                  </a:solidFill>
                  <a:highlight>
                    <a:srgbClr val="FFFFFF"/>
                  </a:highlight>
                  <a:latin typeface="Cascadia Mono" panose="020B0609020000020004" pitchFamily="49" charset="0"/>
                </a:rPr>
                <a:t>i</a:t>
              </a:r>
              <a:r>
                <a:rPr lang="en-ZA" sz="1200" dirty="0">
                  <a:solidFill>
                    <a:srgbClr val="000000"/>
                  </a:solidFill>
                  <a:highlight>
                    <a:srgbClr val="FFFFFF"/>
                  </a:highlight>
                  <a:latin typeface="Cascadia Mono" panose="020B0609020000020004" pitchFamily="49" charset="0"/>
                </a:rPr>
                <a:t>][1])* </a:t>
              </a:r>
              <a:r>
                <a:rPr lang="en-ZA" sz="1200" dirty="0">
                  <a:solidFill>
                    <a:srgbClr val="2B91AF"/>
                  </a:solidFill>
                  <a:highlight>
                    <a:srgbClr val="FFFFFF"/>
                  </a:highlight>
                  <a:latin typeface="Cascadia Mono" panose="020B0609020000020004" pitchFamily="49" charset="0"/>
                </a:rPr>
                <a:t>Convert</a:t>
              </a:r>
              <a:r>
                <a:rPr lang="en-ZA" sz="1200" dirty="0">
                  <a:solidFill>
                    <a:srgbClr val="000000"/>
                  </a:solidFill>
                  <a:highlight>
                    <a:srgbClr val="FFFFFF"/>
                  </a:highlight>
                  <a:latin typeface="Cascadia Mono" panose="020B0609020000020004" pitchFamily="49" charset="0"/>
                </a:rPr>
                <a:t>.ToInt16(dsBookApp1.Invoice.Rows[</a:t>
              </a:r>
              <a:r>
                <a:rPr lang="en-ZA" sz="1200" dirty="0" err="1">
                  <a:solidFill>
                    <a:srgbClr val="000000"/>
                  </a:solidFill>
                  <a:highlight>
                    <a:srgbClr val="FFFFFF"/>
                  </a:highlight>
                  <a:latin typeface="Cascadia Mono" panose="020B0609020000020004" pitchFamily="49" charset="0"/>
                </a:rPr>
                <a:t>i</a:t>
              </a:r>
              <a:r>
                <a:rPr lang="en-ZA" sz="1200" dirty="0">
                  <a:solidFill>
                    <a:srgbClr val="000000"/>
                  </a:solidFill>
                  <a:highlight>
                    <a:srgbClr val="FFFFFF"/>
                  </a:highlight>
                  <a:latin typeface="Cascadia Mono" panose="020B0609020000020004" pitchFamily="49" charset="0"/>
                </a:rPr>
                <a:t>][2]);</a:t>
              </a:r>
              <a:endParaRPr lang="en-ZA" dirty="0">
                <a:solidFill>
                  <a:srgbClr val="000000"/>
                </a:solidFill>
                <a:highlight>
                  <a:srgbClr val="FFFFFF"/>
                </a:highlight>
                <a:latin typeface="Cascadia Mono" panose="020B0609020000020004" pitchFamily="49" charset="0"/>
              </a:endParaRPr>
            </a:p>
            <a:p>
              <a:r>
                <a:rPr lang="en-ZA" dirty="0">
                  <a:solidFill>
                    <a:srgbClr val="000000"/>
                  </a:solidFill>
                  <a:highlight>
                    <a:srgbClr val="FFFFFF"/>
                  </a:highlight>
                  <a:latin typeface="Cascadia Mono" panose="020B0609020000020004" pitchFamily="49" charset="0"/>
                </a:rPr>
                <a:t>  }</a:t>
              </a:r>
            </a:p>
            <a:p>
              <a:r>
                <a:rPr lang="en-ZA" dirty="0">
                  <a:solidFill>
                    <a:srgbClr val="000000"/>
                  </a:solidFill>
                  <a:highlight>
                    <a:srgbClr val="FFFFFF"/>
                  </a:highlight>
                  <a:latin typeface="Cascadia Mono" panose="020B0609020000020004" pitchFamily="49" charset="0"/>
                </a:rPr>
                <a:t>  </a:t>
              </a:r>
              <a:r>
                <a:rPr lang="en-ZA" dirty="0">
                  <a:solidFill>
                    <a:srgbClr val="0000FF"/>
                  </a:solidFill>
                  <a:highlight>
                    <a:srgbClr val="FFFFFF"/>
                  </a:highlight>
                  <a:latin typeface="Cascadia Mono" panose="020B0609020000020004" pitchFamily="49" charset="0"/>
                </a:rPr>
                <a:t>return</a:t>
              </a:r>
              <a:r>
                <a:rPr lang="en-ZA" dirty="0">
                  <a:solidFill>
                    <a:srgbClr val="000000"/>
                  </a:solidFill>
                  <a:highlight>
                    <a:srgbClr val="FFFFFF"/>
                  </a:highlight>
                  <a:latin typeface="Cascadia Mono" panose="020B0609020000020004" pitchFamily="49" charset="0"/>
                </a:rPr>
                <a:t> sum;</a:t>
              </a:r>
            </a:p>
            <a:p>
              <a:r>
                <a:rPr lang="en-ZA" dirty="0">
                  <a:solidFill>
                    <a:srgbClr val="000000"/>
                  </a:solidFill>
                  <a:highlight>
                    <a:srgbClr val="FFFFFF"/>
                  </a:highlight>
                  <a:latin typeface="Cascadia Mono" panose="020B0609020000020004" pitchFamily="49" charset="0"/>
                </a:rPr>
                <a:t>}</a:t>
              </a:r>
              <a:endParaRPr lang="en-ZA" dirty="0"/>
            </a:p>
          </p:txBody>
        </p:sp>
        <p:cxnSp>
          <p:nvCxnSpPr>
            <p:cNvPr id="6" name="Straight Arrow Connector 5">
              <a:extLst>
                <a:ext uri="{FF2B5EF4-FFF2-40B4-BE49-F238E27FC236}">
                  <a16:creationId xmlns:a16="http://schemas.microsoft.com/office/drawing/2014/main" id="{DAD7271C-4952-4847-A77D-46E7C76D4B97}"/>
                </a:ext>
              </a:extLst>
            </p:cNvPr>
            <p:cNvCxnSpPr/>
            <p:nvPr/>
          </p:nvCxnSpPr>
          <p:spPr>
            <a:xfrm>
              <a:off x="9592056" y="1161288"/>
              <a:ext cx="91440" cy="2377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858829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3560E8-761E-40D9-B650-32747B87B989}"/>
              </a:ext>
            </a:extLst>
          </p:cNvPr>
          <p:cNvSpPr>
            <a:spLocks noGrp="1"/>
          </p:cNvSpPr>
          <p:nvPr>
            <p:ph type="title"/>
          </p:nvPr>
        </p:nvSpPr>
        <p:spPr>
          <a:xfrm>
            <a:off x="728409" y="49172"/>
            <a:ext cx="10815864" cy="830997"/>
          </a:xfrm>
          <a:solidFill>
            <a:schemeClr val="accent2">
              <a:lumMod val="10000"/>
              <a:lumOff val="90000"/>
            </a:schemeClr>
          </a:solidFill>
        </p:spPr>
        <p:txBody>
          <a:bodyPr/>
          <a:lstStyle/>
          <a:p>
            <a:pPr algn="ctr"/>
            <a:r>
              <a:rPr lang="en-ZA" b="1" u="sng" dirty="0"/>
              <a:t>The code to record the Order with Quantity Included</a:t>
            </a:r>
          </a:p>
        </p:txBody>
      </p:sp>
      <p:sp>
        <p:nvSpPr>
          <p:cNvPr id="4" name="Rectangle 3">
            <a:extLst>
              <a:ext uri="{FF2B5EF4-FFF2-40B4-BE49-F238E27FC236}">
                <a16:creationId xmlns:a16="http://schemas.microsoft.com/office/drawing/2014/main" id="{EDE727BF-FC5A-4026-AE45-2FD4115D2147}"/>
              </a:ext>
            </a:extLst>
          </p:cNvPr>
          <p:cNvSpPr/>
          <p:nvPr/>
        </p:nvSpPr>
        <p:spPr>
          <a:xfrm>
            <a:off x="265714" y="905232"/>
            <a:ext cx="11926286" cy="4355038"/>
          </a:xfrm>
          <a:prstGeom prst="rect">
            <a:avLst/>
          </a:prstGeom>
        </p:spPr>
        <p:txBody>
          <a:bodyPr wrap="square">
            <a:spAutoFit/>
          </a:bodyPr>
          <a:lstStyle/>
          <a:p>
            <a:r>
              <a:rPr lang="en-US" sz="1400" dirty="0">
                <a:solidFill>
                  <a:srgbClr val="0000FF"/>
                </a:solidFill>
                <a:highlight>
                  <a:srgbClr val="FFFFFF"/>
                </a:highlight>
                <a:latin typeface="Cascadia Mono" panose="020B0609020000020004" pitchFamily="49" charset="0"/>
              </a:rPr>
              <a:t>private</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void</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btnRecordSale_Click</a:t>
            </a:r>
            <a:r>
              <a:rPr lang="en-US" sz="1400" dirty="0">
                <a:solidFill>
                  <a:srgbClr val="000000"/>
                </a:solidFill>
                <a:highlight>
                  <a:srgbClr val="FFFFFF"/>
                </a:highlight>
                <a:latin typeface="Cascadia Mono" panose="020B0609020000020004" pitchFamily="49" charset="0"/>
              </a:rPr>
              <a:t>(</a:t>
            </a:r>
            <a:r>
              <a:rPr lang="en-US" sz="1400" dirty="0">
                <a:solidFill>
                  <a:srgbClr val="0000FF"/>
                </a:solidFill>
                <a:highlight>
                  <a:srgbClr val="FFFFFF"/>
                </a:highlight>
                <a:latin typeface="Cascadia Mono" panose="020B0609020000020004" pitchFamily="49" charset="0"/>
              </a:rPr>
              <a:t>object</a:t>
            </a:r>
            <a:r>
              <a:rPr lang="en-US" sz="1400" dirty="0">
                <a:solidFill>
                  <a:srgbClr val="000000"/>
                </a:solidFill>
                <a:highlight>
                  <a:srgbClr val="FFFFFF"/>
                </a:highlight>
                <a:latin typeface="Cascadia Mono" panose="020B0609020000020004" pitchFamily="49" charset="0"/>
              </a:rPr>
              <a:t> sender, </a:t>
            </a:r>
            <a:r>
              <a:rPr lang="en-US" sz="1400" dirty="0" err="1">
                <a:solidFill>
                  <a:srgbClr val="2B91AF"/>
                </a:solidFill>
                <a:highlight>
                  <a:srgbClr val="FFFFFF"/>
                </a:highlight>
                <a:latin typeface="Cascadia Mono" panose="020B0609020000020004" pitchFamily="49" charset="0"/>
              </a:rPr>
              <a:t>EventArgs</a:t>
            </a:r>
            <a:r>
              <a:rPr lang="en-US" sz="1400" dirty="0">
                <a:solidFill>
                  <a:srgbClr val="000000"/>
                </a:solidFill>
                <a:highlight>
                  <a:srgbClr val="FFFFFF"/>
                </a:highlight>
                <a:latin typeface="Cascadia Mono" panose="020B0609020000020004" pitchFamily="49" charset="0"/>
              </a:rPr>
              <a:t> e)</a:t>
            </a:r>
          </a:p>
          <a:p>
            <a:r>
              <a:rPr lang="en-ZA" sz="1400" dirty="0">
                <a:solidFill>
                  <a:srgbClr val="000000"/>
                </a:solidFill>
                <a:highlight>
                  <a:srgbClr val="FFFFFF"/>
                </a:highlight>
                <a:latin typeface="Cascadia Mono" panose="020B0609020000020004" pitchFamily="49" charset="0"/>
              </a:rPr>
              <a:t>{</a:t>
            </a:r>
          </a:p>
          <a:p>
            <a:r>
              <a:rPr lang="en-ZA" sz="1400" dirty="0">
                <a:solidFill>
                  <a:srgbClr val="000000"/>
                </a:solidFill>
                <a:highlight>
                  <a:srgbClr val="FFFFFF"/>
                </a:highlight>
                <a:latin typeface="Cascadia Mono" panose="020B0609020000020004" pitchFamily="49" charset="0"/>
              </a:rPr>
              <a:t>  </a:t>
            </a:r>
            <a:r>
              <a:rPr lang="en-ZA" sz="1400" dirty="0">
                <a:solidFill>
                  <a:srgbClr val="0000FF"/>
                </a:solidFill>
                <a:highlight>
                  <a:srgbClr val="FFFFFF"/>
                </a:highlight>
                <a:latin typeface="Cascadia Mono" panose="020B0609020000020004" pitchFamily="49" charset="0"/>
              </a:rPr>
              <a:t>int</a:t>
            </a:r>
            <a:r>
              <a:rPr lang="en-ZA" sz="1400" dirty="0">
                <a:solidFill>
                  <a:srgbClr val="000000"/>
                </a:solidFill>
                <a:highlight>
                  <a:srgbClr val="FFFFFF"/>
                </a:highlight>
                <a:latin typeface="Cascadia Mono" panose="020B0609020000020004" pitchFamily="49" charset="0"/>
              </a:rPr>
              <a:t> pk;</a:t>
            </a:r>
          </a:p>
          <a:p>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DialogResult</a:t>
            </a:r>
            <a:r>
              <a:rPr lang="en-ZA" sz="1400" dirty="0">
                <a:solidFill>
                  <a:srgbClr val="000000"/>
                </a:solidFill>
                <a:highlight>
                  <a:srgbClr val="FFFFFF"/>
                </a:highlight>
                <a:latin typeface="Cascadia Mono" panose="020B0609020000020004" pitchFamily="49" charset="0"/>
              </a:rPr>
              <a:t> result = </a:t>
            </a:r>
            <a:r>
              <a:rPr lang="en-ZA" sz="1400" dirty="0" err="1">
                <a:solidFill>
                  <a:srgbClr val="2B91AF"/>
                </a:solidFill>
                <a:highlight>
                  <a:srgbClr val="FFFFFF"/>
                </a:highlight>
                <a:latin typeface="Cascadia Mono" panose="020B0609020000020004" pitchFamily="49" charset="0"/>
              </a:rPr>
              <a:t>MessageBox</a:t>
            </a:r>
            <a:r>
              <a:rPr lang="en-ZA" sz="1400" dirty="0" err="1">
                <a:solidFill>
                  <a:srgbClr val="000000"/>
                </a:solidFill>
                <a:highlight>
                  <a:srgbClr val="FFFFFF"/>
                </a:highlight>
                <a:latin typeface="Cascadia Mono" panose="020B0609020000020004" pitchFamily="49" charset="0"/>
              </a:rPr>
              <a:t>.Show</a:t>
            </a:r>
            <a:r>
              <a:rPr lang="en-ZA" sz="1400" dirty="0">
                <a:solidFill>
                  <a:srgbClr val="000000"/>
                </a:solidFill>
                <a:highlight>
                  <a:srgbClr val="FFFFFF"/>
                </a:highlight>
                <a:latin typeface="Cascadia Mono" panose="020B0609020000020004" pitchFamily="49" charset="0"/>
              </a:rPr>
              <a:t>(</a:t>
            </a:r>
            <a:r>
              <a:rPr lang="en-ZA" sz="1400" dirty="0">
                <a:solidFill>
                  <a:srgbClr val="A31515"/>
                </a:solidFill>
                <a:highlight>
                  <a:srgbClr val="FFFFFF"/>
                </a:highlight>
                <a:latin typeface="Cascadia Mono" panose="020B0609020000020004" pitchFamily="49" charset="0"/>
              </a:rPr>
              <a:t>"Do you want to Confirm?"</a:t>
            </a:r>
            <a:r>
              <a:rPr lang="en-ZA" sz="1400" dirty="0">
                <a:solidFill>
                  <a:srgbClr val="000000"/>
                </a:solidFill>
                <a:highlight>
                  <a:srgbClr val="FFFFFF"/>
                </a:highlight>
                <a:latin typeface="Cascadia Mono" panose="020B0609020000020004" pitchFamily="49" charset="0"/>
              </a:rPr>
              <a:t>, </a:t>
            </a:r>
            <a:r>
              <a:rPr lang="en-ZA" sz="1400" dirty="0">
                <a:solidFill>
                  <a:srgbClr val="A31515"/>
                </a:solidFill>
                <a:highlight>
                  <a:srgbClr val="FFFFFF"/>
                </a:highlight>
                <a:latin typeface="Cascadia Mono" panose="020B0609020000020004" pitchFamily="49" charset="0"/>
              </a:rPr>
              <a:t>"Confirmation"</a:t>
            </a:r>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MessageBoxButtons</a:t>
            </a:r>
            <a:r>
              <a:rPr lang="en-ZA" sz="1400" dirty="0" err="1">
                <a:solidFill>
                  <a:srgbClr val="000000"/>
                </a:solidFill>
                <a:highlight>
                  <a:srgbClr val="FFFFFF"/>
                </a:highlight>
                <a:latin typeface="Cascadia Mono" panose="020B0609020000020004" pitchFamily="49" charset="0"/>
              </a:rPr>
              <a:t>.YesNoCancel</a:t>
            </a:r>
            <a:r>
              <a:rPr lang="en-ZA" sz="1400" dirty="0">
                <a:solidFill>
                  <a:srgbClr val="000000"/>
                </a:solidFill>
                <a:highlight>
                  <a:srgbClr val="FFFFFF"/>
                </a:highlight>
                <a:latin typeface="Cascadia Mono" panose="020B0609020000020004" pitchFamily="49" charset="0"/>
              </a:rPr>
              <a:t>);</a:t>
            </a:r>
          </a:p>
          <a:p>
            <a:r>
              <a:rPr lang="en-ZA" sz="1400" dirty="0">
                <a:solidFill>
                  <a:srgbClr val="000000"/>
                </a:solidFill>
                <a:highlight>
                  <a:srgbClr val="FFFFFF"/>
                </a:highlight>
                <a:latin typeface="Cascadia Mono" panose="020B0609020000020004" pitchFamily="49" charset="0"/>
              </a:rPr>
              <a:t> </a:t>
            </a:r>
            <a:r>
              <a:rPr lang="en-ZA" sz="1400" dirty="0">
                <a:solidFill>
                  <a:srgbClr val="0000FF"/>
                </a:solidFill>
                <a:highlight>
                  <a:srgbClr val="FFFFFF"/>
                </a:highlight>
                <a:latin typeface="Cascadia Mono" panose="020B0609020000020004" pitchFamily="49" charset="0"/>
              </a:rPr>
              <a:t>if</a:t>
            </a:r>
            <a:r>
              <a:rPr lang="en-ZA" sz="1400" dirty="0">
                <a:solidFill>
                  <a:srgbClr val="000000"/>
                </a:solidFill>
                <a:highlight>
                  <a:srgbClr val="FFFFFF"/>
                </a:highlight>
                <a:latin typeface="Cascadia Mono" panose="020B0609020000020004" pitchFamily="49" charset="0"/>
              </a:rPr>
              <a:t> (result == </a:t>
            </a:r>
            <a:r>
              <a:rPr lang="en-ZA" sz="1400" dirty="0" err="1">
                <a:solidFill>
                  <a:srgbClr val="2B91AF"/>
                </a:solidFill>
                <a:highlight>
                  <a:srgbClr val="FFFFFF"/>
                </a:highlight>
                <a:latin typeface="Cascadia Mono" panose="020B0609020000020004" pitchFamily="49" charset="0"/>
              </a:rPr>
              <a:t>DialogResult</a:t>
            </a:r>
            <a:r>
              <a:rPr lang="en-ZA" sz="1400" dirty="0" err="1">
                <a:solidFill>
                  <a:srgbClr val="000000"/>
                </a:solidFill>
                <a:highlight>
                  <a:srgbClr val="FFFFFF"/>
                </a:highlight>
                <a:latin typeface="Cascadia Mono" panose="020B0609020000020004" pitchFamily="49" charset="0"/>
              </a:rPr>
              <a:t>.Yes</a:t>
            </a:r>
            <a:r>
              <a:rPr lang="en-ZA" sz="1400" dirty="0">
                <a:solidFill>
                  <a:srgbClr val="000000"/>
                </a:solidFill>
                <a:highlight>
                  <a:srgbClr val="FFFFFF"/>
                </a:highlight>
                <a:latin typeface="Cascadia Mono" panose="020B0609020000020004" pitchFamily="49" charset="0"/>
              </a:rPr>
              <a:t>)</a:t>
            </a:r>
          </a:p>
          <a:p>
            <a:r>
              <a:rPr lang="en-ZA" sz="1400" dirty="0">
                <a:solidFill>
                  <a:srgbClr val="000000"/>
                </a:solidFill>
                <a:highlight>
                  <a:srgbClr val="FFFFFF"/>
                </a:highlight>
                <a:latin typeface="Cascadia Mono" panose="020B0609020000020004" pitchFamily="49" charset="0"/>
              </a:rPr>
              <a:t>  {</a:t>
            </a:r>
          </a:p>
          <a:p>
            <a:r>
              <a:rPr lang="en-ZA" sz="1400" dirty="0">
                <a:solidFill>
                  <a:srgbClr val="000000"/>
                </a:solidFill>
                <a:highlight>
                  <a:srgbClr val="FFFFFF"/>
                </a:highlight>
                <a:latin typeface="Cascadia Mono" panose="020B0609020000020004" pitchFamily="49" charset="0"/>
              </a:rPr>
              <a:t>    pk = (</a:t>
            </a:r>
            <a:r>
              <a:rPr lang="en-ZA" sz="1400" dirty="0">
                <a:solidFill>
                  <a:srgbClr val="0000FF"/>
                </a:solidFill>
                <a:highlight>
                  <a:srgbClr val="FFFFFF"/>
                </a:highlight>
                <a:latin typeface="Cascadia Mono" panose="020B0609020000020004" pitchFamily="49" charset="0"/>
              </a:rPr>
              <a:t>int</a:t>
            </a:r>
            <a:r>
              <a:rPr lang="en-ZA" sz="1400" dirty="0">
                <a:solidFill>
                  <a:srgbClr val="000000"/>
                </a:solidFill>
                <a:highlight>
                  <a:srgbClr val="FFFFFF"/>
                </a:highlight>
                <a:latin typeface="Cascadia Mono" panose="020B0609020000020004" pitchFamily="49" charset="0"/>
              </a:rPr>
              <a:t>)taBookOrder1.InsertQueryPK(</a:t>
            </a:r>
            <a:r>
              <a:rPr lang="en-ZA" sz="1400" dirty="0" err="1">
                <a:solidFill>
                  <a:srgbClr val="2B91AF"/>
                </a:solidFill>
                <a:highlight>
                  <a:srgbClr val="FFFFFF"/>
                </a:highlight>
                <a:latin typeface="Cascadia Mono" panose="020B0609020000020004" pitchFamily="49" charset="0"/>
              </a:rPr>
              <a:t>DateTime</a:t>
            </a:r>
            <a:r>
              <a:rPr lang="en-ZA" sz="1400" dirty="0" err="1">
                <a:solidFill>
                  <a:srgbClr val="000000"/>
                </a:solidFill>
                <a:highlight>
                  <a:srgbClr val="FFFFFF"/>
                </a:highlight>
                <a:latin typeface="Cascadia Mono" panose="020B0609020000020004" pitchFamily="49" charset="0"/>
              </a:rPr>
              <a:t>.Now</a:t>
            </a:r>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Decimal</a:t>
            </a:r>
            <a:r>
              <a:rPr lang="en-ZA" sz="1400" dirty="0" err="1">
                <a:solidFill>
                  <a:srgbClr val="000000"/>
                </a:solidFill>
                <a:highlight>
                  <a:srgbClr val="FFFFFF"/>
                </a:highlight>
                <a:latin typeface="Cascadia Mono" panose="020B0609020000020004" pitchFamily="49" charset="0"/>
              </a:rPr>
              <a:t>.Parse</a:t>
            </a:r>
            <a:r>
              <a:rPr lang="en-ZA" sz="1400" dirty="0">
                <a:solidFill>
                  <a:srgbClr val="000000"/>
                </a:solidFill>
                <a:highlight>
                  <a:srgbClr val="FFFFFF"/>
                </a:highlight>
                <a:latin typeface="Cascadia Mono" panose="020B0609020000020004" pitchFamily="49" charset="0"/>
              </a:rPr>
              <a:t>(</a:t>
            </a:r>
            <a:r>
              <a:rPr lang="en-ZA" sz="1400" dirty="0" err="1">
                <a:solidFill>
                  <a:srgbClr val="000000"/>
                </a:solidFill>
                <a:highlight>
                  <a:srgbClr val="FFFFFF"/>
                </a:highlight>
                <a:latin typeface="Cascadia Mono" panose="020B0609020000020004" pitchFamily="49" charset="0"/>
              </a:rPr>
              <a:t>txtAmtOwing.Text</a:t>
            </a:r>
            <a:r>
              <a:rPr lang="en-ZA" sz="1400" dirty="0">
                <a:solidFill>
                  <a:srgbClr val="000000"/>
                </a:solidFill>
                <a:highlight>
                  <a:srgbClr val="FFFFFF"/>
                </a:highlight>
                <a:latin typeface="Cascadia Mono" panose="020B0609020000020004" pitchFamily="49" charset="0"/>
              </a:rPr>
              <a:t>, </a:t>
            </a:r>
            <a:r>
              <a:rPr lang="en-ZA" sz="1400" dirty="0" err="1">
                <a:solidFill>
                  <a:srgbClr val="2B91AF"/>
                </a:solidFill>
                <a:highlight>
                  <a:srgbClr val="FFFFFF"/>
                </a:highlight>
                <a:latin typeface="Cascadia Mono" panose="020B0609020000020004" pitchFamily="49" charset="0"/>
              </a:rPr>
              <a:t>NumberStyles</a:t>
            </a:r>
            <a:r>
              <a:rPr lang="en-ZA" sz="1400" dirty="0" err="1">
                <a:solidFill>
                  <a:srgbClr val="000000"/>
                </a:solidFill>
                <a:highlight>
                  <a:srgbClr val="FFFFFF"/>
                </a:highlight>
                <a:latin typeface="Cascadia Mono" panose="020B0609020000020004" pitchFamily="49" charset="0"/>
              </a:rPr>
              <a:t>.Currency</a:t>
            </a:r>
            <a:r>
              <a:rPr lang="en-ZA"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MessageBox</a:t>
            </a:r>
            <a:r>
              <a:rPr lang="en-US" sz="1200" dirty="0" err="1">
                <a:solidFill>
                  <a:srgbClr val="000000"/>
                </a:solidFill>
                <a:highlight>
                  <a:srgbClr val="FFFFFF"/>
                </a:highlight>
                <a:latin typeface="Cascadia Mono" panose="020B0609020000020004" pitchFamily="49" charset="0"/>
              </a:rPr>
              <a:t>.Show</a:t>
            </a:r>
            <a:r>
              <a:rPr lang="en-US" sz="1200" dirty="0">
                <a:solidFill>
                  <a:srgbClr val="000000"/>
                </a:solidFill>
                <a:highlight>
                  <a:srgbClr val="FFFFFF"/>
                </a:highlight>
                <a:latin typeface="Cascadia Mono" panose="020B0609020000020004" pitchFamily="49" charset="0"/>
              </a:rPr>
              <a:t>(</a:t>
            </a:r>
            <a:r>
              <a:rPr lang="en-US" sz="1200" dirty="0">
                <a:solidFill>
                  <a:srgbClr val="A31515"/>
                </a:solidFill>
                <a:highlight>
                  <a:srgbClr val="FFFFFF"/>
                </a:highlight>
                <a:latin typeface="Cascadia Mono" panose="020B0609020000020004" pitchFamily="49" charset="0"/>
              </a:rPr>
              <a:t>"The Order for a Total Amount of "</a:t>
            </a:r>
            <a:r>
              <a:rPr lang="en-US" sz="1200" dirty="0">
                <a:solidFill>
                  <a:srgbClr val="000000"/>
                </a:solidFill>
                <a:highlight>
                  <a:srgbClr val="FFFFFF"/>
                </a:highlight>
                <a:latin typeface="Cascadia Mono" panose="020B0609020000020004" pitchFamily="49" charset="0"/>
              </a:rPr>
              <a:t> + </a:t>
            </a:r>
            <a:r>
              <a:rPr lang="en-US" sz="1200" dirty="0" err="1">
                <a:solidFill>
                  <a:srgbClr val="000000"/>
                </a:solidFill>
                <a:highlight>
                  <a:srgbClr val="FFFFFF"/>
                </a:highlight>
                <a:latin typeface="Cascadia Mono" panose="020B0609020000020004" pitchFamily="49" charset="0"/>
              </a:rPr>
              <a:t>txtAmtOwing.Text</a:t>
            </a:r>
            <a:r>
              <a:rPr lang="en-US" sz="1200" dirty="0">
                <a:solidFill>
                  <a:srgbClr val="000000"/>
                </a:solidFill>
                <a:highlight>
                  <a:srgbClr val="FFFFFF"/>
                </a:highlight>
                <a:latin typeface="Cascadia Mono" panose="020B0609020000020004" pitchFamily="49" charset="0"/>
              </a:rPr>
              <a:t> + </a:t>
            </a:r>
            <a:r>
              <a:rPr lang="en-US" sz="1200" dirty="0">
                <a:solidFill>
                  <a:srgbClr val="A31515"/>
                </a:solidFill>
                <a:highlight>
                  <a:srgbClr val="FFFFFF"/>
                </a:highlight>
                <a:latin typeface="Cascadia Mono" panose="020B0609020000020004" pitchFamily="49" charset="0"/>
              </a:rPr>
              <a:t>"has been Confirmed and the PK is "</a:t>
            </a:r>
            <a:r>
              <a:rPr lang="en-US" sz="1200" dirty="0">
                <a:solidFill>
                  <a:srgbClr val="000000"/>
                </a:solidFill>
                <a:highlight>
                  <a:srgbClr val="FFFFFF"/>
                </a:highlight>
                <a:latin typeface="Cascadia Mono" panose="020B0609020000020004" pitchFamily="49" charset="0"/>
              </a:rPr>
              <a:t> + pk);</a:t>
            </a:r>
            <a:endParaRPr lang="en-US" sz="1400" dirty="0">
              <a:solidFill>
                <a:srgbClr val="000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a:t>
            </a:r>
            <a:r>
              <a:rPr lang="en-US" sz="1200" dirty="0">
                <a:solidFill>
                  <a:srgbClr val="000000"/>
                </a:solidFill>
                <a:highlight>
                  <a:srgbClr val="FFFFFF"/>
                </a:highlight>
                <a:latin typeface="Cascadia Mono" panose="020B0609020000020004" pitchFamily="49" charset="0"/>
              </a:rPr>
              <a:t>taBookOrder1.Fill(dsBookApp1.BookOrder); </a:t>
            </a:r>
            <a:r>
              <a:rPr lang="en-US" sz="1200" dirty="0">
                <a:solidFill>
                  <a:srgbClr val="008000"/>
                </a:solidFill>
                <a:highlight>
                  <a:srgbClr val="FFFFFF"/>
                </a:highlight>
                <a:latin typeface="Cascadia Mono" panose="020B0609020000020004" pitchFamily="49" charset="0"/>
              </a:rPr>
              <a:t>//to fill the </a:t>
            </a:r>
            <a:r>
              <a:rPr lang="en-US" sz="1200" dirty="0" err="1">
                <a:solidFill>
                  <a:srgbClr val="008000"/>
                </a:solidFill>
                <a:highlight>
                  <a:srgbClr val="FFFFFF"/>
                </a:highlight>
                <a:latin typeface="Cascadia Mono" panose="020B0609020000020004" pitchFamily="49" charset="0"/>
              </a:rPr>
              <a:t>gridview</a:t>
            </a:r>
            <a:r>
              <a:rPr lang="en-US" sz="1200" dirty="0">
                <a:solidFill>
                  <a:srgbClr val="008000"/>
                </a:solidFill>
                <a:highlight>
                  <a:srgbClr val="FFFFFF"/>
                </a:highlight>
                <a:latin typeface="Cascadia Mono" panose="020B0609020000020004" pitchFamily="49" charset="0"/>
              </a:rPr>
              <a:t> with the newly recorded order so that it can be viewed</a:t>
            </a:r>
            <a:endParaRPr lang="en-US" sz="1400" dirty="0">
              <a:solidFill>
                <a:srgbClr val="008000"/>
              </a:solidFill>
              <a:highlight>
                <a:srgbClr val="FFFFFF"/>
              </a:highlight>
              <a:latin typeface="Cascadia Mono" panose="020B0609020000020004" pitchFamily="49" charset="0"/>
            </a:endParaRP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for</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i</a:t>
            </a:r>
            <a:r>
              <a:rPr lang="en-US" sz="1400" dirty="0">
                <a:solidFill>
                  <a:srgbClr val="000000"/>
                </a:solidFill>
                <a:highlight>
                  <a:srgbClr val="FFFFFF"/>
                </a:highlight>
                <a:latin typeface="Cascadia Mono" panose="020B0609020000020004" pitchFamily="49" charset="0"/>
              </a:rPr>
              <a:t> = 0; </a:t>
            </a:r>
            <a:r>
              <a:rPr lang="en-US" sz="1400" dirty="0" err="1">
                <a:solidFill>
                  <a:srgbClr val="000000"/>
                </a:solidFill>
                <a:highlight>
                  <a:srgbClr val="FFFFFF"/>
                </a:highlight>
                <a:latin typeface="Cascadia Mono" panose="020B0609020000020004" pitchFamily="49" charset="0"/>
              </a:rPr>
              <a:t>i</a:t>
            </a:r>
            <a:r>
              <a:rPr lang="en-US" sz="1400" dirty="0">
                <a:solidFill>
                  <a:srgbClr val="000000"/>
                </a:solidFill>
                <a:highlight>
                  <a:srgbClr val="FFFFFF"/>
                </a:highlight>
                <a:latin typeface="Cascadia Mono" panose="020B0609020000020004" pitchFamily="49" charset="0"/>
              </a:rPr>
              <a:t> &lt; </a:t>
            </a:r>
            <a:r>
              <a:rPr lang="en-US" sz="1400" dirty="0" err="1">
                <a:solidFill>
                  <a:srgbClr val="000000"/>
                </a:solidFill>
                <a:highlight>
                  <a:srgbClr val="FFFFFF"/>
                </a:highlight>
                <a:latin typeface="Cascadia Mono" panose="020B0609020000020004" pitchFamily="49" charset="0"/>
              </a:rPr>
              <a:t>dgvBookInvoice.Rows.Count</a:t>
            </a:r>
            <a:r>
              <a:rPr lang="en-US" sz="1400" dirty="0">
                <a:solidFill>
                  <a:srgbClr val="000000"/>
                </a:solidFill>
                <a:highlight>
                  <a:srgbClr val="FFFFFF"/>
                </a:highlight>
                <a:latin typeface="Cascadia Mono" panose="020B0609020000020004" pitchFamily="49" charset="0"/>
              </a:rPr>
              <a:t> - 1; </a:t>
            </a:r>
            <a:r>
              <a:rPr lang="en-US" sz="1400" dirty="0" err="1">
                <a:solidFill>
                  <a:srgbClr val="000000"/>
                </a:solidFill>
                <a:highlight>
                  <a:srgbClr val="FFFFFF"/>
                </a:highlight>
                <a:latin typeface="Cascadia Mono" panose="020B0609020000020004" pitchFamily="49" charset="0"/>
              </a:rPr>
              <a:t>i</a:t>
            </a:r>
            <a:r>
              <a:rPr lang="en-US" sz="1400" dirty="0">
                <a:solidFill>
                  <a:srgbClr val="000000"/>
                </a:solidFill>
                <a:highlight>
                  <a:srgbClr val="FFFFFF"/>
                </a:highlight>
                <a:latin typeface="Cascadia Mono" panose="020B0609020000020004" pitchFamily="49" charset="0"/>
              </a:rPr>
              <a:t>++)</a:t>
            </a:r>
            <a:r>
              <a:rPr lang="en-US" sz="1400" dirty="0">
                <a:solidFill>
                  <a:srgbClr val="008000"/>
                </a:solidFill>
                <a:highlight>
                  <a:srgbClr val="FFFFFF"/>
                </a:highlight>
                <a:latin typeface="Cascadia Mono" panose="020B0609020000020004" pitchFamily="49" charset="0"/>
              </a:rPr>
              <a:t>//record the inner detail of the Order</a:t>
            </a:r>
          </a:p>
          <a:p>
            <a:r>
              <a:rPr lang="en-ZA" sz="1400" dirty="0">
                <a:solidFill>
                  <a:srgbClr val="000000"/>
                </a:solidFill>
                <a:highlight>
                  <a:srgbClr val="FFFFFF"/>
                </a:highlight>
                <a:latin typeface="Cascadia Mono" panose="020B0609020000020004" pitchFamily="49" charset="0"/>
              </a:rPr>
              <a:t>     {</a:t>
            </a:r>
          </a:p>
          <a:p>
            <a:r>
              <a:rPr lang="en-ZA" sz="1400" dirty="0">
                <a:solidFill>
                  <a:srgbClr val="000000"/>
                </a:solidFill>
                <a:highlight>
                  <a:srgbClr val="FFFFFF"/>
                </a:highlight>
                <a:latin typeface="Cascadia Mono" panose="020B0609020000020004" pitchFamily="49" charset="0"/>
              </a:rPr>
              <a:t>       </a:t>
            </a:r>
            <a:r>
              <a:rPr lang="en-ZA" sz="1400" dirty="0">
                <a:solidFill>
                  <a:srgbClr val="0000FF"/>
                </a:solidFill>
                <a:highlight>
                  <a:srgbClr val="FFFFFF"/>
                </a:highlight>
                <a:latin typeface="Cascadia Mono" panose="020B0609020000020004" pitchFamily="49" charset="0"/>
              </a:rPr>
              <a:t>string</a:t>
            </a:r>
            <a:r>
              <a:rPr lang="en-ZA" sz="1400" dirty="0">
                <a:solidFill>
                  <a:srgbClr val="000000"/>
                </a:solidFill>
                <a:highlight>
                  <a:srgbClr val="FFFFFF"/>
                </a:highlight>
                <a:latin typeface="Cascadia Mono" panose="020B0609020000020004" pitchFamily="49" charset="0"/>
              </a:rPr>
              <a:t> </a:t>
            </a:r>
            <a:r>
              <a:rPr lang="en-ZA" sz="1400" dirty="0" err="1">
                <a:solidFill>
                  <a:srgbClr val="000000"/>
                </a:solidFill>
                <a:highlight>
                  <a:srgbClr val="FFFFFF"/>
                </a:highlight>
                <a:latin typeface="Cascadia Mono" panose="020B0609020000020004" pitchFamily="49" charset="0"/>
              </a:rPr>
              <a:t>bkID</a:t>
            </a:r>
            <a:r>
              <a:rPr lang="en-ZA" sz="1400" dirty="0">
                <a:solidFill>
                  <a:srgbClr val="000000"/>
                </a:solidFill>
                <a:highlight>
                  <a:srgbClr val="FFFFFF"/>
                </a:highlight>
                <a:latin typeface="Cascadia Mono" panose="020B0609020000020004" pitchFamily="49" charset="0"/>
              </a:rPr>
              <a:t> = </a:t>
            </a:r>
            <a:r>
              <a:rPr lang="en-ZA" sz="1400" dirty="0" err="1">
                <a:solidFill>
                  <a:srgbClr val="000000"/>
                </a:solidFill>
                <a:highlight>
                  <a:srgbClr val="FFFFFF"/>
                </a:highlight>
                <a:latin typeface="Cascadia Mono" panose="020B0609020000020004" pitchFamily="49" charset="0"/>
              </a:rPr>
              <a:t>dgvBookInvoice.Rows</a:t>
            </a:r>
            <a:r>
              <a:rPr lang="en-ZA" sz="1400" dirty="0">
                <a:solidFill>
                  <a:srgbClr val="000000"/>
                </a:solidFill>
                <a:highlight>
                  <a:srgbClr val="FFFFFF"/>
                </a:highlight>
                <a:latin typeface="Cascadia Mono" panose="020B0609020000020004" pitchFamily="49" charset="0"/>
              </a:rPr>
              <a:t>[</a:t>
            </a:r>
            <a:r>
              <a:rPr lang="en-ZA" sz="1400" dirty="0" err="1">
                <a:solidFill>
                  <a:srgbClr val="000000"/>
                </a:solidFill>
                <a:highlight>
                  <a:srgbClr val="FFFFFF"/>
                </a:highlight>
                <a:latin typeface="Cascadia Mono" panose="020B0609020000020004" pitchFamily="49" charset="0"/>
              </a:rPr>
              <a:t>i</a:t>
            </a:r>
            <a:r>
              <a:rPr lang="en-ZA" sz="1400" dirty="0">
                <a:solidFill>
                  <a:srgbClr val="000000"/>
                </a:solidFill>
                <a:highlight>
                  <a:srgbClr val="FFFFFF"/>
                </a:highlight>
                <a:latin typeface="Cascadia Mono" panose="020B0609020000020004" pitchFamily="49" charset="0"/>
              </a:rPr>
              <a:t>].Cells[0].</a:t>
            </a:r>
            <a:r>
              <a:rPr lang="en-ZA" sz="1400" dirty="0" err="1">
                <a:solidFill>
                  <a:srgbClr val="000000"/>
                </a:solidFill>
                <a:highlight>
                  <a:srgbClr val="FFFFFF"/>
                </a:highlight>
                <a:latin typeface="Cascadia Mono" panose="020B0609020000020004" pitchFamily="49" charset="0"/>
              </a:rPr>
              <a:t>Value.ToString</a:t>
            </a:r>
            <a:r>
              <a:rPr lang="en-ZA"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decimal</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bkPrice</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decimal</a:t>
            </a:r>
            <a:r>
              <a:rPr lang="en-US" sz="1400" dirty="0">
                <a:solidFill>
                  <a:srgbClr val="00000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dgvBookInvoice.Rows</a:t>
            </a:r>
            <a:r>
              <a:rPr lang="en-US" sz="1400" dirty="0">
                <a:solidFill>
                  <a:srgbClr val="000000"/>
                </a:solidFill>
                <a:highlight>
                  <a:srgbClr val="FFFFFF"/>
                </a:highlight>
                <a:latin typeface="Cascadia Mono" panose="020B0609020000020004" pitchFamily="49" charset="0"/>
              </a:rPr>
              <a:t>[</a:t>
            </a:r>
            <a:r>
              <a:rPr lang="en-US" sz="1400" dirty="0" err="1">
                <a:solidFill>
                  <a:srgbClr val="000000"/>
                </a:solidFill>
                <a:highlight>
                  <a:srgbClr val="FFFFFF"/>
                </a:highlight>
                <a:latin typeface="Cascadia Mono" panose="020B0609020000020004" pitchFamily="49" charset="0"/>
              </a:rPr>
              <a:t>i</a:t>
            </a:r>
            <a:r>
              <a:rPr lang="en-US" sz="1400" dirty="0">
                <a:solidFill>
                  <a:srgbClr val="000000"/>
                </a:solidFill>
                <a:highlight>
                  <a:srgbClr val="FFFFFF"/>
                </a:highlight>
                <a:latin typeface="Cascadia Mono" panose="020B0609020000020004" pitchFamily="49" charset="0"/>
              </a:rPr>
              <a:t>].Cells[1].Value);</a:t>
            </a:r>
          </a:p>
          <a:p>
            <a:r>
              <a:rPr lang="en-ZA" sz="1400" dirty="0">
                <a:solidFill>
                  <a:srgbClr val="000000"/>
                </a:solidFill>
                <a:highlight>
                  <a:srgbClr val="FFFFFF"/>
                </a:highlight>
                <a:latin typeface="Cascadia Mono" panose="020B0609020000020004" pitchFamily="49" charset="0"/>
              </a:rPr>
              <a:t>       </a:t>
            </a:r>
            <a:r>
              <a:rPr lang="en-ZA" sz="1400" dirty="0">
                <a:solidFill>
                  <a:srgbClr val="0000FF"/>
                </a:solidFill>
                <a:highlight>
                  <a:srgbClr val="FFFFFF"/>
                </a:highlight>
                <a:latin typeface="Cascadia Mono" panose="020B0609020000020004" pitchFamily="49" charset="0"/>
              </a:rPr>
              <a:t>int</a:t>
            </a:r>
            <a:r>
              <a:rPr lang="en-ZA" sz="1400" dirty="0">
                <a:solidFill>
                  <a:srgbClr val="000000"/>
                </a:solidFill>
                <a:highlight>
                  <a:srgbClr val="FFFFFF"/>
                </a:highlight>
                <a:latin typeface="Cascadia Mono" panose="020B0609020000020004" pitchFamily="49" charset="0"/>
              </a:rPr>
              <a:t> </a:t>
            </a:r>
            <a:r>
              <a:rPr lang="en-ZA" sz="1400" dirty="0" err="1">
                <a:solidFill>
                  <a:srgbClr val="000000"/>
                </a:solidFill>
                <a:highlight>
                  <a:srgbClr val="FFFFFF"/>
                </a:highlight>
                <a:latin typeface="Cascadia Mono" panose="020B0609020000020004" pitchFamily="49" charset="0"/>
              </a:rPr>
              <a:t>bkQty</a:t>
            </a:r>
            <a:r>
              <a:rPr lang="en-ZA" sz="1400" dirty="0">
                <a:solidFill>
                  <a:srgbClr val="000000"/>
                </a:solidFill>
                <a:highlight>
                  <a:srgbClr val="FFFFFF"/>
                </a:highlight>
                <a:latin typeface="Cascadia Mono" panose="020B0609020000020004" pitchFamily="49" charset="0"/>
              </a:rPr>
              <a:t> = </a:t>
            </a:r>
            <a:r>
              <a:rPr lang="en-ZA" sz="1400" dirty="0">
                <a:solidFill>
                  <a:srgbClr val="2B91AF"/>
                </a:solidFill>
                <a:highlight>
                  <a:srgbClr val="FFFFFF"/>
                </a:highlight>
                <a:latin typeface="Cascadia Mono" panose="020B0609020000020004" pitchFamily="49" charset="0"/>
              </a:rPr>
              <a:t>Convert</a:t>
            </a:r>
            <a:r>
              <a:rPr lang="en-ZA" sz="1400" dirty="0">
                <a:solidFill>
                  <a:srgbClr val="000000"/>
                </a:solidFill>
                <a:highlight>
                  <a:srgbClr val="FFFFFF"/>
                </a:highlight>
                <a:latin typeface="Cascadia Mono" panose="020B0609020000020004" pitchFamily="49" charset="0"/>
              </a:rPr>
              <a:t>.ToInt32((</a:t>
            </a:r>
            <a:r>
              <a:rPr lang="en-ZA" sz="1400" dirty="0" err="1">
                <a:solidFill>
                  <a:srgbClr val="000000"/>
                </a:solidFill>
                <a:highlight>
                  <a:srgbClr val="FFFFFF"/>
                </a:highlight>
                <a:latin typeface="Cascadia Mono" panose="020B0609020000020004" pitchFamily="49" charset="0"/>
              </a:rPr>
              <a:t>dgvBookInvoice.Rows</a:t>
            </a:r>
            <a:r>
              <a:rPr lang="en-ZA" sz="1400" dirty="0">
                <a:solidFill>
                  <a:srgbClr val="000000"/>
                </a:solidFill>
                <a:highlight>
                  <a:srgbClr val="FFFFFF"/>
                </a:highlight>
                <a:latin typeface="Cascadia Mono" panose="020B0609020000020004" pitchFamily="49" charset="0"/>
              </a:rPr>
              <a:t>[</a:t>
            </a:r>
            <a:r>
              <a:rPr lang="en-ZA" sz="1400" dirty="0" err="1">
                <a:solidFill>
                  <a:srgbClr val="000000"/>
                </a:solidFill>
                <a:highlight>
                  <a:srgbClr val="FFFFFF"/>
                </a:highlight>
                <a:latin typeface="Cascadia Mono" panose="020B0609020000020004" pitchFamily="49" charset="0"/>
              </a:rPr>
              <a:t>i</a:t>
            </a:r>
            <a:r>
              <a:rPr lang="en-ZA" sz="1400" dirty="0">
                <a:solidFill>
                  <a:srgbClr val="000000"/>
                </a:solidFill>
                <a:highlight>
                  <a:srgbClr val="FFFFFF"/>
                </a:highlight>
                <a:latin typeface="Cascadia Mono" panose="020B0609020000020004" pitchFamily="49" charset="0"/>
              </a:rPr>
              <a:t>].Cells[2].Value));</a:t>
            </a:r>
          </a:p>
          <a:p>
            <a:r>
              <a:rPr lang="en-US" sz="1400" dirty="0">
                <a:solidFill>
                  <a:srgbClr val="000000"/>
                </a:solidFill>
                <a:highlight>
                  <a:srgbClr val="FFFFFF"/>
                </a:highlight>
                <a:latin typeface="Cascadia Mono" panose="020B0609020000020004" pitchFamily="49" charset="0"/>
              </a:rPr>
              <a:t>       </a:t>
            </a:r>
            <a:r>
              <a:rPr lang="en-US" sz="1100" dirty="0">
                <a:solidFill>
                  <a:srgbClr val="000000"/>
                </a:solidFill>
                <a:highlight>
                  <a:srgbClr val="FFFFFF"/>
                </a:highlight>
                <a:latin typeface="Cascadia Mono" panose="020B0609020000020004" pitchFamily="49" charset="0"/>
              </a:rPr>
              <a:t>taBookOrderDetail1.Insert(pk, </a:t>
            </a:r>
            <a:r>
              <a:rPr lang="en-US" sz="1100" dirty="0" err="1">
                <a:solidFill>
                  <a:srgbClr val="000000"/>
                </a:solidFill>
                <a:highlight>
                  <a:srgbClr val="FFFFFF"/>
                </a:highlight>
                <a:latin typeface="Cascadia Mono" panose="020B0609020000020004" pitchFamily="49" charset="0"/>
              </a:rPr>
              <a:t>bkID</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bkQty</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bkPrice</a:t>
            </a:r>
            <a:r>
              <a:rPr lang="en-US" sz="1100" dirty="0">
                <a:solidFill>
                  <a:srgbClr val="000000"/>
                </a:solidFill>
                <a:highlight>
                  <a:srgbClr val="FFFFFF"/>
                </a:highlight>
                <a:latin typeface="Cascadia Mono" panose="020B0609020000020004" pitchFamily="49" charset="0"/>
              </a:rPr>
              <a:t>);</a:t>
            </a:r>
            <a:r>
              <a:rPr lang="en-US" sz="1100" dirty="0">
                <a:solidFill>
                  <a:srgbClr val="008000"/>
                </a:solidFill>
                <a:highlight>
                  <a:srgbClr val="FFFFFF"/>
                </a:highlight>
                <a:latin typeface="Cascadia Mono" panose="020B0609020000020004" pitchFamily="49" charset="0"/>
              </a:rPr>
              <a:t>//the assumption is made that the quantity for the purchase is 1 – we can always change this at a later stage…</a:t>
            </a:r>
          </a:p>
          <a:p>
            <a:r>
              <a:rPr lang="en-ZA" sz="1400" dirty="0">
                <a:solidFill>
                  <a:srgbClr val="000000"/>
                </a:solidFill>
                <a:highlight>
                  <a:srgbClr val="FFFFFF"/>
                </a:highlight>
                <a:latin typeface="Cascadia Mono" panose="020B0609020000020004" pitchFamily="49" charset="0"/>
              </a:rPr>
              <a:t>      }</a:t>
            </a:r>
          </a:p>
          <a:p>
            <a:r>
              <a:rPr lang="en-ZA" sz="1400" dirty="0">
                <a:solidFill>
                  <a:srgbClr val="000000"/>
                </a:solidFill>
                <a:highlight>
                  <a:srgbClr val="FFFFFF"/>
                </a:highlight>
                <a:latin typeface="Cascadia Mono" panose="020B0609020000020004" pitchFamily="49" charset="0"/>
              </a:rPr>
              <a:t>  }</a:t>
            </a:r>
          </a:p>
          <a:p>
            <a:r>
              <a:rPr lang="en-ZA" sz="1400" dirty="0">
                <a:solidFill>
                  <a:srgbClr val="000000"/>
                </a:solidFill>
                <a:highlight>
                  <a:srgbClr val="FFFFFF"/>
                </a:highlight>
                <a:latin typeface="Cascadia Mono" panose="020B0609020000020004" pitchFamily="49" charset="0"/>
              </a:rPr>
              <a:t>}</a:t>
            </a:r>
            <a:endParaRPr lang="en-ZA" sz="1400" dirty="0"/>
          </a:p>
        </p:txBody>
      </p:sp>
    </p:spTree>
    <p:extLst>
      <p:ext uri="{BB962C8B-B14F-4D97-AF65-F5344CB8AC3E}">
        <p14:creationId xmlns:p14="http://schemas.microsoft.com/office/powerpoint/2010/main" val="4187057991"/>
      </p:ext>
    </p:extLst>
  </p:cSld>
  <p:clrMapOvr>
    <a:masterClrMapping/>
  </p:clrMapOvr>
</p:sld>
</file>

<file path=ppt/theme/theme1.xml><?xml version="1.0" encoding="utf-8"?>
<a:theme xmlns:a="http://schemas.openxmlformats.org/drawingml/2006/main" name="Office Theme">
  <a:themeElements>
    <a:clrScheme name="MSFT_04_Education">
      <a:dk1>
        <a:sysClr val="windowText" lastClr="000000"/>
      </a:dk1>
      <a:lt1>
        <a:sysClr val="window" lastClr="FFFFFF"/>
      </a:lt1>
      <a:dk2>
        <a:srgbClr val="44546A"/>
      </a:dk2>
      <a:lt2>
        <a:srgbClr val="E7E6E6"/>
      </a:lt2>
      <a:accent1>
        <a:srgbClr val="B2606E"/>
      </a:accent1>
      <a:accent2>
        <a:srgbClr val="0F3955"/>
      </a:accent2>
      <a:accent3>
        <a:srgbClr val="FFC000"/>
      </a:accent3>
      <a:accent4>
        <a:srgbClr val="BF678E"/>
      </a:accent4>
      <a:accent5>
        <a:srgbClr val="731F1C"/>
      </a:accent5>
      <a:accent6>
        <a:srgbClr val="7A9E56"/>
      </a:accent6>
      <a:hlink>
        <a:srgbClr val="00B0F0"/>
      </a:hlink>
      <a:folHlink>
        <a:srgbClr val="595959"/>
      </a:folHlink>
    </a:clrScheme>
    <a:fontScheme name="MSFT_04_Education">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475556_Education presentation_AAS_v5" id="{AAC57104-7B60-491F-A321-6BCAF93AC541}" vid="{5A43072C-36E0-4A5A-A3FF-E88D65C597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575C36-314A-42CB-9114-6E0CE4AB273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1C32B5E-029E-455A-86F0-091666CEEB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0AD3E-9DDB-4E69-981A-7DAE0E9B5F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Education presentation</Template>
  <TotalTime>0</TotalTime>
  <Words>2352</Words>
  <Application>Microsoft Office PowerPoint</Application>
  <PresentationFormat>Widescreen</PresentationFormat>
  <Paragraphs>178</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Cascadia Mono</vt:lpstr>
      <vt:lpstr>Corbel</vt:lpstr>
      <vt:lpstr>Wingdings</vt:lpstr>
      <vt:lpstr>Office Theme</vt:lpstr>
      <vt:lpstr>Windows Forms- DB Processing </vt:lpstr>
      <vt:lpstr>The Book Sale App</vt:lpstr>
      <vt:lpstr>The Interface</vt:lpstr>
      <vt:lpstr>The Search and Update</vt:lpstr>
      <vt:lpstr>An Invoice DataTable</vt:lpstr>
      <vt:lpstr>Rebuild the Application to get the Data Adapters</vt:lpstr>
      <vt:lpstr>The Book Data and the Book Search</vt:lpstr>
      <vt:lpstr>The Display and Search</vt:lpstr>
      <vt:lpstr>Let us also do the Update of Stock</vt:lpstr>
      <vt:lpstr>Adding Books to an Invoice</vt:lpstr>
      <vt:lpstr>Clearing Rows from the Invoice</vt:lpstr>
      <vt:lpstr>Recording a Sale Transaction</vt:lpstr>
      <vt:lpstr>The Configuration</vt:lpstr>
      <vt:lpstr>The Code to Record the Details - Explanation</vt:lpstr>
      <vt:lpstr>The Code to Record a Sale and return the PK of the New Sale/Order record …and a for loop to record the Inner Detail of the Order</vt:lpstr>
      <vt:lpstr>Things to Take Note of</vt:lpstr>
      <vt:lpstr>The Visual Sequence</vt:lpstr>
      <vt:lpstr>Showing the Inner Details of the Order</vt:lpstr>
      <vt:lpstr>Record of Inner Details is Complete</vt:lpstr>
      <vt:lpstr>Adding rows to Invoice Gridview with Quantity</vt:lpstr>
      <vt:lpstr>The code to record the Order with Quantity Included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2023-04-05T20:30:44Z</dcterms:created>
  <dcterms:modified xsi:type="dcterms:W3CDTF">2025-05-16T22:56:53Z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